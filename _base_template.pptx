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250M shoppers, </a:t>
            </a:r>
            <a:r>
              <a:rPr b="1" i="0" lang="en-US" sz="1100" u="none" cap="none" strike="noStrike">
                <a:solidFill>
                  <a:srgbClr val="4B5563"/>
                </a:solidFill>
                <a:latin typeface="Inter"/>
                <a:ea typeface="Inter"/>
                <a:cs typeface="Inter"/>
                <a:sym typeface="Inter"/>
              </a:rPr>
              <a:t>$10B extra sales</a:t>
            </a:r>
            <a:r>
              <a:rPr b="0" i="0" lang="en-US" sz="1100" u="none" cap="none" strike="noStrike">
                <a:solidFill>
                  <a:srgbClr val="4B5563"/>
                </a:solidFill>
                <a:latin typeface="Inter"/>
                <a:ea typeface="Inter"/>
                <a:cs typeface="Inter"/>
                <a:sym typeface="Inter"/>
              </a:rPr>
              <a:t xml:space="preserve">, </a:t>
            </a:r>
            <a:r>
              <a:rPr b="1" i="0" lang="en-US" sz="1100" u="none" cap="none" strike="noStrike">
                <a:solidFill>
                  <a:srgbClr val="4B5563"/>
                </a:solidFill>
                <a:latin typeface="Inter"/>
                <a:ea typeface="Inter"/>
                <a:cs typeface="Inter"/>
                <a:sym typeface="Inter"/>
              </a:rPr>
              <a:t>60% higher conversion</a:t>
            </a:r>
            <a:r>
              <a:rPr b="0" i="0" lang="en-US" sz="1100" u="none" cap="none" strike="noStrike">
                <a:solidFill>
                  <a:srgbClr val="4B5563"/>
                </a:solidFill>
                <a:latin typeface="Inter"/>
                <a:ea typeface="Inter"/>
                <a:cs typeface="Inter"/>
                <a:sym typeface="Inter"/>
              </a:rPr>
              <a:t xml:space="preserve"> rate through Rufus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 Gemini with checkout, higher conversion rate in months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Zalando</a:t>
            </a:r>
            <a:r>
              <a:rPr b="0" i="0" lang="en-US" sz="1100" u="none" cap="none" strike="noStrike">
                <a:solidFill>
                  <a:srgbClr val="4B5563"/>
                </a:solidFill>
                <a:latin typeface="Inter"/>
                <a:ea typeface="Inter"/>
                <a:cs typeface="Inter"/>
                <a:sym typeface="Inter"/>
              </a:rPr>
              <a:t xml:space="preserve"> : </a:t>
            </a:r>
            <a:r>
              <a:rPr b="1" i="0" lang="en-US" sz="1100" u="none" cap="none" strike="noStrike">
                <a:solidFill>
                  <a:srgbClr val="4B5563"/>
                </a:solidFill>
                <a:latin typeface="Inter"/>
                <a:ea typeface="Inter"/>
                <a:cs typeface="Inter"/>
                <a:sym typeface="Inter"/>
              </a:rPr>
              <a:t>18% YoY profitability increase</a:t>
            </a:r>
            <a:r>
              <a:rPr b="0" i="0" lang="en-US" sz="1100" u="none" cap="none" strike="noStrike">
                <a:solidFill>
                  <a:srgbClr val="4B5563"/>
                </a:solidFill>
                <a:latin typeface="Inter"/>
                <a:ea typeface="Inter"/>
                <a:cs typeface="Inter"/>
                <a:sym typeface="Inter"/>
              </a:rPr>
              <a:t xml:space="preserve"> due to AI shopping assistant rollout</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Albertsons</a:t>
            </a:r>
            <a:r>
              <a:rPr b="0" i="0" lang="en-US" sz="1100" u="none" cap="none" strike="noStrike">
                <a:solidFill>
                  <a:srgbClr val="4B5563"/>
                </a:solidFill>
                <a:latin typeface="Inter"/>
                <a:ea typeface="Inter"/>
                <a:cs typeface="Inter"/>
                <a:sym typeface="Inter"/>
              </a:rPr>
              <a:t xml:space="preserve"> — </a:t>
            </a:r>
            <a:r>
              <a:rPr b="1" i="0" lang="en-US" sz="1100" u="none" cap="none" strike="noStrike">
                <a:solidFill>
                  <a:srgbClr val="4B5563"/>
                </a:solidFill>
                <a:latin typeface="Inter"/>
                <a:ea typeface="Inter"/>
                <a:cs typeface="Inter"/>
                <a:sym typeface="Inter"/>
              </a:rPr>
              <a:t>10% basket size increase</a:t>
            </a:r>
            <a:r>
              <a:rPr b="0" i="0" lang="en-US" sz="1100" u="none" cap="none" strike="noStrike">
                <a:solidFill>
                  <a:srgbClr val="4B5563"/>
                </a:solidFill>
                <a:latin typeface="Inter"/>
                <a:ea typeface="Inter"/>
                <a:cs typeface="Inter"/>
                <a:sym typeface="Inter"/>
              </a:rPr>
              <a:t>, 21% digital sales growth</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Sephora, Target, Wayfair, eBay, Etsy</a:t>
            </a:r>
            <a:r>
              <a:rPr b="0" i="0" lang="en-US" sz="1100" u="none" cap="none" strike="noStrike">
                <a:solidFill>
                  <a:srgbClr val="4B5563"/>
                </a:solidFill>
                <a:latin typeface="Inter"/>
                <a:ea typeface="Inter"/>
                <a:cs typeface="Inter"/>
                <a:sym typeface="Inter"/>
              </a:rPr>
              <a:t xml:space="preserve"> — all on OpenAI/Google commerce protocols</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Instacart</a:t>
            </a:r>
            <a:r>
              <a:rPr b="0" i="0" lang="en-US" sz="1100" u="none" cap="none" strike="noStrike">
                <a:solidFill>
                  <a:srgbClr val="4B5563"/>
                </a:solidFill>
                <a:latin typeface="Inter"/>
                <a:ea typeface="Inter"/>
                <a:cs typeface="Inter"/>
                <a:sym typeface="Inter"/>
              </a:rPr>
              <a:t xml:space="preserve"> : </a:t>
            </a:r>
            <a:r>
              <a:rPr b="1" i="0" lang="en-US" sz="1100" u="none" cap="none" strike="noStrike">
                <a:solidFill>
                  <a:srgbClr val="4B5563"/>
                </a:solidFill>
                <a:latin typeface="Inter"/>
                <a:ea typeface="Inter"/>
                <a:cs typeface="Inter"/>
                <a:sym typeface="Inter"/>
              </a:rPr>
              <a:t>4+ more orders per month per user</a:t>
            </a:r>
            <a:r>
              <a:rPr b="0" i="0" lang="en-US" sz="1100" u="none" cap="none" strike="noStrike">
                <a:solidFill>
                  <a:srgbClr val="4B5563"/>
                </a:solidFill>
                <a:latin typeface="Inter"/>
                <a:ea typeface="Inter"/>
                <a:cs typeface="Inter"/>
                <a:sym typeface="Inter"/>
              </a:rPr>
              <a:t xml:space="preserve"> for users using AI assistant compared to ones not using it</a:t>
            </a:r>
            <a:endParaRPr b="0" i="0" sz="1100" u="none" cap="none" strike="noStrike">
              <a:solidFill>
                <a:srgbClr val="4B5563"/>
              </a:solidFill>
              <a:latin typeface="Inter"/>
              <a:ea typeface="Inter"/>
              <a:cs typeface="Inter"/>
              <a:sym typeface="Inter"/>
            </a:endParaRP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Aza/Pernia —- </a:t>
            </a:r>
            <a:r>
              <a:rPr i="0" lang="en-US" sz="1100" u="none" cap="none" strike="noStrike">
                <a:solidFill>
                  <a:schemeClr val="dk1"/>
                </a:solidFill>
                <a:latin typeface="Inter"/>
                <a:ea typeface="Inter"/>
                <a:cs typeface="Inter"/>
                <a:sym typeface="Inter"/>
              </a:rPr>
              <a:t xml:space="preserve"/>
            </a:r>
            <a:r>
              <a:rPr b="1" i="0" lang="en-US" sz="1100" u="none" cap="none" strike="noStrike">
                <a:solidFill>
                  <a:schemeClr val="dk1"/>
                </a:solidFill>
                <a:latin typeface="Inter"/>
                <a:ea typeface="Inter"/>
                <a:cs typeface="Inter"/>
                <a:sym typeface="Inter"/>
              </a:rPr>
              <a:t>Actively integrating AI assistants and virtual try-on into their website.</a:t>
            </a:r>
            <a:endParaRPr b="1" i="0" sz="1100" u="none" cap="none" strike="noStrike">
              <a:solidFill>
                <a:schemeClr val="dk1"/>
              </a:solidFill>
              <a:latin typeface="Inter"/>
              <a:ea typeface="Inter"/>
              <a:cs typeface="Inter"/>
              <a:sym typeface="Inter"/>
            </a:endParaRPr>
          </a:p>
          <a:p>
            <a:pPr indent="-342900" lvl="0" marL="342900" marR="0" rtl="0" algn="l">
              <a:lnSpc>
                <a:spcPct val="100000"/>
              </a:lnSpc>
              <a:spcBef>
                <a:spcPts val="0"/>
              </a:spcBef>
              <a:spcAft>
                <a:spcPts val="0"/>
              </a:spcAft>
              <a:buClr>
                <a:schemeClr val="dk1"/>
              </a:buClr>
              <a:buSzPts val="1100"/>
              <a:buFont typeface="Inter"/>
              <a:buChar char="•"/>
            </a:pPr>
            <a:r>
              <a:rPr b="1" lang="en-US" sz="1100">
                <a:solidFill>
                  <a:schemeClr val="dk1"/>
                </a:solidFill>
                <a:latin typeface="Inter"/>
                <a:ea typeface="Inter"/>
                <a:cs typeface="Inter"/>
                <a:sym typeface="Inter"/>
              </a:rPr>
              <a:t xml:space="preserve">Frasers Group — </a:t>
            </a:r>
            <a:r>
              <a:rPr lang="en-US" sz="1100">
                <a:solidFill>
                  <a:schemeClr val="dk1"/>
                </a:solidFill>
                <a:latin typeface="Inter"/>
                <a:ea typeface="Inter"/>
                <a:cs typeface="Inter"/>
                <a:sym typeface="Inter"/>
              </a:rPr>
              <a:t>25% conversion lift vs traditional search</a:t>
            </a:r>
            <a:endParaRPr sz="1100">
              <a:solidFill>
                <a:schemeClr val="dk1"/>
              </a:solidFill>
              <a:latin typeface="Inter"/>
              <a:ea typeface="Inter"/>
              <a:cs typeface="Inter"/>
              <a:sym typeface="Inter"/>
            </a:endParaRP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Myntra</a:t>
            </a:r>
            <a:r>
              <a:rPr b="0" i="0" lang="en-US" sz="1100" u="none" cap="none" strike="noStrike">
                <a:solidFill>
                  <a:srgbClr val="4B5563"/>
                </a:solidFill>
                <a:latin typeface="Inter"/>
                <a:ea typeface="Inter"/>
                <a:cs typeface="Inter"/>
                <a:sym typeface="Inter"/>
              </a:rPr>
              <a:t xml:space="preserve"> (Maya / MyFashionGPT) — u</a:t>
            </a:r>
            <a:r>
              <a:rPr b="1" i="0" lang="en-US" sz="1100" u="none" cap="none" strike="noStrike">
                <a:solidFill>
                  <a:srgbClr val="4B5563"/>
                </a:solidFill>
                <a:latin typeface="Inter"/>
                <a:ea typeface="Inter"/>
                <a:cs typeface="Inter"/>
                <a:sym typeface="Inter"/>
              </a:rPr>
              <a:t xml:space="preserve">sers 3x more likely </a:t>
            </a:r>
            <a:r>
              <a:rPr b="0" i="0" lang="en-US" sz="1100" u="none" cap="none" strike="noStrike">
                <a:solidFill>
                  <a:srgbClr val="4B5563"/>
                </a:solidFill>
                <a:latin typeface="Inter"/>
                <a:ea typeface="Inter"/>
                <a:cs typeface="Inter"/>
                <a:sym typeface="Inter"/>
              </a:rPr>
              <a:t>to purchase through AI assistant.</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Meesho</a:t>
            </a:r>
            <a:r>
              <a:rPr b="0" i="0" lang="en-US" sz="1100" u="none" cap="none" strike="noStrike">
                <a:solidFill>
                  <a:srgbClr val="4B5563"/>
                </a:solidFill>
                <a:latin typeface="Inter"/>
                <a:ea typeface="Inter"/>
                <a:cs typeface="Inter"/>
                <a:sym typeface="Inter"/>
              </a:rPr>
              <a:t xml:space="preserve"> (Vaani) — 1.5M users, </a:t>
            </a:r>
            <a:r>
              <a:rPr b="1" i="0" lang="en-US" sz="1100" u="none" cap="none" strike="noStrike">
                <a:solidFill>
                  <a:srgbClr val="4B5563"/>
                </a:solidFill>
                <a:latin typeface="Inter"/>
                <a:ea typeface="Inter"/>
                <a:cs typeface="Inter"/>
                <a:sym typeface="Inter"/>
              </a:rPr>
              <a:t>22% higher conversion</a:t>
            </a:r>
            <a:r>
              <a:rPr b="0" i="0" lang="en-US" sz="1100" u="none" cap="none" strike="noStrike">
                <a:solidFill>
                  <a:srgbClr val="4B5563"/>
                </a:solidFill>
                <a:latin typeface="Inter"/>
                <a:ea typeface="Inter"/>
                <a:cs typeface="Inter"/>
                <a:sym typeface="Inter"/>
              </a:rPr>
              <a:t>, lower returns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Aditya Birla Fashion (Pantaloons, Van Heusen, Allen Solly) — evaluating AI-powered search across their portfolio</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50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Flipkart, Nykaa, Ajio</a:t>
            </a:r>
            <a:r>
              <a:rPr b="0" i="0" lang="en-US" sz="1100" u="none" cap="none" strike="noStrike">
                <a:solidFill>
                  <a:srgbClr val="4B5563"/>
                </a:solidFill>
                <a:latin typeface="Inter"/>
                <a:ea typeface="Inter"/>
                <a:cs typeface="Inter"/>
                <a:sym typeface="Inter"/>
              </a:rPr>
              <a:t xml:space="preserve"> — actively building or evaluating AI search</a:t>
            </a:r>
            <a:endParaRPr b="0" i="0" sz="1100" u="none" cap="none" strike="noStrike">
              <a:solidFill>
                <a:schemeClr val="dk1"/>
              </a:solidFill>
              <a:latin typeface="Calibri"/>
              <a:ea typeface="Calibri"/>
              <a:cs typeface="Calibri"/>
              <a:sym typeface="Calibri"/>
            </a:endParaRP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a:t>
            </a:r>
            <a:r>
              <a:rPr b="1" i="0" lang="en-US" sz="1100" u="none" cap="none" strike="noStrike">
                <a:solidFill>
                  <a:srgbClr val="4B5563"/>
                </a:solidFill>
                <a:latin typeface="Inter"/>
                <a:ea typeface="Inter"/>
                <a:cs typeface="Inter"/>
                <a:sym typeface="Inter"/>
              </a:rPr>
              <a:t>current search bar</a:t>
            </a:r>
            <a:r>
              <a:rPr b="0" i="0" lang="en-US" sz="1100" u="none" cap="none" strike="noStrike">
                <a:solidFill>
                  <a:srgbClr val="4B5563"/>
                </a:solidFill>
                <a:latin typeface="Inter"/>
                <a:ea typeface="Inter"/>
                <a:cs typeface="Inter"/>
                <a:sym typeface="Inter"/>
              </a:rPr>
              <a:t xml:space="preserve"> on your e-commerce website needs the right keywords. It </a:t>
            </a:r>
            <a:r>
              <a:rPr b="1" i="0" lang="en-US" sz="1100" u="none" cap="none" strike="noStrike">
                <a:solidFill>
                  <a:srgbClr val="4B5563"/>
                </a:solidFill>
                <a:latin typeface="Inter"/>
                <a:ea typeface="Inter"/>
                <a:cs typeface="Inter"/>
                <a:sym typeface="Inter"/>
              </a:rPr>
              <a:t>does not understand human language</a:t>
            </a:r>
            <a:r>
              <a:rPr b="0" i="0" lang="en-US" sz="1100" u="none" cap="none" strike="noStrike">
                <a:solidFill>
                  <a:srgbClr val="4B5563"/>
                </a:solidFill>
                <a:latin typeface="Inter"/>
                <a:ea typeface="Inter"/>
                <a:cs typeface="Inter"/>
                <a:sym typeface="Inter"/>
              </a:rPr>
              <a:t>, it cannot match scarf and dupatta, it cannot link “Jaipur in May” to summer and summer to cotton.</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a:t>
            </a:r>
            <a:r>
              <a:rPr lang="en-US" sz="1100">
                <a:solidFill>
                  <a:srgbClr val="4B5563"/>
                </a:solidFill>
                <a:latin typeface="Inter"/>
                <a:ea typeface="Inter"/>
                <a:cs typeface="Inter"/>
                <a:sym typeface="Inter"/>
              </a:rPr>
              <a:t xml:space="preserve">“blazer” or </a:t>
            </a:r>
            <a:r>
              <a:rPr b="0" i="0" lang="en-US" sz="1100" u="none" cap="none" strike="noStrike">
                <a:solidFill>
                  <a:srgbClr val="4B5563"/>
                </a:solidFill>
                <a:latin typeface="Inter"/>
                <a:ea typeface="Inter"/>
                <a:cs typeface="Inter"/>
                <a:sym typeface="Inter"/>
              </a:rPr>
              <a:t xml:space="preserve">“light pink lehenga”, </a:t>
            </a:r>
            <a:r>
              <a:rPr b="1" i="0" lang="en-US" sz="1100" u="none" cap="none" strike="noStrike">
                <a:solidFill>
                  <a:srgbClr val="4B5563"/>
                </a:solidFill>
                <a:latin typeface="Inter"/>
                <a:ea typeface="Inter"/>
                <a:cs typeface="Inter"/>
                <a:sym typeface="Inter"/>
              </a:rPr>
              <a:t>they shop by intents</a:t>
            </a:r>
            <a:r>
              <a:rPr b="0" i="0" lang="en-US" sz="1100" u="none" cap="none" strike="noStrike">
                <a:solidFill>
                  <a:srgbClr val="4B5563"/>
                </a:solidFill>
                <a:latin typeface="Inter"/>
                <a:ea typeface="Inter"/>
                <a:cs typeface="Inter"/>
                <a:sym typeface="Inter"/>
              </a:rPr>
              <a:t xml:space="preserve"> such as “for an office party” or “for a wedding in India in May”.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an outfit under 20000 for myself, size medium, for my sister’s beach wedding, I like sequins”</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beach to : pastels/boho, wedding to lehenga/sharara/gown, adds the conditions for sequins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fit/cut and tags such as “summer” or “polka” which an AI agent needs to map intent such as “outfit for 90’s themed bachelorette”  to “polka saree” or “for a Christian wedding” to “non white gown”.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“red dress” or “16GM RAM”, AI chat assistants need to answer intent based queries like “I want an outfit for my birthday” or “I want a laptop good for Photoshop”. They have to map buyer intent to keywords using a knowledge graph and then search the catalog for relevant products using keywords, refer to the diagram in the next slide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“outfit for Ladakh trip”, “plan my meals”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see how various sizes and styles look on them before buying reducing return rate.</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Some companies have seen return rates go down by 40%.</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Multilingual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use regional languages to search magnifying your customer base.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Most regional brands get a huge quota of queries that use the local language and miss out.</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a:p>
            <a:pPr indent="0" lvl="0" marL="0" marR="0" rtl="0" algn="l">
              <a:spcBef>
                <a:spcPts val="0"/>
              </a:spcBef>
              <a:spcAft>
                <a:spcPts val="0"/>
              </a:spcAft>
              <a:buClr>
                <a:srgbClr val="111827"/>
              </a:buClr>
              <a:buSzPts val="1600"/>
              <a:buFont typeface="Inter"/>
              <a:buNone/>
            </a:pPr>
            <a:r>
              <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shoppers now start their buying journey on AI platforms.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brand’s AI-native storefront surfaces inside the AI conversation. Your brand’s recommendations appear with product imagery, descriptions, and lifestyle content.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Works Across Every AI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Google Shape;150;p11" title="Screenshot 2026-04-20 at 12.45.30 PM.png"/>
          <p:cNvPicPr preferRelativeResize="0"/>
          <p:nvPr/>
        </p:nvPicPr>
        <p:blipFill rotWithShape="1">
          <a:blip r:embed="rId3">
            <a:alphaModFix/>
          </a:blip>
          <a:srcRect b="0" l="0" r="0" t="0"/>
          <a:stretch/>
        </p:blipFill>
        <p:spPr>
          <a:xfrm>
            <a:off x="152400" y="812300"/>
            <a:ext cx="8839197" cy="4080397"/>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look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outfits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blue shirt, white dress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crossbody bag/sling bag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outfit for karwachaut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 have an office trip to London</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(red, sleeveless, v-neck, medium dress under 4000)</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