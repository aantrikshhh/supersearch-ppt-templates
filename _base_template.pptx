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3" r:id="rId13"/>
    <p:sldId id="264" r:id="rId14"/>
    <p:sldId id="265" r:id="rId15"/>
    <p:sldId id="266" r:id="rId16"/>
    <p:sldId id="267" r:id="rId17"/>
    <p:sldId id="268" r:id="rId18"/>
    <p:sldId id="269" r:id="rId19"/>
    <p:sldId id="270" r:id="rId20"/>
  </p:sldIdLst>
  <p:sldSz cy="5143500" cx="9144000"/>
  <p:notesSz cx="5143500" cy="9144000"/>
  <p:embeddedFontLst>
    <p:embeddedFont>
      <p:font typeface="Int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AXWUe55wi30lXcQrFr6CVs98l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67869B-1F53-4C99-AD8D-8728D57326FD}">
  <a:tblStyle styleId="{A667869B-1F53-4C99-AD8D-8728D57326F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font" Target="fonts/Inter-regular.fntdata"/><Relationship Id="rId22" Type="http://schemas.openxmlformats.org/officeDocument/2006/relationships/font" Target="fonts/Inter-bold.fntdata"/><Relationship Id="rId23" Type="http://schemas.openxmlformats.org/officeDocument/2006/relationships/font" Target="fonts/Inter-italic.fntdata"/><Relationship Id="rId24" Type="http://schemas.openxmlformats.org/officeDocument/2006/relationships/font" Target="fonts/Inter-boldItalic.fntdata"/><Relationship Id="rId2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 name="Google Shape;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 name="Google Shape;55;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 name="Google Shape;6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03a3b1c68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3e03a3b1c68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 name="Google Shape;82;g3e03a3b1c68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836f29ee0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836f29ee0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d836f29ee0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836f29ee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d836f29ee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d836f29ee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upersearch.onrender.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supersearch.onrender.com/" TargetMode="External"/><Relationship Id="rId4" Type="http://schemas.openxmlformats.org/officeDocument/2006/relationships/hyperlink" Target="mailto:shaliniiitkgp2021@gmail.com" TargetMode="External"/><Relationship Id="rId5" Type="http://schemas.openxmlformats.org/officeDocument/2006/relationships/hyperlink" Target="mailto:aantriksh.pandya1@gmai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685800" y="1280160"/>
            <a:ext cx="77724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4400"/>
              <a:buFont typeface="Inter"/>
              <a:buNone/>
            </a:pPr>
            <a:r>
              <a:rPr b="1" i="0" lang="en-US" sz="4400" u="none" cap="none" strike="noStrike">
                <a:solidFill>
                  <a:srgbClr val="111827"/>
                </a:solidFill>
                <a:latin typeface="Inter"/>
                <a:ea typeface="Inter"/>
                <a:cs typeface="Inter"/>
                <a:sym typeface="Inter"/>
              </a:rPr>
              <a:t>SuperSearch</a:t>
            </a:r>
            <a:endParaRPr b="0" i="0" sz="4400" u="none" cap="none" strike="noStrike">
              <a:solidFill>
                <a:schemeClr val="dk1"/>
              </a:solidFill>
              <a:latin typeface="Calibri"/>
              <a:ea typeface="Calibri"/>
              <a:cs typeface="Calibri"/>
              <a:sym typeface="Calibri"/>
            </a:endParaRPr>
          </a:p>
        </p:txBody>
      </p:sp>
      <p:sp>
        <p:nvSpPr>
          <p:cNvPr id="18" name="Google Shape;18;p1"/>
          <p:cNvSpPr/>
          <p:nvPr/>
        </p:nvSpPr>
        <p:spPr>
          <a:xfrm>
            <a:off x="685800" y="2180251"/>
            <a:ext cx="6550500" cy="75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600"/>
              <a:buFont typeface="Inter"/>
              <a:buNone/>
            </a:pPr>
            <a:r>
              <a:rPr b="0" i="0" lang="en-US" sz="1600" u="none" cap="none" strike="noStrike">
                <a:solidFill>
                  <a:srgbClr val="4B5563"/>
                </a:solidFill>
                <a:latin typeface="Inter"/>
                <a:ea typeface="Inter"/>
                <a:cs typeface="Inter"/>
                <a:sym typeface="Inter"/>
              </a:rPr>
              <a:t>Conversational AI shopping assistants for e-commerce websites</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600" u="none" cap="none" strike="noStrike">
              <a:solidFill>
                <a:srgbClr val="4B5563"/>
              </a:solidFill>
              <a:latin typeface="Inter"/>
              <a:ea typeface="Inter"/>
              <a:cs typeface="Inter"/>
              <a:sym typeface="Inter"/>
            </a:endParaRPr>
          </a:p>
        </p:txBody>
      </p:sp>
      <p:sp>
        <p:nvSpPr>
          <p:cNvPr id="19" name="Google Shape;19;p1"/>
          <p:cNvSpPr/>
          <p:nvPr/>
        </p:nvSpPr>
        <p:spPr>
          <a:xfrm>
            <a:off x="685800" y="3154700"/>
            <a:ext cx="5925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300"/>
              <a:buFont typeface="Inter"/>
              <a:buNone/>
            </a:pPr>
            <a:r>
              <a:rPr b="0" i="0" lang="en-US" sz="1300" u="none" cap="none" strike="noStrike">
                <a:solidFill>
                  <a:srgbClr val="4B5563"/>
                </a:solidFill>
                <a:latin typeface="Inter"/>
                <a:ea typeface="Inter"/>
                <a:cs typeface="Inter"/>
                <a:sym typeface="Inter"/>
              </a:rPr>
              <a:t>Aantriksh Pandya . Shalini Mukhopadhyay</a:t>
            </a:r>
            <a:r>
              <a:rPr b="0" i="0" lang="en-US" sz="1300" u="none" cap="none" strike="noStrike">
                <a:solidFill>
                  <a:schemeClr val="dk1"/>
                </a:solidFill>
                <a:latin typeface="Calibri"/>
                <a:ea typeface="Calibri"/>
                <a:cs typeface="Calibri"/>
                <a:sym typeface="Calibri"/>
              </a:rPr>
              <a:t xml:space="preserve">  </a:t>
            </a:r>
            <a:r>
              <a:rPr b="0" i="0" lang="en-US" sz="1300" u="none" cap="none" strike="noStrike">
                <a:solidFill>
                  <a:srgbClr val="4B5563"/>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p:txBody>
      </p:sp>
      <p:sp>
        <p:nvSpPr>
          <p:cNvPr id="20" name="Google Shape;20;p1"/>
          <p:cNvSpPr/>
          <p:nvPr/>
        </p:nvSpPr>
        <p:spPr>
          <a:xfrm>
            <a:off x="685800" y="352044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100"/>
              <a:buFont typeface="Inter"/>
              <a:buNone/>
            </a:pPr>
            <a:r>
              <a:rPr b="0" i="0" lang="en-US" sz="1100" u="none" cap="none" strike="noStrike">
                <a:solidFill>
                  <a:schemeClr val="dk1"/>
                </a:solidFill>
                <a:latin typeface="Inter"/>
                <a:ea typeface="Inter"/>
                <a:cs typeface="Inter"/>
                <a:sym typeface="Inter"/>
              </a:rPr>
              <a:t>Prepared for: {Brand Name}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685800" y="365750"/>
            <a:ext cx="81357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Ecommerce search is changing forever and AI shopping assistants are here to stay — the numbers are clear</a:t>
            </a:r>
            <a:endParaRPr b="0" i="0" sz="2300" u="none" cap="none" strike="noStrike">
              <a:solidFill>
                <a:schemeClr val="dk1"/>
              </a:solidFill>
              <a:latin typeface="Calibri"/>
              <a:ea typeface="Calibri"/>
              <a:cs typeface="Calibri"/>
              <a:sym typeface="Calibri"/>
            </a:endParaRPr>
          </a:p>
        </p:txBody>
      </p:sp>
      <p:sp>
        <p:nvSpPr>
          <p:cNvPr id="28" name="Google Shape;28;p2"/>
          <p:cNvSpPr/>
          <p:nvPr/>
        </p:nvSpPr>
        <p:spPr>
          <a:xfrm>
            <a:off x="68580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86868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58%</a:t>
            </a:r>
            <a:endParaRPr b="0" i="0" sz="3600" u="none" cap="none" strike="noStrike">
              <a:solidFill>
                <a:schemeClr val="dk1"/>
              </a:solidFill>
              <a:latin typeface="Calibri"/>
              <a:ea typeface="Calibri"/>
              <a:cs typeface="Calibri"/>
              <a:sym typeface="Calibri"/>
            </a:endParaRPr>
          </a:p>
        </p:txBody>
      </p:sp>
      <p:sp>
        <p:nvSpPr>
          <p:cNvPr id="30" name="Google Shape;30;p2"/>
          <p:cNvSpPr/>
          <p:nvPr/>
        </p:nvSpPr>
        <p:spPr>
          <a:xfrm>
            <a:off x="766575" y="1783075"/>
            <a:ext cx="23184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of consumers prefer AI shopping assistants</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over keywords (up from 25%</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in 2023)</a:t>
            </a:r>
            <a:endParaRPr b="0" i="0" sz="1200" u="none" cap="none" strike="noStrike">
              <a:solidFill>
                <a:schemeClr val="dk1"/>
              </a:solidFill>
              <a:latin typeface="Calibri"/>
              <a:ea typeface="Calibri"/>
              <a:cs typeface="Calibri"/>
              <a:sym typeface="Calibri"/>
            </a:endParaRPr>
          </a:p>
        </p:txBody>
      </p:sp>
      <p:sp>
        <p:nvSpPr>
          <p:cNvPr id="31" name="Google Shape;31;p2"/>
          <p:cNvSpPr/>
          <p:nvPr/>
        </p:nvSpPr>
        <p:spPr>
          <a:xfrm>
            <a:off x="338328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356616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4x</a:t>
            </a:r>
            <a:endParaRPr b="0" i="0" sz="3600" u="none" cap="none" strike="noStrike">
              <a:solidFill>
                <a:schemeClr val="dk1"/>
              </a:solidFill>
              <a:latin typeface="Calibri"/>
              <a:ea typeface="Calibri"/>
              <a:cs typeface="Calibri"/>
              <a:sym typeface="Calibri"/>
            </a:endParaRPr>
          </a:p>
        </p:txBody>
      </p:sp>
      <p:sp>
        <p:nvSpPr>
          <p:cNvPr id="33" name="Google Shape;33;p2"/>
          <p:cNvSpPr/>
          <p:nvPr/>
        </p:nvSpPr>
        <p:spPr>
          <a:xfrm>
            <a:off x="356616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higher conversion rates for</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conversational search as compared to keyword search</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(12.3% vs 3.1%, Rep AI)</a:t>
            </a:r>
            <a:endParaRPr b="0" i="0" sz="1200" u="none" cap="none" strike="noStrike">
              <a:solidFill>
                <a:schemeClr val="dk1"/>
              </a:solidFill>
              <a:latin typeface="Calibri"/>
              <a:ea typeface="Calibri"/>
              <a:cs typeface="Calibri"/>
              <a:sym typeface="Calibri"/>
            </a:endParaRPr>
          </a:p>
        </p:txBody>
      </p:sp>
      <p:sp>
        <p:nvSpPr>
          <p:cNvPr id="34" name="Google Shape;34;p2"/>
          <p:cNvSpPr/>
          <p:nvPr/>
        </p:nvSpPr>
        <p:spPr>
          <a:xfrm>
            <a:off x="608076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626364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1,300%</a:t>
            </a:r>
            <a:endParaRPr b="0" i="0" sz="3600" u="none" cap="none" strike="noStrike">
              <a:solidFill>
                <a:schemeClr val="dk1"/>
              </a:solidFill>
              <a:latin typeface="Calibri"/>
              <a:ea typeface="Calibri"/>
              <a:cs typeface="Calibri"/>
              <a:sym typeface="Calibri"/>
            </a:endParaRPr>
          </a:p>
        </p:txBody>
      </p:sp>
      <p:sp>
        <p:nvSpPr>
          <p:cNvPr id="36" name="Google Shape;36;p2"/>
          <p:cNvSpPr/>
          <p:nvPr/>
        </p:nvSpPr>
        <p:spPr>
          <a:xfrm>
            <a:off x="626364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YoY growth in AI-referred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retail traffic</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(Adobe, Holiday 2024)</a:t>
            </a:r>
            <a:endParaRPr b="0" i="0" sz="1200" u="none" cap="none" strike="noStrike">
              <a:solidFill>
                <a:schemeClr val="dk1"/>
              </a:solidFill>
              <a:latin typeface="Calibri"/>
              <a:ea typeface="Calibri"/>
              <a:cs typeface="Calibri"/>
              <a:sym typeface="Calibri"/>
            </a:endParaRPr>
          </a:p>
        </p:txBody>
      </p:sp>
      <p:sp>
        <p:nvSpPr>
          <p:cNvPr id="37" name="Google Shape;37;p2"/>
          <p:cNvSpPr/>
          <p:nvPr/>
        </p:nvSpPr>
        <p:spPr>
          <a:xfrm>
            <a:off x="685800" y="2814763"/>
            <a:ext cx="7909500" cy="17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 xml:space="preserve">~60% to 64% of online shoppers </a:t>
            </a:r>
            <a:r>
              <a:rPr b="0" i="0" lang="en-US" sz="1100" u="none" cap="none" strike="noStrike">
                <a:solidFill>
                  <a:srgbClr val="4B5563"/>
                </a:solidFill>
                <a:latin typeface="Inter"/>
                <a:ea typeface="Inter"/>
                <a:cs typeface="Inter"/>
                <a:sym typeface="Inter"/>
              </a:rPr>
              <a:t>have used or plan to use AI for shopping in 2026 (~3B AI shoppers)</a:t>
            </a:r>
            <a:r>
              <a:rPr b="1" i="0" lang="en-US" sz="1100" u="none" cap="none" strike="noStrike">
                <a:solidFill>
                  <a:srgbClr val="4B5563"/>
                </a:solidFill>
                <a:latin typeface="Inter"/>
                <a:ea typeface="Inter"/>
                <a:cs typeface="Inter"/>
                <a:sym typeface="Inter"/>
              </a:rPr>
              <a:t xml:space="preserve">. </a:t>
            </a:r>
            <a:endParaRPr b="1"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1"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7-8 word queries nearly doubled since ChatGPT</a:t>
            </a:r>
            <a:r>
              <a:rPr b="0" i="0" lang="en-US" sz="1100" u="none" cap="none" strike="noStrike">
                <a:solidFill>
                  <a:srgbClr val="4B5563"/>
                </a:solidFill>
                <a:latin typeface="Inter"/>
                <a:ea typeface="Inter"/>
                <a:cs typeface="Inter"/>
                <a:sym typeface="Inter"/>
              </a:rPr>
              <a:t xml:space="preserve"> launched (Search Engine Land), 35% of all search queries are now complete sentences, not fragmented keywords. Conversational search is the new norm.</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79% of customers say they'd find it helpful if AI understood their specific needs (not just keywords) to recommend products in a chat instead of them having to type keywords into a search bar to discover relevant products.</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82% want AI shopping assistants to reduce time</a:t>
            </a:r>
            <a:r>
              <a:rPr b="0" i="0" lang="en-US" sz="1100" u="none" cap="none" strike="noStrike">
                <a:solidFill>
                  <a:srgbClr val="4B5563"/>
                </a:solidFill>
                <a:latin typeface="Inter"/>
                <a:ea typeface="Inter"/>
                <a:cs typeface="Inter"/>
                <a:sym typeface="Inter"/>
              </a:rPr>
              <a:t xml:space="preserve"> spent researching what to buy.</a:t>
            </a:r>
            <a:endParaRPr b="0" i="0" sz="1100" u="none" cap="none" strike="noStrike">
              <a:solidFill>
                <a:schemeClr val="dk1"/>
              </a:solidFill>
              <a:latin typeface="Calibri"/>
              <a:ea typeface="Calibri"/>
              <a:cs typeface="Calibri"/>
              <a:sym typeface="Calibri"/>
            </a:endParaRPr>
          </a:p>
        </p:txBody>
      </p:sp>
      <p:sp>
        <p:nvSpPr>
          <p:cNvPr id="38" name="Google Shape;38;p2"/>
          <p:cNvSpPr/>
          <p:nvPr/>
        </p:nvSpPr>
        <p:spPr>
          <a:xfrm>
            <a:off x="928325" y="4876001"/>
            <a:ext cx="7530000" cy="17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900"/>
              <a:buFont typeface="Inter"/>
              <a:buNone/>
            </a:pPr>
            <a:r>
              <a:rPr b="0" i="0" lang="en-US" sz="900" u="none" cap="none" strike="noStrike">
                <a:solidFill>
                  <a:srgbClr val="666666"/>
                </a:solidFill>
                <a:latin typeface="Inter"/>
                <a:ea typeface="Inter"/>
                <a:cs typeface="Inter"/>
                <a:sym typeface="Inter"/>
              </a:rPr>
              <a:t>Sources: Rep AI 2025, Adobe Analytics, Search Engine Land, Capgemini, Constructor, Nosto</a:t>
            </a:r>
            <a:endParaRPr b="0" i="0" sz="900" u="none" cap="none" strike="noStrike">
              <a:solidFill>
                <a:srgbClr val="66666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3"/>
          <p:cNvSpPr/>
          <p:nvPr/>
        </p:nvSpPr>
        <p:spPr>
          <a:xfrm>
            <a:off x="367600" y="322625"/>
            <a:ext cx="87765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Competitors are already live with conversational search and seeing massive gains</a:t>
            </a:r>
            <a:endParaRPr b="0" i="0" sz="2200" u="none" cap="none" strike="noStrike">
              <a:solidFill>
                <a:schemeClr val="dk1"/>
              </a:solidFill>
              <a:latin typeface="Calibri"/>
              <a:ea typeface="Calibri"/>
              <a:cs typeface="Calibri"/>
              <a:sym typeface="Calibri"/>
            </a:endParaRPr>
          </a:p>
        </p:txBody>
      </p:sp>
      <p:sp>
        <p:nvSpPr>
          <p:cNvPr id="46" name="Google Shape;46;p3"/>
          <p:cNvSpPr/>
          <p:nvPr/>
        </p:nvSpPr>
        <p:spPr>
          <a:xfrm>
            <a:off x="906749" y="1202975"/>
            <a:ext cx="351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600"/>
              <a:buFont typeface="Inter"/>
              <a:buNone/>
            </a:pPr>
            <a:r>
              <a:rPr b="1" i="0" lang="en-US" sz="1600" u="none" cap="none" strike="noStrike">
                <a:solidFill>
                  <a:srgbClr val="2563EB"/>
                </a:solidFill>
                <a:latin typeface="Inter"/>
                <a:ea typeface="Inter"/>
                <a:cs typeface="Inter"/>
                <a:sym typeface="Inter"/>
              </a:rPr>
              <a:t>Global</a:t>
            </a:r>
            <a:endParaRPr b="0" i="0" sz="1600" u="none" cap="none" strike="noStrike">
              <a:solidFill>
                <a:schemeClr val="dk1"/>
              </a:solidFill>
              <a:latin typeface="Calibri"/>
              <a:ea typeface="Calibri"/>
              <a:cs typeface="Calibri"/>
              <a:sym typeface="Calibri"/>
            </a:endParaRPr>
          </a:p>
        </p:txBody>
      </p:sp>
      <p:sp>
        <p:nvSpPr>
          <p:cNvPr id="47" name="Google Shape;47;p3"/>
          <p:cNvSpPr/>
          <p:nvPr/>
        </p:nvSpPr>
        <p:spPr>
          <a:xfrm>
            <a:off x="594050" y="1463050"/>
            <a:ext cx="3978900" cy="260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Amazon Rufus</a:t>
            </a:r>
            <a:r>
              <a:rPr b="0" i="0" lang="en-US" sz="1100" u="none" cap="none" strike="noStrike">
                <a:solidFill>
                  <a:srgbClr val="4B5563"/>
                </a:solidFill>
                <a:latin typeface="Inter"/>
                <a:ea typeface="Inter"/>
                <a:cs typeface="Inter"/>
                <a:sym typeface="Inter"/>
              </a:rPr>
              <a:t xml:space="preserve"> — 250M shoppers, </a:t>
            </a:r>
            <a:r>
              <a:rPr b="1" i="0" lang="en-US" sz="1100" u="none" cap="none" strike="noStrike">
                <a:solidFill>
                  <a:srgbClr val="4B5563"/>
                </a:solidFill>
                <a:latin typeface="Inter"/>
                <a:ea typeface="Inter"/>
                <a:cs typeface="Inter"/>
                <a:sym typeface="Inter"/>
              </a:rPr>
              <a:t>$10B extra sales</a:t>
            </a:r>
            <a:r>
              <a:rPr b="0" i="0" lang="en-US" sz="1100" u="none" cap="none" strike="noStrike">
                <a:solidFill>
                  <a:srgbClr val="4B5563"/>
                </a:solidFill>
                <a:latin typeface="Inter"/>
                <a:ea typeface="Inter"/>
                <a:cs typeface="Inter"/>
                <a:sym typeface="Inter"/>
              </a:rPr>
              <a:t xml:space="preserve">, </a:t>
            </a:r>
            <a:r>
              <a:rPr b="1" i="0" lang="en-US" sz="1100" u="none" cap="none" strike="noStrike">
                <a:solidFill>
                  <a:srgbClr val="4B5563"/>
                </a:solidFill>
                <a:latin typeface="Inter"/>
                <a:ea typeface="Inter"/>
                <a:cs typeface="Inter"/>
                <a:sym typeface="Inter"/>
              </a:rPr>
              <a:t>60% higher conversion</a:t>
            </a:r>
            <a:r>
              <a:rPr b="0" i="0" lang="en-US" sz="1100" u="none" cap="none" strike="noStrike">
                <a:solidFill>
                  <a:srgbClr val="4B5563"/>
                </a:solidFill>
                <a:latin typeface="Inter"/>
                <a:ea typeface="Inter"/>
                <a:cs typeface="Inter"/>
                <a:sym typeface="Inter"/>
              </a:rPr>
              <a:t xml:space="preserve"> rate through Rufus</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Walmart Sparky</a:t>
            </a:r>
            <a:r>
              <a:rPr b="0" i="0" lang="en-US" sz="1100" u="none" cap="none" strike="noStrike">
                <a:solidFill>
                  <a:srgbClr val="4B5563"/>
                </a:solidFill>
                <a:latin typeface="Inter"/>
                <a:ea typeface="Inter"/>
                <a:cs typeface="Inter"/>
                <a:sym typeface="Inter"/>
              </a:rPr>
              <a:t xml:space="preserve"> — live in ChatGPT + Gemini with checkout, higher conversion rate in months</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Zalando</a:t>
            </a:r>
            <a:r>
              <a:rPr b="0" i="0" lang="en-US" sz="1100" u="none" cap="none" strike="noStrike">
                <a:solidFill>
                  <a:srgbClr val="4B5563"/>
                </a:solidFill>
                <a:latin typeface="Inter"/>
                <a:ea typeface="Inter"/>
                <a:cs typeface="Inter"/>
                <a:sym typeface="Inter"/>
              </a:rPr>
              <a:t xml:space="preserve"> : </a:t>
            </a:r>
            <a:r>
              <a:rPr b="1" i="0" lang="en-US" sz="1100" u="none" cap="none" strike="noStrike">
                <a:solidFill>
                  <a:srgbClr val="4B5563"/>
                </a:solidFill>
                <a:latin typeface="Inter"/>
                <a:ea typeface="Inter"/>
                <a:cs typeface="Inter"/>
                <a:sym typeface="Inter"/>
              </a:rPr>
              <a:t>18% YoY profitability increase</a:t>
            </a:r>
            <a:r>
              <a:rPr b="0" i="0" lang="en-US" sz="1100" u="none" cap="none" strike="noStrike">
                <a:solidFill>
                  <a:srgbClr val="4B5563"/>
                </a:solidFill>
                <a:latin typeface="Inter"/>
                <a:ea typeface="Inter"/>
                <a:cs typeface="Inter"/>
                <a:sym typeface="Inter"/>
              </a:rPr>
              <a:t xml:space="preserve"> due to AI shopping assistant rollout</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Albertsons</a:t>
            </a:r>
            <a:r>
              <a:rPr b="0" i="0" lang="en-US" sz="1100" u="none" cap="none" strike="noStrike">
                <a:solidFill>
                  <a:srgbClr val="4B5563"/>
                </a:solidFill>
                <a:latin typeface="Inter"/>
                <a:ea typeface="Inter"/>
                <a:cs typeface="Inter"/>
                <a:sym typeface="Inter"/>
              </a:rPr>
              <a:t xml:space="preserve"> — </a:t>
            </a:r>
            <a:r>
              <a:rPr b="1" i="0" lang="en-US" sz="1100" u="none" cap="none" strike="noStrike">
                <a:solidFill>
                  <a:srgbClr val="4B5563"/>
                </a:solidFill>
                <a:latin typeface="Inter"/>
                <a:ea typeface="Inter"/>
                <a:cs typeface="Inter"/>
                <a:sym typeface="Inter"/>
              </a:rPr>
              <a:t>10% basket size increase</a:t>
            </a:r>
            <a:r>
              <a:rPr b="0" i="0" lang="en-US" sz="1100" u="none" cap="none" strike="noStrike">
                <a:solidFill>
                  <a:srgbClr val="4B5563"/>
                </a:solidFill>
                <a:latin typeface="Inter"/>
                <a:ea typeface="Inter"/>
                <a:cs typeface="Inter"/>
                <a:sym typeface="Inter"/>
              </a:rPr>
              <a:t>, 21% digital sales growth</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Sephora, Target, Wayfair, eBay, Etsy</a:t>
            </a:r>
            <a:r>
              <a:rPr b="0" i="0" lang="en-US" sz="1100" u="none" cap="none" strike="noStrike">
                <a:solidFill>
                  <a:srgbClr val="4B5563"/>
                </a:solidFill>
                <a:latin typeface="Inter"/>
                <a:ea typeface="Inter"/>
                <a:cs typeface="Inter"/>
                <a:sym typeface="Inter"/>
              </a:rPr>
              <a:t xml:space="preserve"> — all on OpenAI/Google commerce protocols</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Instacart</a:t>
            </a:r>
            <a:r>
              <a:rPr b="0" i="0" lang="en-US" sz="1100" u="none" cap="none" strike="noStrike">
                <a:solidFill>
                  <a:srgbClr val="4B5563"/>
                </a:solidFill>
                <a:latin typeface="Inter"/>
                <a:ea typeface="Inter"/>
                <a:cs typeface="Inter"/>
                <a:sym typeface="Inter"/>
              </a:rPr>
              <a:t xml:space="preserve"> : </a:t>
            </a:r>
            <a:r>
              <a:rPr b="1" i="0" lang="en-US" sz="1100" u="none" cap="none" strike="noStrike">
                <a:solidFill>
                  <a:srgbClr val="4B5563"/>
                </a:solidFill>
                <a:latin typeface="Inter"/>
                <a:ea typeface="Inter"/>
                <a:cs typeface="Inter"/>
                <a:sym typeface="Inter"/>
              </a:rPr>
              <a:t>4+ more orders per month per user</a:t>
            </a:r>
            <a:r>
              <a:rPr b="0" i="0" lang="en-US" sz="1100" u="none" cap="none" strike="noStrike">
                <a:solidFill>
                  <a:srgbClr val="4B5563"/>
                </a:solidFill>
                <a:latin typeface="Inter"/>
                <a:ea typeface="Inter"/>
                <a:cs typeface="Inter"/>
                <a:sym typeface="Inter"/>
              </a:rPr>
              <a:t xml:space="preserve"> for users using AI assistant compared to ones not using it</a:t>
            </a:r>
            <a:endParaRPr b="0" i="0" sz="1100" u="none" cap="none" strike="noStrike">
              <a:solidFill>
                <a:srgbClr val="4B5563"/>
              </a:solidFill>
              <a:latin typeface="Inter"/>
              <a:ea typeface="Inter"/>
              <a:cs typeface="Inter"/>
              <a:sym typeface="Inter"/>
            </a:endParaRPr>
          </a:p>
        </p:txBody>
      </p:sp>
      <p:sp>
        <p:nvSpPr>
          <p:cNvPr id="48" name="Google Shape;48;p3"/>
          <p:cNvSpPr/>
          <p:nvPr/>
        </p:nvSpPr>
        <p:spPr>
          <a:xfrm>
            <a:off x="5025900" y="1202975"/>
            <a:ext cx="3432300" cy="22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600"/>
              <a:buFont typeface="Inter"/>
              <a:buNone/>
            </a:pPr>
            <a:r>
              <a:rPr b="1" i="0" lang="en-US" sz="1600" u="none" cap="none" strike="noStrike">
                <a:solidFill>
                  <a:srgbClr val="DC2626"/>
                </a:solidFill>
                <a:latin typeface="Inter"/>
                <a:ea typeface="Inter"/>
                <a:cs typeface="Inter"/>
                <a:sym typeface="Inter"/>
              </a:rPr>
              <a:t>India (your direct market)</a:t>
            </a:r>
            <a:endParaRPr b="0" i="0" sz="1600" u="none" cap="none" strike="noStrike">
              <a:solidFill>
                <a:schemeClr val="dk1"/>
              </a:solidFill>
              <a:latin typeface="Calibri"/>
              <a:ea typeface="Calibri"/>
              <a:cs typeface="Calibri"/>
              <a:sym typeface="Calibri"/>
            </a:endParaRPr>
          </a:p>
        </p:txBody>
      </p:sp>
      <p:sp>
        <p:nvSpPr>
          <p:cNvPr id="49" name="Google Shape;49;p3"/>
          <p:cNvSpPr/>
          <p:nvPr/>
        </p:nvSpPr>
        <p:spPr>
          <a:xfrm>
            <a:off x="4709150" y="1630300"/>
            <a:ext cx="3749100" cy="23184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Aza/Pernia —- </a:t>
            </a:r>
            <a:r>
              <a:rPr i="0" lang="en-US" sz="1100" u="none" cap="none" strike="noStrike">
                <a:solidFill>
                  <a:schemeClr val="dk1"/>
                </a:solidFill>
                <a:latin typeface="Inter"/>
                <a:ea typeface="Inter"/>
                <a:cs typeface="Inter"/>
                <a:sym typeface="Inter"/>
              </a:rPr>
              <a:t xml:space="preserve"/>
            </a:r>
            <a:r>
              <a:rPr b="1" i="0" lang="en-US" sz="1100" u="none" cap="none" strike="noStrike">
                <a:solidFill>
                  <a:schemeClr val="dk1"/>
                </a:solidFill>
                <a:latin typeface="Inter"/>
                <a:ea typeface="Inter"/>
                <a:cs typeface="Inter"/>
                <a:sym typeface="Inter"/>
              </a:rPr>
              <a:t>Actively integrating AI assistants and virtual try-on into their website.</a:t>
            </a:r>
            <a:endParaRPr b="1" i="0" sz="1100" u="none" cap="none" strike="noStrike">
              <a:solidFill>
                <a:schemeClr val="dk1"/>
              </a:solidFill>
              <a:latin typeface="Inter"/>
              <a:ea typeface="Inter"/>
              <a:cs typeface="Inter"/>
              <a:sym typeface="Inter"/>
            </a:endParaRPr>
          </a:p>
          <a:p>
            <a:pPr indent="-342900" lvl="0" marL="342900" marR="0" rtl="0" algn="l">
              <a:lnSpc>
                <a:spcPct val="100000"/>
              </a:lnSpc>
              <a:spcBef>
                <a:spcPts val="0"/>
              </a:spcBef>
              <a:spcAft>
                <a:spcPts val="0"/>
              </a:spcAft>
              <a:buClr>
                <a:schemeClr val="dk1"/>
              </a:buClr>
              <a:buSzPts val="1100"/>
              <a:buFont typeface="Inter"/>
              <a:buChar char="•"/>
            </a:pPr>
            <a:r>
              <a:rPr b="1" lang="en-US" sz="1100">
                <a:solidFill>
                  <a:schemeClr val="dk1"/>
                </a:solidFill>
                <a:latin typeface="Inter"/>
                <a:ea typeface="Inter"/>
                <a:cs typeface="Inter"/>
                <a:sym typeface="Inter"/>
              </a:rPr>
              <a:t xml:space="preserve">Frasers Group — </a:t>
            </a:r>
            <a:r>
              <a:rPr lang="en-US" sz="1100">
                <a:solidFill>
                  <a:schemeClr val="dk1"/>
                </a:solidFill>
                <a:latin typeface="Inter"/>
                <a:ea typeface="Inter"/>
                <a:cs typeface="Inter"/>
                <a:sym typeface="Inter"/>
              </a:rPr>
              <a:t>25% conversion lift vs traditional search</a:t>
            </a:r>
            <a:endParaRPr sz="1100">
              <a:solidFill>
                <a:schemeClr val="dk1"/>
              </a:solidFill>
              <a:latin typeface="Inter"/>
              <a:ea typeface="Inter"/>
              <a:cs typeface="Inter"/>
              <a:sym typeface="Inter"/>
            </a:endParaRP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Myntra</a:t>
            </a:r>
            <a:r>
              <a:rPr b="0" i="0" lang="en-US" sz="1100" u="none" cap="none" strike="noStrike">
                <a:solidFill>
                  <a:srgbClr val="4B5563"/>
                </a:solidFill>
                <a:latin typeface="Inter"/>
                <a:ea typeface="Inter"/>
                <a:cs typeface="Inter"/>
                <a:sym typeface="Inter"/>
              </a:rPr>
              <a:t xml:space="preserve"> (Maya / MyFashionGPT) — u</a:t>
            </a:r>
            <a:r>
              <a:rPr b="1" i="0" lang="en-US" sz="1100" u="none" cap="none" strike="noStrike">
                <a:solidFill>
                  <a:srgbClr val="4B5563"/>
                </a:solidFill>
                <a:latin typeface="Inter"/>
                <a:ea typeface="Inter"/>
                <a:cs typeface="Inter"/>
                <a:sym typeface="Inter"/>
              </a:rPr>
              <a:t xml:space="preserve">sers 3x more likely </a:t>
            </a:r>
            <a:r>
              <a:rPr b="0" i="0" lang="en-US" sz="1100" u="none" cap="none" strike="noStrike">
                <a:solidFill>
                  <a:srgbClr val="4B5563"/>
                </a:solidFill>
                <a:latin typeface="Inter"/>
                <a:ea typeface="Inter"/>
                <a:cs typeface="Inter"/>
                <a:sym typeface="Inter"/>
              </a:rPr>
              <a:t>to purchase through AI assistant.</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Meesho</a:t>
            </a:r>
            <a:r>
              <a:rPr b="0" i="0" lang="en-US" sz="1100" u="none" cap="none" strike="noStrike">
                <a:solidFill>
                  <a:srgbClr val="4B5563"/>
                </a:solidFill>
                <a:latin typeface="Inter"/>
                <a:ea typeface="Inter"/>
                <a:cs typeface="Inter"/>
                <a:sym typeface="Inter"/>
              </a:rPr>
              <a:t xml:space="preserve"> (Vaani) — 1.5M users, </a:t>
            </a:r>
            <a:r>
              <a:rPr b="1" i="0" lang="en-US" sz="1100" u="none" cap="none" strike="noStrike">
                <a:solidFill>
                  <a:srgbClr val="4B5563"/>
                </a:solidFill>
                <a:latin typeface="Inter"/>
                <a:ea typeface="Inter"/>
                <a:cs typeface="Inter"/>
                <a:sym typeface="Inter"/>
              </a:rPr>
              <a:t>22% higher conversion</a:t>
            </a:r>
            <a:r>
              <a:rPr b="0" i="0" lang="en-US" sz="1100" u="none" cap="none" strike="noStrike">
                <a:solidFill>
                  <a:srgbClr val="4B5563"/>
                </a:solidFill>
                <a:latin typeface="Inter"/>
                <a:ea typeface="Inter"/>
                <a:cs typeface="Inter"/>
                <a:sym typeface="Inter"/>
              </a:rPr>
              <a:t>, lower returns</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Aditya Birla Fashion (Pantaloons, Van Heusen, Allen Solly) — evaluating AI-powered search across their portfolio</a:t>
            </a:r>
            <a:endParaRPr b="0" i="0" sz="11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Flipkart, Nykaa, Ajio</a:t>
            </a:r>
            <a:r>
              <a:rPr b="0" i="0" lang="en-US" sz="1100" u="none" cap="none" strike="noStrike">
                <a:solidFill>
                  <a:srgbClr val="4B5563"/>
                </a:solidFill>
                <a:latin typeface="Inter"/>
                <a:ea typeface="Inter"/>
                <a:cs typeface="Inter"/>
                <a:sym typeface="Inter"/>
              </a:rPr>
              <a:t xml:space="preserve"> — actively building or evaluating AI search</a:t>
            </a:r>
            <a:endParaRPr b="0" i="0" sz="1100" u="none" cap="none" strike="noStrike">
              <a:solidFill>
                <a:schemeClr val="dk1"/>
              </a:solidFill>
              <a:latin typeface="Calibri"/>
              <a:ea typeface="Calibri"/>
              <a:cs typeface="Calibri"/>
              <a:sym typeface="Calibri"/>
            </a:endParaRPr>
          </a:p>
        </p:txBody>
      </p:sp>
      <p:sp>
        <p:nvSpPr>
          <p:cNvPr id="50" name="Google Shape;50;p3"/>
          <p:cNvSpPr/>
          <p:nvPr/>
        </p:nvSpPr>
        <p:spPr>
          <a:xfrm>
            <a:off x="685800" y="4290785"/>
            <a:ext cx="7772400" cy="640200"/>
          </a:xfrm>
          <a:prstGeom prst="rect">
            <a:avLst/>
          </a:prstGeom>
          <a:solidFill>
            <a:srgbClr val="EFF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
          <p:cNvSpPr/>
          <p:nvPr/>
        </p:nvSpPr>
        <p:spPr>
          <a:xfrm>
            <a:off x="814750" y="4382275"/>
            <a:ext cx="7510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 xml:space="preserve">Platform shift: </a:t>
            </a:r>
            <a:r>
              <a:rPr b="0" i="0" lang="en-US" sz="1100" u="none" cap="none" strike="noStrike">
                <a:solidFill>
                  <a:srgbClr val="111827"/>
                </a:solidFill>
                <a:latin typeface="Inter"/>
                <a:ea typeface="Inter"/>
                <a:cs typeface="Inter"/>
                <a:sym typeface="Inter"/>
              </a:rPr>
              <a:t>Walmart, Target, Sephora, Nordstrom, Best Buy, Home Depot, Wayfair, Frasers, Sephora, Etsy, Macy’s all have integrated AI shopping assistants on their websites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4"/>
          <p:cNvSpPr txBox="1"/>
          <p:nvPr/>
        </p:nvSpPr>
        <p:spPr>
          <a:xfrm>
            <a:off x="253350" y="129400"/>
            <a:ext cx="8890500" cy="86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111827"/>
                </a:solidFill>
                <a:latin typeface="Inter"/>
                <a:ea typeface="Inter"/>
                <a:cs typeface="Inter"/>
                <a:sym typeface="Inter"/>
              </a:rPr>
              <a:t>The gap in e-comm search today - shoppers think in problems and intents, search engines think in keywords.</a:t>
            </a:r>
            <a:endParaRPr b="0" i="0" sz="2200" u="none" cap="none" strike="noStrike">
              <a:solidFill>
                <a:schemeClr val="dk1"/>
              </a:solidFill>
              <a:latin typeface="Calibri"/>
              <a:ea typeface="Calibri"/>
              <a:cs typeface="Calibri"/>
              <a:sym typeface="Calibri"/>
            </a:endParaRPr>
          </a:p>
        </p:txBody>
      </p:sp>
      <p:sp>
        <p:nvSpPr>
          <p:cNvPr id="58" name="Google Shape;58;p4"/>
          <p:cNvSpPr txBox="1"/>
          <p:nvPr/>
        </p:nvSpPr>
        <p:spPr>
          <a:xfrm>
            <a:off x="217075" y="1052800"/>
            <a:ext cx="8637300" cy="370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The </a:t>
            </a:r>
            <a:r>
              <a:rPr b="1" i="0" lang="en-US" sz="1100" u="none" cap="none" strike="noStrike">
                <a:solidFill>
                  <a:srgbClr val="4B5563"/>
                </a:solidFill>
                <a:latin typeface="Inter"/>
                <a:ea typeface="Inter"/>
                <a:cs typeface="Inter"/>
                <a:sym typeface="Inter"/>
              </a:rPr>
              <a:t>current search bar</a:t>
            </a:r>
            <a:r>
              <a:rPr b="0" i="0" lang="en-US" sz="1100" u="none" cap="none" strike="noStrike">
                <a:solidFill>
                  <a:srgbClr val="4B5563"/>
                </a:solidFill>
                <a:latin typeface="Inter"/>
                <a:ea typeface="Inter"/>
                <a:cs typeface="Inter"/>
                <a:sym typeface="Inter"/>
              </a:rPr>
              <a:t xml:space="preserve"> on your e-commerce website needs the right keywords. It </a:t>
            </a:r>
            <a:r>
              <a:rPr b="1" i="0" lang="en-US" sz="1100" u="none" cap="none" strike="noStrike">
                <a:solidFill>
                  <a:srgbClr val="4B5563"/>
                </a:solidFill>
                <a:latin typeface="Inter"/>
                <a:ea typeface="Inter"/>
                <a:cs typeface="Inter"/>
                <a:sym typeface="Inter"/>
              </a:rPr>
              <a:t>does not understand human language</a:t>
            </a:r>
            <a:r>
              <a:rPr b="0" i="0" lang="en-US" sz="1100" u="none" cap="none" strike="noStrike">
                <a:solidFill>
                  <a:srgbClr val="4B5563"/>
                </a:solidFill>
                <a:latin typeface="Inter"/>
                <a:ea typeface="Inter"/>
                <a:cs typeface="Inter"/>
                <a:sym typeface="Inter"/>
              </a:rPr>
              <a:t>, it cannot match scarf and dupatta, it cannot link “Jaipur in May” to summer and summer to cotton.</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But shoppers today do not shop using keywords such as </a:t>
            </a:r>
            <a:r>
              <a:rPr lang="en-US" sz="1100">
                <a:solidFill>
                  <a:srgbClr val="4B5563"/>
                </a:solidFill>
                <a:latin typeface="Inter"/>
                <a:ea typeface="Inter"/>
                <a:cs typeface="Inter"/>
                <a:sym typeface="Inter"/>
              </a:rPr>
              <a:t xml:space="preserve">“blazer” or </a:t>
            </a:r>
            <a:r>
              <a:rPr b="0" i="0" lang="en-US" sz="1100" u="none" cap="none" strike="noStrike">
                <a:solidFill>
                  <a:srgbClr val="4B5563"/>
                </a:solidFill>
                <a:latin typeface="Inter"/>
                <a:ea typeface="Inter"/>
                <a:cs typeface="Inter"/>
                <a:sym typeface="Inter"/>
              </a:rPr>
              <a:t xml:space="preserve">“light pink lehenga”, </a:t>
            </a:r>
            <a:r>
              <a:rPr b="1" i="0" lang="en-US" sz="1100" u="none" cap="none" strike="noStrike">
                <a:solidFill>
                  <a:srgbClr val="4B5563"/>
                </a:solidFill>
                <a:latin typeface="Inter"/>
                <a:ea typeface="Inter"/>
                <a:cs typeface="Inter"/>
                <a:sym typeface="Inter"/>
              </a:rPr>
              <a:t>they shop by intents</a:t>
            </a:r>
            <a:r>
              <a:rPr b="0" i="0" lang="en-US" sz="1100" u="none" cap="none" strike="noStrike">
                <a:solidFill>
                  <a:srgbClr val="4B5563"/>
                </a:solidFill>
                <a:latin typeface="Inter"/>
                <a:ea typeface="Inter"/>
                <a:cs typeface="Inter"/>
                <a:sym typeface="Inter"/>
              </a:rPr>
              <a:t xml:space="preserve"> such as “for an office party” or “for a wedding in India in May”.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What is happening is, even if your catalog has all the relevant products, these products are invisible to your buyer.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What an AI Sales Associate changes :  “I need an outfit under 20000 for myself, size medium, for my sister’s beach wedding, I like sequins”</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rgbClr val="4B5563"/>
                </a:solidFill>
                <a:latin typeface="Inter"/>
                <a:ea typeface="Inter"/>
                <a:cs typeface="Inter"/>
                <a:sym typeface="Inter"/>
              </a:rPr>
              <a:t>An AI sales associate powered by a knowledge graph understands intent + constraints + context, it maps beach to : pastels/boho, wedding to lehenga/sharara/gown, adds the conditions for sequins and returns relevant products from the catalog - exactly what the shopper means and wants, not just what they typed.</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p:txBody>
      </p:sp>
      <p:pic>
        <p:nvPicPr>
          <p:cNvPr id="59" name="Google Shape;59;p4" title="Screenshot 2026-04-14 at 9.08.05 PM.png"/>
          <p:cNvPicPr preferRelativeResize="0"/>
          <p:nvPr/>
        </p:nvPicPr>
        <p:blipFill rotWithShape="1">
          <a:blip r:embed="rId3">
            <a:alphaModFix/>
          </a:blip>
          <a:srcRect b="0" l="0" r="0" t="0"/>
          <a:stretch/>
        </p:blipFill>
        <p:spPr>
          <a:xfrm>
            <a:off x="2471075" y="2460600"/>
            <a:ext cx="4455051" cy="1031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5"/>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5"/>
          <p:cNvSpPr/>
          <p:nvPr/>
        </p:nvSpPr>
        <p:spPr>
          <a:xfrm>
            <a:off x="488000" y="194225"/>
            <a:ext cx="7860900" cy="59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Why this gap exists — three structural challenges</a:t>
            </a:r>
            <a:endParaRPr b="0" i="0" sz="2200" u="none" cap="none" strike="noStrike">
              <a:solidFill>
                <a:schemeClr val="dk1"/>
              </a:solidFill>
              <a:latin typeface="Calibri"/>
              <a:ea typeface="Calibri"/>
              <a:cs typeface="Calibri"/>
              <a:sym typeface="Calibri"/>
            </a:endParaRPr>
          </a:p>
        </p:txBody>
      </p:sp>
      <p:sp>
        <p:nvSpPr>
          <p:cNvPr id="67" name="Google Shape;67;p5"/>
          <p:cNvSpPr/>
          <p:nvPr/>
        </p:nvSpPr>
        <p:spPr>
          <a:xfrm>
            <a:off x="267050" y="877085"/>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5"/>
          <p:cNvSpPr/>
          <p:nvPr/>
        </p:nvSpPr>
        <p:spPr>
          <a:xfrm>
            <a:off x="267050" y="87708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1</a:t>
            </a:r>
            <a:endParaRPr b="0" i="0" sz="1400" u="none" cap="none" strike="noStrike">
              <a:solidFill>
                <a:schemeClr val="dk1"/>
              </a:solidFill>
              <a:latin typeface="Calibri"/>
              <a:ea typeface="Calibri"/>
              <a:cs typeface="Calibri"/>
              <a:sym typeface="Calibri"/>
            </a:endParaRPr>
          </a:p>
        </p:txBody>
      </p:sp>
      <p:sp>
        <p:nvSpPr>
          <p:cNvPr id="69" name="Google Shape;69;p5"/>
          <p:cNvSpPr/>
          <p:nvPr/>
        </p:nvSpPr>
        <p:spPr>
          <a:xfrm>
            <a:off x="724250" y="867400"/>
            <a:ext cx="77649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Catalogs need tagging and enrichment to be AI agent readable</a:t>
            </a:r>
            <a:endParaRPr b="0" i="0" sz="1600" u="none" cap="none" strike="noStrike">
              <a:solidFill>
                <a:schemeClr val="dk1"/>
              </a:solidFill>
              <a:latin typeface="Calibri"/>
              <a:ea typeface="Calibri"/>
              <a:cs typeface="Calibri"/>
              <a:sym typeface="Calibri"/>
            </a:endParaRPr>
          </a:p>
        </p:txBody>
      </p:sp>
      <p:sp>
        <p:nvSpPr>
          <p:cNvPr id="70" name="Google Shape;70;p5"/>
          <p:cNvSpPr/>
          <p:nvPr/>
        </p:nvSpPr>
        <p:spPr>
          <a:xfrm>
            <a:off x="326250" y="1354925"/>
            <a:ext cx="83424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AI agents waste millions of tokens to understand the actual product in the catalog</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Catalogs today don't expose attributes such as fit/cut and tags such as “summer” or “polka” which an AI agent needs to map intent such as “outfit for 90’s themed bachelorette”  to “polka saree” or “for a Christian wedding” to “non white gown”.</a:t>
            </a:r>
            <a:endParaRPr b="0" i="0" sz="1200" u="none" cap="none" strike="noStrike">
              <a:solidFill>
                <a:schemeClr val="dk1"/>
              </a:solidFill>
              <a:latin typeface="Calibri"/>
              <a:ea typeface="Calibri"/>
              <a:cs typeface="Calibri"/>
              <a:sym typeface="Calibri"/>
            </a:endParaRPr>
          </a:p>
        </p:txBody>
      </p:sp>
      <p:sp>
        <p:nvSpPr>
          <p:cNvPr id="71" name="Google Shape;71;p5"/>
          <p:cNvSpPr/>
          <p:nvPr/>
        </p:nvSpPr>
        <p:spPr>
          <a:xfrm>
            <a:off x="267050" y="2312477"/>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5"/>
          <p:cNvSpPr/>
          <p:nvPr/>
        </p:nvSpPr>
        <p:spPr>
          <a:xfrm>
            <a:off x="267050" y="2396620"/>
            <a:ext cx="320100" cy="126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2</a:t>
            </a:r>
            <a:endParaRPr b="0" i="0" sz="1400" u="none" cap="none" strike="noStrike">
              <a:solidFill>
                <a:schemeClr val="dk1"/>
              </a:solidFill>
              <a:latin typeface="Calibri"/>
              <a:ea typeface="Calibri"/>
              <a:cs typeface="Calibri"/>
              <a:sym typeface="Calibri"/>
            </a:endParaRPr>
          </a:p>
        </p:txBody>
      </p:sp>
      <p:sp>
        <p:nvSpPr>
          <p:cNvPr id="73" name="Google Shape;73;p5"/>
          <p:cNvSpPr/>
          <p:nvPr/>
        </p:nvSpPr>
        <p:spPr>
          <a:xfrm>
            <a:off x="733650" y="2312487"/>
            <a:ext cx="7527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Conversational search needs a knowledge graph to map intent to keywords</a:t>
            </a:r>
            <a:endParaRPr b="0" i="0" sz="1600" u="none" cap="none" strike="noStrike">
              <a:solidFill>
                <a:schemeClr val="dk1"/>
              </a:solidFill>
              <a:latin typeface="Calibri"/>
              <a:ea typeface="Calibri"/>
              <a:cs typeface="Calibri"/>
              <a:sym typeface="Calibri"/>
            </a:endParaRPr>
          </a:p>
        </p:txBody>
      </p:sp>
      <p:sp>
        <p:nvSpPr>
          <p:cNvPr id="74" name="Google Shape;74;p5"/>
          <p:cNvSpPr/>
          <p:nvPr/>
        </p:nvSpPr>
        <p:spPr>
          <a:xfrm>
            <a:off x="369650" y="2712925"/>
            <a:ext cx="8081700" cy="854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Unlike traditional search bars that only cater to keyword matching for direct queries like “red dress” or “16GM RAM”, AI chat assistants need to answer intent based queries like “I want an outfit for my birthday” or “I want a laptop good for Photoshop”. They have to map buyer intent to keywords using a knowledge graph and then search the catalog for relevant products using keywords, refer to the diagram in the next slide for an example</a:t>
            </a:r>
            <a:endParaRPr b="0" i="0" sz="1200" u="none" cap="none" strike="noStrike">
              <a:solidFill>
                <a:schemeClr val="dk1"/>
              </a:solidFill>
              <a:latin typeface="Calibri"/>
              <a:ea typeface="Calibri"/>
              <a:cs typeface="Calibri"/>
              <a:sym typeface="Calibri"/>
            </a:endParaRPr>
          </a:p>
        </p:txBody>
      </p:sp>
      <p:sp>
        <p:nvSpPr>
          <p:cNvPr id="75" name="Google Shape;75;p5"/>
          <p:cNvSpPr/>
          <p:nvPr/>
        </p:nvSpPr>
        <p:spPr>
          <a:xfrm>
            <a:off x="267050" y="3757583"/>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
          <p:cNvSpPr/>
          <p:nvPr/>
        </p:nvSpPr>
        <p:spPr>
          <a:xfrm>
            <a:off x="267050" y="375754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3</a:t>
            </a:r>
            <a:endParaRPr b="0" i="0" sz="1400" u="none" cap="none" strike="noStrike">
              <a:solidFill>
                <a:schemeClr val="dk1"/>
              </a:solidFill>
              <a:latin typeface="Calibri"/>
              <a:ea typeface="Calibri"/>
              <a:cs typeface="Calibri"/>
              <a:sym typeface="Calibri"/>
            </a:endParaRPr>
          </a:p>
        </p:txBody>
      </p:sp>
      <p:sp>
        <p:nvSpPr>
          <p:cNvPr id="77" name="Google Shape;77;p5"/>
          <p:cNvSpPr/>
          <p:nvPr/>
        </p:nvSpPr>
        <p:spPr>
          <a:xfrm>
            <a:off x="724250" y="3757570"/>
            <a:ext cx="6400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LLMs alone can't reason over catalogs to answer human queries</a:t>
            </a:r>
            <a:endParaRPr b="0" i="0" sz="1600" u="none" cap="none" strike="noStrike">
              <a:solidFill>
                <a:schemeClr val="dk1"/>
              </a:solidFill>
              <a:latin typeface="Calibri"/>
              <a:ea typeface="Calibri"/>
              <a:cs typeface="Calibri"/>
              <a:sym typeface="Calibri"/>
            </a:endParaRPr>
          </a:p>
        </p:txBody>
      </p:sp>
      <p:sp>
        <p:nvSpPr>
          <p:cNvPr id="78" name="Google Shape;78;p5"/>
          <p:cNvSpPr/>
          <p:nvPr/>
        </p:nvSpPr>
        <p:spPr>
          <a:xfrm>
            <a:off x="407450" y="4077650"/>
            <a:ext cx="80061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LLMs give generic answers, they have not been trained on proprietary e-commerce data.They also take time to give answers(100ms-2s latency vs sub-20ms graph traversal)</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Knowledge context graph gives LLM the extra data that they need to map intent to keywords like a human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8"/>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254475" y="290775"/>
            <a:ext cx="8793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lang="en-US" sz="2300">
                <a:solidFill>
                  <a:srgbClr val="111827"/>
                </a:solidFill>
                <a:latin typeface="Inter"/>
                <a:ea typeface="Inter"/>
                <a:cs typeface="Inter"/>
                <a:sym typeface="Inter"/>
              </a:rPr>
              <a:t>We ran an audit on the &lt;&gt;website to see what fails today</a:t>
            </a:r>
            <a:endParaRPr b="0" i="0" sz="2300" u="none" cap="none" strike="noStrike">
              <a:solidFill>
                <a:schemeClr val="dk1"/>
              </a:solidFill>
              <a:latin typeface="Calibri"/>
              <a:ea typeface="Calibri"/>
              <a:cs typeface="Calibri"/>
              <a:sym typeface="Calibri"/>
            </a:endParaRPr>
          </a:p>
        </p:txBody>
      </p:sp>
      <p:graphicFrame>
        <p:nvGraphicFramePr>
          <p:cNvPr id="86" name="Google Shape;86;p8"/>
          <p:cNvGraphicFramePr/>
          <p:nvPr/>
        </p:nvGraphicFramePr>
        <p:xfrm>
          <a:off x="254475" y="979872"/>
          <a:ext cx="3000000" cy="3000000"/>
        </p:xfrm>
        <a:graphic>
          <a:graphicData uri="http://schemas.openxmlformats.org/drawingml/2006/table">
            <a:tbl>
              <a:tblPr>
                <a:noFill/>
                <a:tableStyleId>{A667869B-1F53-4C99-AD8D-8728D57326FD}</a:tableStyleId>
              </a:tblPr>
              <a:tblGrid>
                <a:gridCol w="2732400"/>
                <a:gridCol w="1377250"/>
                <a:gridCol w="4525400"/>
              </a:tblGrid>
              <a:tr h="368075">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the shopper searches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Search returns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exists in the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bl>
          </a:graphicData>
        </a:graphic>
      </p:graphicFrame>
      <p:sp>
        <p:nvSpPr>
          <p:cNvPr id="87" name="Google Shape;87;p8"/>
          <p:cNvSpPr/>
          <p:nvPr/>
        </p:nvSpPr>
        <p:spPr>
          <a:xfrm>
            <a:off x="254475" y="4552499"/>
            <a:ext cx="8635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100"/>
              <a:buFont typeface="Inter"/>
              <a:buNone/>
            </a:pPr>
            <a:r>
              <a:rPr b="0" i="1" lang="en-US" sz="1100" u="none" cap="none" strike="noStrike">
                <a:solidFill>
                  <a:schemeClr val="dk1"/>
                </a:solidFill>
                <a:latin typeface="Inter"/>
                <a:ea typeface="Inter"/>
                <a:cs typeface="Inter"/>
                <a:sym typeface="Inter"/>
              </a:rPr>
              <a:t xml:space="preserve">Every query is grounded in Google autocomplete — real shoppers type these. The products exist. The search can't connect the two. </a:t>
            </a:r>
            <a:r>
              <a:rPr i="1" lang="en-US" sz="1100">
                <a:solidFill>
                  <a:schemeClr val="dk1"/>
                </a:solidFill>
                <a:latin typeface="Inter"/>
                <a:ea typeface="Inter"/>
                <a:cs typeface="Inter"/>
                <a:sym typeface="Inter"/>
              </a:rPr>
              <a:t>For a more detailed report see the report attached with the email.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Placeholder 1"/>
          <p:cNvSpPr/>
          <p:nvPr/>
        </p:nvSpPr>
        <p:spPr>
          <a:xfrm>
            <a:off x="0" y="0"/>
            <a:ext cx="4175109" cy="235052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#1</a:t>
            </a:r>
          </a:p>
          <a:p>
            <a:pPr algn="ctr"/>
            <a:r>
              <a:rPr lang="en-US" sz="1100" i="1">
                <a:solidFill>
                  <a:srgbClr val="999999"/>
                </a:solidFill>
                <a:latin typeface="Inter"/>
              </a:rPr>
              <a:t>paste the search-results screenshot for the most egregious failing query here</a:t>
            </a:r>
          </a:p>
        </p:txBody>
      </p:sp>
      <p:sp>
        <p:nvSpPr>
          <p:cNvPr id="94" name="Placeholder 2"/>
          <p:cNvSpPr/>
          <p:nvPr/>
        </p:nvSpPr>
        <p:spPr>
          <a:xfrm>
            <a:off x="4968925" y="5"/>
            <a:ext cx="4175078" cy="2350520"/>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#2</a:t>
            </a:r>
          </a:p>
          <a:p>
            <a:pPr algn="ctr"/>
            <a:r>
              <a:rPr lang="en-US" sz="1100" i="1">
                <a:solidFill>
                  <a:srgbClr val="999999"/>
                </a:solidFill>
                <a:latin typeface="Inter"/>
              </a:rPr>
              <a:t>paste the search-results screenshot for the most egregious failing query here</a:t>
            </a:r>
          </a:p>
        </p:txBody>
      </p:sp>
      <p:sp>
        <p:nvSpPr>
          <p:cNvPr id="95" name="Placeholder 3"/>
          <p:cNvSpPr/>
          <p:nvPr/>
        </p:nvSpPr>
        <p:spPr>
          <a:xfrm>
            <a:off x="0" y="2801079"/>
            <a:ext cx="4175099" cy="235054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#3</a:t>
            </a:r>
          </a:p>
          <a:p>
            <a:pPr algn="ctr"/>
            <a:r>
              <a:rPr lang="en-US" sz="1100" i="1">
                <a:solidFill>
                  <a:srgbClr val="999999"/>
                </a:solidFill>
                <a:latin typeface="Inter"/>
              </a:rPr>
              <a:t>paste the search-results screenshot for the most egregious failing query here</a:t>
            </a:r>
          </a:p>
        </p:txBody>
      </p:sp>
      <p:sp>
        <p:nvSpPr>
          <p:cNvPr id="96" name="Placeholder 4"/>
          <p:cNvSpPr/>
          <p:nvPr/>
        </p:nvSpPr>
        <p:spPr>
          <a:xfrm>
            <a:off x="4968925" y="2801118"/>
            <a:ext cx="4175073" cy="235050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#4</a:t>
            </a:r>
          </a:p>
          <a:p>
            <a:pPr algn="ctr"/>
            <a:r>
              <a:rPr lang="en-US" sz="1100" i="1">
                <a:solidFill>
                  <a:srgbClr val="999999"/>
                </a:solidFill>
                <a:latin typeface="Inter"/>
              </a:rPr>
              <a:t>paste the search-results screenshot for the most egregious failing query here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9"/>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9"/>
          <p:cNvSpPr/>
          <p:nvPr/>
        </p:nvSpPr>
        <p:spPr>
          <a:xfrm>
            <a:off x="685800" y="365750"/>
            <a:ext cx="81552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500" u="none" cap="none" strike="noStrike">
                <a:solidFill>
                  <a:srgbClr val="111827"/>
                </a:solidFill>
                <a:latin typeface="Inter"/>
                <a:ea typeface="Inter"/>
                <a:cs typeface="Inter"/>
                <a:sym typeface="Inter"/>
              </a:rPr>
              <a:t xml:space="preserve">What SuperSearch builds for you </a:t>
            </a:r>
            <a:r>
              <a:rPr b="1" lang="en-US" sz="2500">
                <a:solidFill>
                  <a:srgbClr val="111827"/>
                </a:solidFill>
                <a:latin typeface="Inter"/>
                <a:ea typeface="Inter"/>
                <a:cs typeface="Inter"/>
                <a:sym typeface="Inter"/>
              </a:rPr>
              <a:t>- current offerings</a:t>
            </a:r>
            <a:endParaRPr b="0" i="0" sz="2500" u="none" cap="none" strike="noStrike">
              <a:solidFill>
                <a:schemeClr val="dk1"/>
              </a:solidFill>
              <a:latin typeface="Calibri"/>
              <a:ea typeface="Calibri"/>
              <a:cs typeface="Calibri"/>
              <a:sym typeface="Calibri"/>
            </a:endParaRPr>
          </a:p>
        </p:txBody>
      </p:sp>
      <p:sp>
        <p:nvSpPr>
          <p:cNvPr id="112" name="Google Shape;112;p9"/>
          <p:cNvSpPr/>
          <p:nvPr/>
        </p:nvSpPr>
        <p:spPr>
          <a:xfrm>
            <a:off x="685800" y="1097280"/>
            <a:ext cx="54864" cy="105156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9"/>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AI Sales Associate on your website that guides buyers to the right purchase</a:t>
            </a:r>
            <a:endParaRPr b="0" i="0" sz="1600" u="none" cap="none" strike="noStrike">
              <a:solidFill>
                <a:schemeClr val="dk1"/>
              </a:solidFill>
              <a:latin typeface="Calibri"/>
              <a:ea typeface="Calibri"/>
              <a:cs typeface="Calibri"/>
              <a:sym typeface="Calibri"/>
            </a:endParaRPr>
          </a:p>
        </p:txBody>
      </p:sp>
      <p:sp>
        <p:nvSpPr>
          <p:cNvPr id="114" name="Google Shape;114;p9"/>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Acts as a digital sales associate — asks the right questions, understands what the buyer actually needs, and guides them to the right product</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Drives revenue, not just answers — every conversation is a guided selling opportunity that converts browsers into buyers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intent based queries such as “outfit for Ladakh trip”, “plan my meals” handled just like in ChatGPT and Amazon Rufus, guiding buyers to a purchase just like your best in-store sales associate would.</a:t>
            </a:r>
            <a:endParaRPr b="0" i="0" sz="1300" u="none" cap="none" strike="noStrike">
              <a:solidFill>
                <a:schemeClr val="dk1"/>
              </a:solidFill>
              <a:latin typeface="Calibri"/>
              <a:ea typeface="Calibri"/>
              <a:cs typeface="Calibri"/>
              <a:sym typeface="Calibri"/>
            </a:endParaRPr>
          </a:p>
        </p:txBody>
      </p:sp>
      <p:sp>
        <p:nvSpPr>
          <p:cNvPr id="115" name="Google Shape;115;p9"/>
          <p:cNvSpPr/>
          <p:nvPr/>
        </p:nvSpPr>
        <p:spPr>
          <a:xfrm>
            <a:off x="685800" y="2377440"/>
            <a:ext cx="54864" cy="105156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9"/>
          <p:cNvSpPr/>
          <p:nvPr/>
        </p:nvSpPr>
        <p:spPr>
          <a:xfrm>
            <a:off x="914400" y="237744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 Tagging + Enrichment</a:t>
            </a:r>
            <a:endParaRPr b="0" i="0" sz="1600" u="none" cap="none" strike="noStrike">
              <a:solidFill>
                <a:schemeClr val="dk1"/>
              </a:solidFill>
              <a:latin typeface="Calibri"/>
              <a:ea typeface="Calibri"/>
              <a:cs typeface="Calibri"/>
              <a:sym typeface="Calibri"/>
            </a:endParaRPr>
          </a:p>
        </p:txBody>
      </p:sp>
      <p:sp>
        <p:nvSpPr>
          <p:cNvPr id="117" name="Google Shape;117;p9"/>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merchant catalogs synced to unified schema that AI agents can read with no token wastage</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Synonyms, spell check, use-case tagging, intent mapping, attribute enrichment across your catalog</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AI agents can directly search the catalog to answer user queries</a:t>
            </a:r>
            <a:endParaRPr b="0" i="0" sz="1300" u="none" cap="none" strike="noStrike">
              <a:solidFill>
                <a:schemeClr val="dk1"/>
              </a:solidFill>
              <a:latin typeface="Calibri"/>
              <a:ea typeface="Calibri"/>
              <a:cs typeface="Calibri"/>
              <a:sym typeface="Calibri"/>
            </a:endParaRPr>
          </a:p>
        </p:txBody>
      </p:sp>
      <p:sp>
        <p:nvSpPr>
          <p:cNvPr id="118" name="Google Shape;118;p9"/>
          <p:cNvSpPr/>
          <p:nvPr/>
        </p:nvSpPr>
        <p:spPr>
          <a:xfrm>
            <a:off x="685800" y="3657600"/>
            <a:ext cx="54864" cy="105156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9"/>
          <p:cNvSpPr/>
          <p:nvPr/>
        </p:nvSpPr>
        <p:spPr>
          <a:xfrm>
            <a:off x="914400" y="365760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Intent-Aware Knowledge Graph</a:t>
            </a:r>
            <a:endParaRPr b="0" i="0" sz="1600" u="none" cap="none" strike="noStrike">
              <a:solidFill>
                <a:schemeClr val="dk1"/>
              </a:solidFill>
              <a:latin typeface="Calibri"/>
              <a:ea typeface="Calibri"/>
              <a:cs typeface="Calibri"/>
              <a:sym typeface="Calibri"/>
            </a:endParaRPr>
          </a:p>
        </p:txBody>
      </p:sp>
      <p:sp>
        <p:nvSpPr>
          <p:cNvPr id="120" name="Google Shape;120;p9"/>
          <p:cNvSpPr/>
          <p:nvPr/>
        </p:nvSpPr>
        <p:spPr>
          <a:xfrm>
            <a:off x="914400" y="4087375"/>
            <a:ext cx="8155200" cy="749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Maps user intent to keywords in PDP’s without spending millions of dollars in LLM tokens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Sub-20ms graph traversal vs 100ms-2s for LLM inference</a:t>
            </a:r>
            <a:r>
              <a:rPr b="0" i="0" lang="en-US" sz="1300" u="none" cap="none" strike="noStrike">
                <a:solidFill>
                  <a:schemeClr val="dk1"/>
                </a:solidFill>
                <a:latin typeface="Calibri"/>
                <a:ea typeface="Calibri"/>
                <a:cs typeface="Calibri"/>
                <a:sym typeface="Calibri"/>
              </a:rPr>
              <a:t>, w</a:t>
            </a:r>
            <a:r>
              <a:rPr b="0" i="0" lang="en-US" sz="1300" u="none" cap="none" strike="noStrike">
                <a:solidFill>
                  <a:srgbClr val="4B5563"/>
                </a:solidFill>
                <a:latin typeface="Inter"/>
                <a:ea typeface="Inter"/>
                <a:cs typeface="Inter"/>
                <a:sym typeface="Inter"/>
              </a:rPr>
              <a:t>orks for 5K-50K+ SKU catalogs</a:t>
            </a:r>
            <a:endParaRPr b="0" i="0" sz="13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Enables AI shopping assistant to answer all intent/event/activity based queries asked by a buyer facilitating a truly realistic online shopping experience and boosting conversion</a:t>
            </a:r>
            <a:endParaRPr b="0" i="0" sz="1300" u="none" cap="none" strike="noStrike">
              <a:solidFill>
                <a:srgbClr val="4B5563"/>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d836f29ee0_0_17"/>
          <p:cNvSpPr txBox="1"/>
          <p:nvPr/>
        </p:nvSpPr>
        <p:spPr>
          <a:xfrm>
            <a:off x="410725" y="260850"/>
            <a:ext cx="8475600" cy="7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t>The future of e-commerce - shopping assistants, virtual try-on, multilingual queries and discovery through apps on LLM platforms.</a:t>
            </a:r>
            <a:endParaRPr b="1" sz="2000"/>
          </a:p>
        </p:txBody>
      </p:sp>
      <p:sp>
        <p:nvSpPr>
          <p:cNvPr id="127" name="Google Shape;127;g3d836f29ee0_0_17"/>
          <p:cNvSpPr txBox="1"/>
          <p:nvPr/>
        </p:nvSpPr>
        <p:spPr>
          <a:xfrm>
            <a:off x="345025" y="1274475"/>
            <a:ext cx="8238300" cy="342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 xml:space="preserve">Buyers today are increasingly looking for virtual try-on to make more informed </a:t>
            </a:r>
            <a:r>
              <a:rPr lang="en-US"/>
              <a:t>decisions</a:t>
            </a: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More and more numbers of queries are being asked in multilingual languages as e-commerce spreads to tier 2 and 3 cities.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 xml:space="preserve">40% of shoppers now start their discovery journey on some AI chat agent </a:t>
            </a:r>
            <a:r>
              <a:rPr lang="en-US"/>
              <a:t xml:space="preserve">such as Gemini/ChatGPT/Perplexity.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reaching a brand’s website, buyers first discover brand</a:t>
            </a:r>
            <a:r>
              <a:rPr lang="en-US"/>
              <a:t>s</a:t>
            </a:r>
            <a:r>
              <a:rPr lang="en-US"/>
              <a:t xml:space="preserve"> through LLMs. While AEO/GEO ensures that a brand comes up in the LLM’s suggestions, that is just the first part. Brands have to also ensure that buyers can </a:t>
            </a:r>
            <a:r>
              <a:rPr lang="en-US"/>
              <a:t>interact</a:t>
            </a:r>
            <a:r>
              <a:rPr lang="en-US"/>
              <a:t xml:space="preserve"> </a:t>
            </a:r>
            <a:r>
              <a:rPr lang="en-US"/>
              <a:t>with</a:t>
            </a:r>
            <a:r>
              <a:rPr lang="en-US"/>
              <a:t xml:space="preserve"> their catalogs within the LLM chat interface itself so they come to their website and buy.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ml:space="preserve">As a result </a:t>
            </a:r>
            <a:r>
              <a:rPr b="1" lang="en-US"/>
              <a:t>Walmart, Sephora, Instacart, Doordash</a:t>
            </a:r>
            <a:r>
              <a:rPr lang="en-US"/>
              <a:t xml:space="preserve"> have already created apps on top of ChatGPT to capture buyers upfront.</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g3d836f29ee0_0_0"/>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d836f29ee0_0_0"/>
          <p:cNvSpPr/>
          <p:nvPr/>
        </p:nvSpPr>
        <p:spPr>
          <a:xfrm>
            <a:off x="685800" y="365750"/>
            <a:ext cx="83082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i="0" lang="en-US" sz="2400" u="none" cap="none" strike="noStrike">
                <a:solidFill>
                  <a:srgbClr val="111827"/>
                </a:solidFill>
                <a:latin typeface="Inter"/>
                <a:ea typeface="Inter"/>
                <a:cs typeface="Inter"/>
                <a:sym typeface="Inter"/>
              </a:rPr>
              <a:t xml:space="preserve">What SuperSearch builds for you - </a:t>
            </a:r>
            <a:r>
              <a:rPr b="1" lang="en-US" sz="2400">
                <a:solidFill>
                  <a:srgbClr val="111827"/>
                </a:solidFill>
                <a:latin typeface="Inter"/>
                <a:ea typeface="Inter"/>
                <a:cs typeface="Inter"/>
                <a:sym typeface="Inter"/>
              </a:rPr>
              <a:t>upcoming offerings</a:t>
            </a:r>
            <a:endParaRPr b="0" i="0" sz="2400" u="none" cap="none" strike="noStrike">
              <a:solidFill>
                <a:schemeClr val="dk1"/>
              </a:solidFill>
              <a:latin typeface="Calibri"/>
              <a:ea typeface="Calibri"/>
              <a:cs typeface="Calibri"/>
              <a:sym typeface="Calibri"/>
            </a:endParaRPr>
          </a:p>
        </p:txBody>
      </p:sp>
      <p:sp>
        <p:nvSpPr>
          <p:cNvPr id="135" name="Google Shape;135;g3d836f29ee0_0_0"/>
          <p:cNvSpPr/>
          <p:nvPr/>
        </p:nvSpPr>
        <p:spPr>
          <a:xfrm>
            <a:off x="685800" y="1097280"/>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d836f29ee0_0_0"/>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Virtual Try On</a:t>
            </a:r>
            <a:endParaRPr b="0" i="0" sz="1600" u="none" cap="none" strike="noStrike">
              <a:solidFill>
                <a:schemeClr val="dk1"/>
              </a:solidFill>
              <a:latin typeface="Calibri"/>
              <a:ea typeface="Calibri"/>
              <a:cs typeface="Calibri"/>
              <a:sym typeface="Calibri"/>
            </a:endParaRPr>
          </a:p>
        </p:txBody>
      </p:sp>
      <p:sp>
        <p:nvSpPr>
          <p:cNvPr id="137" name="Google Shape;137;g3d836f29ee0_0_0"/>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Enable buyers to see how various sizes and styles look on them before buying reducing return rate.</a:t>
            </a:r>
            <a:endParaRPr sz="1300">
              <a:solidFill>
                <a:srgbClr val="4B5563"/>
              </a:solidFill>
              <a:latin typeface="Inter"/>
              <a:ea typeface="Inter"/>
              <a:cs typeface="Inter"/>
              <a:sym typeface="Inter"/>
            </a:endParaRPr>
          </a:p>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Some companies have seen return rates go down by 40%.</a:t>
            </a:r>
            <a:endParaRPr sz="1300">
              <a:solidFill>
                <a:srgbClr val="4B5563"/>
              </a:solidFill>
              <a:latin typeface="Inter"/>
              <a:ea typeface="Inter"/>
              <a:cs typeface="Inter"/>
              <a:sym typeface="Inter"/>
            </a:endParaRPr>
          </a:p>
        </p:txBody>
      </p:sp>
      <p:sp>
        <p:nvSpPr>
          <p:cNvPr id="138" name="Google Shape;138;g3d836f29ee0_0_0"/>
          <p:cNvSpPr/>
          <p:nvPr/>
        </p:nvSpPr>
        <p:spPr>
          <a:xfrm>
            <a:off x="685800" y="2377440"/>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d836f29ee0_0_0"/>
          <p:cNvSpPr/>
          <p:nvPr/>
        </p:nvSpPr>
        <p:spPr>
          <a:xfrm>
            <a:off x="914400" y="2377440"/>
            <a:ext cx="7315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Multilingual queries</a:t>
            </a:r>
            <a:endParaRPr b="0" i="0" sz="1600" u="none" cap="none" strike="noStrike">
              <a:solidFill>
                <a:schemeClr val="dk1"/>
              </a:solidFill>
              <a:latin typeface="Calibri"/>
              <a:ea typeface="Calibri"/>
              <a:cs typeface="Calibri"/>
              <a:sym typeface="Calibri"/>
            </a:endParaRPr>
          </a:p>
        </p:txBody>
      </p:sp>
      <p:sp>
        <p:nvSpPr>
          <p:cNvPr id="140" name="Google Shape;140;g3d836f29ee0_0_0"/>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Enable buyers to use regional languages to search magnifying your customer base.</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Most regional brands get a huge quota of queries that use the local language and miss out.</a:t>
            </a:r>
            <a:endParaRPr sz="1300">
              <a:solidFill>
                <a:srgbClr val="4B5563"/>
              </a:solidFill>
              <a:latin typeface="Inter"/>
              <a:ea typeface="Inter"/>
              <a:cs typeface="Inter"/>
              <a:sym typeface="Inter"/>
            </a:endParaRPr>
          </a:p>
        </p:txBody>
      </p:sp>
      <p:sp>
        <p:nvSpPr>
          <p:cNvPr id="141" name="Google Shape;141;g3d836f29ee0_0_0"/>
          <p:cNvSpPr/>
          <p:nvPr/>
        </p:nvSpPr>
        <p:spPr>
          <a:xfrm>
            <a:off x="685800" y="3657600"/>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d836f29ee0_0_0"/>
          <p:cNvSpPr/>
          <p:nvPr/>
        </p:nvSpPr>
        <p:spPr>
          <a:xfrm>
            <a:off x="914400" y="3783675"/>
            <a:ext cx="7315200" cy="16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App Storefront on ChatGPT</a:t>
            </a:r>
            <a:endParaRPr b="1" sz="1600">
              <a:solidFill>
                <a:srgbClr val="111827"/>
              </a:solidFill>
              <a:latin typeface="Inter"/>
              <a:ea typeface="Inter"/>
              <a:cs typeface="Inter"/>
              <a:sym typeface="Inter"/>
            </a:endParaRPr>
          </a:p>
          <a:p>
            <a:pPr indent="0" lvl="0" marL="0" marR="0" rtl="0" algn="l">
              <a:spcBef>
                <a:spcPts val="0"/>
              </a:spcBef>
              <a:spcAft>
                <a:spcPts val="0"/>
              </a:spcAft>
              <a:buClr>
                <a:srgbClr val="111827"/>
              </a:buClr>
              <a:buSzPts val="1600"/>
              <a:buFont typeface="Inter"/>
              <a:buNone/>
            </a:pPr>
            <a:r>
              <a:t/>
            </a:r>
            <a:endParaRPr b="1" sz="1600">
              <a:solidFill>
                <a:srgbClr val="111827"/>
              </a:solidFill>
              <a:latin typeface="Inter"/>
              <a:ea typeface="Inter"/>
              <a:cs typeface="Inter"/>
              <a:sym typeface="Inter"/>
            </a:endParaRPr>
          </a:p>
        </p:txBody>
      </p:sp>
      <p:sp>
        <p:nvSpPr>
          <p:cNvPr id="143" name="Google Shape;143;g3d836f29ee0_0_0"/>
          <p:cNvSpPr/>
          <p:nvPr/>
        </p:nvSpPr>
        <p:spPr>
          <a:xfrm>
            <a:off x="914400" y="3905525"/>
            <a:ext cx="8155200" cy="9315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40% of shoppers now start their buying journey on AI platforms.</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Your brand’s AI-native storefront surfaces inside the AI conversation. Your brand’s recommendations appear with product imagery, descriptions, and lifestyle content.</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Works Across Every AI Platform. Not Just One.</a:t>
            </a:r>
            <a:endParaRPr sz="1300">
              <a:solidFill>
                <a:srgbClr val="4B5563"/>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nvSpPr>
        <p:spPr>
          <a:xfrm>
            <a:off x="378375" y="239300"/>
            <a:ext cx="8572500" cy="42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Examples of queries with intent being mapped to keywords using knowledge context graph</a:t>
            </a:r>
            <a:endParaRPr b="1" i="0" sz="1500" u="none" cap="none" strike="noStrike">
              <a:solidFill>
                <a:srgbClr val="000000"/>
              </a:solidFill>
              <a:latin typeface="Arial"/>
              <a:ea typeface="Arial"/>
              <a:cs typeface="Arial"/>
              <a:sym typeface="Arial"/>
            </a:endParaRPr>
          </a:p>
        </p:txBody>
      </p:sp>
      <p:pic>
        <p:nvPicPr>
          <p:cNvPr id="150" name="Google Shape;150;p11" title="Screenshot 2026-04-20 at 12.45.30 PM.png"/>
          <p:cNvPicPr preferRelativeResize="0"/>
          <p:nvPr/>
        </p:nvPicPr>
        <p:blipFill rotWithShape="1">
          <a:blip r:embed="rId3">
            <a:alphaModFix/>
          </a:blip>
          <a:srcRect b="0" l="0" r="0" t="0"/>
          <a:stretch/>
        </p:blipFill>
        <p:spPr>
          <a:xfrm>
            <a:off x="152400" y="812300"/>
            <a:ext cx="8839197" cy="408039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2"/>
          <p:cNvSpPr/>
          <p:nvPr/>
        </p:nvSpPr>
        <p:spPr>
          <a:xfrm>
            <a:off x="308950" y="177335"/>
            <a:ext cx="77724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Your AI sales associate doesn't just search — it sells</a:t>
            </a:r>
            <a:endParaRPr b="0" i="0" sz="2300" u="none" cap="none" strike="noStrike">
              <a:solidFill>
                <a:schemeClr val="dk1"/>
              </a:solidFill>
              <a:latin typeface="Calibri"/>
              <a:ea typeface="Calibri"/>
              <a:cs typeface="Calibri"/>
              <a:sym typeface="Calibri"/>
            </a:endParaRPr>
          </a:p>
        </p:txBody>
      </p:sp>
      <p:sp>
        <p:nvSpPr>
          <p:cNvPr id="157" name="Google Shape;157;p12"/>
          <p:cNvSpPr/>
          <p:nvPr/>
        </p:nvSpPr>
        <p:spPr>
          <a:xfrm>
            <a:off x="308950" y="908855"/>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58" name="Google Shape;158;p12"/>
          <p:cNvSpPr/>
          <p:nvPr/>
        </p:nvSpPr>
        <p:spPr>
          <a:xfrm>
            <a:off x="537550" y="867701"/>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Guided discovery → conversion lift</a:t>
            </a:r>
            <a:endParaRPr b="0" i="0" u="none" cap="none" strike="noStrike">
              <a:solidFill>
                <a:schemeClr val="dk1"/>
              </a:solidFill>
              <a:latin typeface="Calibri"/>
              <a:ea typeface="Calibri"/>
              <a:cs typeface="Calibri"/>
              <a:sym typeface="Calibri"/>
            </a:endParaRPr>
          </a:p>
        </p:txBody>
      </p:sp>
      <p:sp>
        <p:nvSpPr>
          <p:cNvPr id="159" name="Google Shape;159;p12"/>
          <p:cNvSpPr/>
          <p:nvPr/>
        </p:nvSpPr>
        <p:spPr>
          <a:xfrm>
            <a:off x="537550" y="1302150"/>
            <a:ext cx="7896300" cy="5943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Like your best sales associate, it clarifies intent instead of dumping a catalog — asks the right follow-up questions (occasion, budget, use-case, size/fit) before suggesting anything.</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4x conversion uplift for conversational vs keyword — 12.3% vs 3.1% (Rep AI 2025 Ecommerce Shopper Behavior Report).</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Zalando's AI assistant rollout tied to 18% YoY profitability lift — proof the impact shows up in the P&amp;L.</a:t>
            </a:r>
            <a:endParaRPr b="0" i="0" sz="1100" u="none" cap="none" strike="noStrike">
              <a:solidFill>
                <a:schemeClr val="dk1"/>
              </a:solidFill>
              <a:latin typeface="Calibri"/>
              <a:ea typeface="Calibri"/>
              <a:cs typeface="Calibri"/>
              <a:sym typeface="Calibri"/>
            </a:endParaRPr>
          </a:p>
        </p:txBody>
      </p:sp>
      <p:sp>
        <p:nvSpPr>
          <p:cNvPr id="160" name="Google Shape;160;p12"/>
          <p:cNvSpPr/>
          <p:nvPr/>
        </p:nvSpPr>
        <p:spPr>
          <a:xfrm>
            <a:off x="308950" y="2189015"/>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1" name="Google Shape;161;p12"/>
          <p:cNvSpPr/>
          <p:nvPr/>
        </p:nvSpPr>
        <p:spPr>
          <a:xfrm>
            <a:off x="537550" y="218901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Stylist-grade cross-sell → AOV lift</a:t>
            </a:r>
            <a:endParaRPr b="0" i="0" u="none" cap="none" strike="noStrike">
              <a:solidFill>
                <a:schemeClr val="dk1"/>
              </a:solidFill>
              <a:latin typeface="Calibri"/>
              <a:ea typeface="Calibri"/>
              <a:cs typeface="Calibri"/>
              <a:sym typeface="Calibri"/>
            </a:endParaRPr>
          </a:p>
        </p:txBody>
      </p:sp>
      <p:sp>
        <p:nvSpPr>
          <p:cNvPr id="162" name="Google Shape;162;p12"/>
          <p:cNvSpPr/>
          <p:nvPr/>
        </p:nvSpPr>
        <p:spPr>
          <a:xfrm>
            <a:off x="537550" y="2536475"/>
            <a:ext cx="8229600" cy="6402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Assistant knows what pairs with what — matching accessories, complementary items, a complete look instead of a single SKU.</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Single-item sessions become full outfits — every add-to-cart becomes an opening for a second, third, fourth item.</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Nosto: when search works, 78% of shoppers also buy an additional item — the assistant is the conversion engine for that second buy.</a:t>
            </a:r>
            <a:endParaRPr b="0" i="0" sz="1100" u="none" cap="none" strike="noStrike">
              <a:solidFill>
                <a:schemeClr val="dk1"/>
              </a:solidFill>
              <a:latin typeface="Calibri"/>
              <a:ea typeface="Calibri"/>
              <a:cs typeface="Calibri"/>
              <a:sym typeface="Calibri"/>
            </a:endParaRPr>
          </a:p>
        </p:txBody>
      </p:sp>
      <p:sp>
        <p:nvSpPr>
          <p:cNvPr id="163" name="Google Shape;163;p12"/>
          <p:cNvSpPr/>
          <p:nvPr/>
        </p:nvSpPr>
        <p:spPr>
          <a:xfrm>
            <a:off x="308950" y="3469175"/>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4" name="Google Shape;164;p12"/>
          <p:cNvSpPr/>
          <p:nvPr/>
        </p:nvSpPr>
        <p:spPr>
          <a:xfrm>
            <a:off x="537550" y="346917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Intent rescue → keep shoppers on site</a:t>
            </a:r>
            <a:endParaRPr b="0" i="0" u="none" cap="none" strike="noStrike">
              <a:solidFill>
                <a:schemeClr val="dk1"/>
              </a:solidFill>
              <a:latin typeface="Calibri"/>
              <a:ea typeface="Calibri"/>
              <a:cs typeface="Calibri"/>
              <a:sym typeface="Calibri"/>
            </a:endParaRPr>
          </a:p>
        </p:txBody>
      </p:sp>
      <p:sp>
        <p:nvSpPr>
          <p:cNvPr id="165" name="Google Shape;165;p12"/>
          <p:cNvSpPr/>
          <p:nvPr/>
        </p:nvSpPr>
        <p:spPr>
          <a:xfrm>
            <a:off x="537550" y="3898950"/>
            <a:ext cx="8155200" cy="7497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Vague, intent-shaped queries become a curated shortlist instead of thousands of random results.</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80% of shoppers leave a site due to poor search — the assistant plugs that leak before the session bounces (Nosto).</a:t>
            </a:r>
            <a:endParaRPr b="0" i="0" sz="1100" u="none" cap="none" strike="noStrike">
              <a:solidFill>
                <a:srgbClr val="4B5563"/>
              </a:solidFill>
              <a:latin typeface="Inter"/>
              <a:ea typeface="Inter"/>
              <a:cs typeface="Inter"/>
              <a:sym typeface="Inter"/>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Myntra's MyFashionGPT: users 3x more likely to purchase through the assistant than through keyword search.</a:t>
            </a:r>
            <a:endParaRPr b="0" i="0" sz="1100" u="none" cap="none" strike="noStrike">
              <a:solidFill>
                <a:srgbClr val="4B5563"/>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3"/>
          <p:cNvSpPr/>
          <p:nvPr/>
        </p:nvSpPr>
        <p:spPr>
          <a:xfrm>
            <a:off x="685800" y="365760"/>
            <a:ext cx="77724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800" u="none" cap="none" strike="noStrike">
                <a:solidFill>
                  <a:srgbClr val="111827"/>
                </a:solidFill>
                <a:latin typeface="Inter"/>
                <a:ea typeface="Inter"/>
                <a:cs typeface="Inter"/>
                <a:sym typeface="Inter"/>
              </a:rPr>
              <a:t>How SuperSearch is different</a:t>
            </a:r>
            <a:endParaRPr b="0" i="0" sz="2800" u="none" cap="none" strike="noStrike">
              <a:solidFill>
                <a:schemeClr val="dk1"/>
              </a:solidFill>
              <a:latin typeface="Calibri"/>
              <a:ea typeface="Calibri"/>
              <a:cs typeface="Calibri"/>
              <a:sym typeface="Calibri"/>
            </a:endParaRPr>
          </a:p>
        </p:txBody>
      </p:sp>
      <p:graphicFrame>
        <p:nvGraphicFramePr>
          <p:cNvPr id="173" name="Google Shape;173;p13"/>
          <p:cNvGraphicFramePr/>
          <p:nvPr/>
        </p:nvGraphicFramePr>
        <p:xfrm>
          <a:off x="685800" y="1097280"/>
          <a:ext cx="3000000" cy="3000000"/>
        </p:xfrm>
        <a:graphic>
          <a:graphicData uri="http://schemas.openxmlformats.org/drawingml/2006/table">
            <a:tbl>
              <a:tblPr>
                <a:noFill/>
                <a:tableStyleId>{A667869B-1F53-4C99-AD8D-8728D57326FD}</a:tableStyleId>
              </a:tblPr>
              <a:tblGrid>
                <a:gridCol w="2011675"/>
                <a:gridCol w="1828800"/>
                <a:gridCol w="1920250"/>
                <a:gridCol w="2011675"/>
              </a:tblGrid>
              <a:tr h="365750">
                <a:tc>
                  <a:txBody>
                    <a:bodyPr/>
                    <a:lstStyle/>
                    <a:p>
                      <a:pPr indent="0" lvl="0" marL="0" marR="0" rtl="0" algn="l">
                        <a:lnSpc>
                          <a:spcPct val="100000"/>
                        </a:lnSpc>
                        <a:spcBef>
                          <a:spcPts val="0"/>
                        </a:spcBef>
                        <a:spcAft>
                          <a:spcPts val="0"/>
                        </a:spcAft>
                        <a:buClr>
                          <a:schemeClr val="dk1"/>
                        </a:buClr>
                        <a:buSzPts val="1000"/>
                        <a:buFont typeface="Calibri"/>
                        <a:buNone/>
                      </a:pPr>
                      <a:r>
                        <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Keyword Search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Pure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SuperSearch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(Graph +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Simple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blue shirt, white dress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Synonym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crossbody bag/sling bag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synonym bridging)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May work</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(depends on training data)</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via</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vocabulary graph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Occasion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outfit for karwachaut</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intent mapping)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suggestions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catalog-aware)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Maps to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products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Conversational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I have an office trip to London</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designed for this)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answers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your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Returns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inventory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Cost at scale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11827"/>
                        </a:buClr>
                        <a:buSzPts val="1000"/>
                        <a:buFont typeface="Inter"/>
                        <a:buNone/>
                      </a:pPr>
                      <a:r>
                        <a:rPr lang="en-US" sz="1000" u="none" cap="none" strike="noStrike">
                          <a:solidFill>
                            <a:srgbClr val="111827"/>
                          </a:solidFill>
                          <a:latin typeface="Inter"/>
                          <a:ea typeface="Inter"/>
                          <a:cs typeface="Inter"/>
                          <a:sym typeface="Inter"/>
                        </a:rPr>
                        <a:t>Low</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High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(LLM call per query)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Low</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(LLM only for edge cases)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Multi-attribute queries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(red, sleeveless, v-neck, medium dress under 4000)</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Accuracy degrades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Prone to</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hallucinations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Much more accurate</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than standard RAG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4"/>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4"/>
          <p:cNvSpPr/>
          <p:nvPr/>
        </p:nvSpPr>
        <p:spPr>
          <a:xfrm>
            <a:off x="685800" y="658330"/>
            <a:ext cx="77724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600"/>
              <a:buFont typeface="Inter"/>
              <a:buNone/>
            </a:pPr>
            <a:r>
              <a:rPr b="1" i="0" lang="en-US" sz="3600" u="none" cap="none" strike="noStrike">
                <a:solidFill>
                  <a:srgbClr val="111827"/>
                </a:solidFill>
                <a:latin typeface="Inter"/>
                <a:ea typeface="Inter"/>
                <a:cs typeface="Inter"/>
                <a:sym typeface="Inter"/>
              </a:rPr>
              <a:t>Let's close the gap.</a:t>
            </a:r>
            <a:endParaRPr b="0" i="0" sz="3600" u="none" cap="none" strike="noStrike">
              <a:solidFill>
                <a:schemeClr val="dk1"/>
              </a:solidFill>
              <a:latin typeface="Calibri"/>
              <a:ea typeface="Calibri"/>
              <a:cs typeface="Calibri"/>
              <a:sym typeface="Calibri"/>
            </a:endParaRPr>
          </a:p>
        </p:txBody>
      </p:sp>
      <p:sp>
        <p:nvSpPr>
          <p:cNvPr id="181" name="Google Shape;181;p14"/>
          <p:cNvSpPr/>
          <p:nvPr/>
        </p:nvSpPr>
        <p:spPr>
          <a:xfrm>
            <a:off x="685800" y="1920250"/>
            <a:ext cx="7553400" cy="178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We can run a full 500-query audit on your site in under a week and show you exactly where you are losing crores in revenue.</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Every query grounded in Google autocomplete. Every result verified against your actual catalog.</a:t>
            </a:r>
            <a:r>
              <a:rPr b="0" i="0" lang="en-US" sz="1500" u="none" cap="none" strike="noStrike">
                <a:solidFill>
                  <a:schemeClr val="dk1"/>
                </a:solidFill>
                <a:latin typeface="Calibri"/>
                <a:ea typeface="Calibri"/>
                <a:cs typeface="Calibri"/>
                <a:sym typeface="Calibri"/>
              </a:rPr>
              <a:t xml:space="preserve"> </a:t>
            </a:r>
            <a:r>
              <a:rPr b="0" i="0" lang="en-US" sz="1500" u="none" cap="none" strike="noStrike">
                <a:solidFill>
                  <a:srgbClr val="4B5563"/>
                </a:solidFill>
                <a:latin typeface="Inter"/>
                <a:ea typeface="Inter"/>
                <a:cs typeface="Inter"/>
                <a:sym typeface="Inter"/>
              </a:rPr>
              <a:t>We have pasted some of the results we obtained from a smaller audit on your website slide 6.</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 xml:space="preserve">We can fix your search and upgrade your website from keyword based search bar to intent based AI assistant. </a:t>
            </a: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500" u="none" cap="none" strike="noStrike">
              <a:solidFill>
                <a:schemeClr val="dk1"/>
              </a:solidFill>
              <a:latin typeface="Calibri"/>
              <a:ea typeface="Calibri"/>
              <a:cs typeface="Calibri"/>
              <a:sym typeface="Calibri"/>
            </a:endParaRPr>
          </a:p>
        </p:txBody>
      </p:sp>
      <p:sp>
        <p:nvSpPr>
          <p:cNvPr id="182" name="Google Shape;182;p14"/>
          <p:cNvSpPr/>
          <p:nvPr/>
        </p:nvSpPr>
        <p:spPr>
          <a:xfrm>
            <a:off x="685800" y="3981001"/>
            <a:ext cx="6400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Shalini Mukhopadhyay  ·  </a:t>
            </a:r>
            <a:r>
              <a:rPr b="0" i="0" lang="en-US" sz="1300" u="sng" cap="none" strike="noStrike">
                <a:solidFill>
                  <a:schemeClr val="dk1"/>
                </a:solidFill>
                <a:latin typeface="Inter"/>
                <a:ea typeface="Inter"/>
                <a:cs typeface="Inter"/>
                <a:sym typeface="Inter"/>
                <a:hlinkClick r:id="rId4">
                  <a:extLst>
                    <a:ext uri="{A12FA001-AC4F-418D-AE19-62706E023703}">
                      <ahyp:hlinkClr val="tx"/>
                    </a:ext>
                  </a:extLst>
                </a:hlinkClick>
              </a:rPr>
              <a:t>shaliniiitkgp2021@gmail.com</a:t>
            </a:r>
            <a:endParaRPr b="0" i="0" sz="13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Aantriksh Pandya  ·  </a:t>
            </a:r>
            <a:r>
              <a:rPr b="0" i="0" lang="en-US" sz="1300" u="sng" cap="none" strike="noStrike">
                <a:solidFill>
                  <a:schemeClr val="dk1"/>
                </a:solidFill>
                <a:latin typeface="Inter"/>
                <a:ea typeface="Inter"/>
                <a:cs typeface="Inter"/>
                <a:sym typeface="Inter"/>
                <a:hlinkClick r:id="rId5">
                  <a:extLst>
                    <a:ext uri="{A12FA001-AC4F-418D-AE19-62706E023703}">
                      <ahyp:hlinkClr val="tx"/>
                    </a:ext>
                  </a:extLst>
                </a:hlinkClick>
              </a:rPr>
              <a:t>aantriksh.pandya1@gmail.com</a:t>
            </a:r>
            <a:r>
              <a:rPr b="0" i="0" lang="en-US" sz="1300" u="none" cap="none" strike="noStrike">
                <a:solidFill>
                  <a:schemeClr val="dk1"/>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rgbClr val="9CA3AF"/>
                </a:solidFill>
                <a:latin typeface="Inter"/>
                <a:ea typeface="Inter"/>
                <a:cs typeface="Inter"/>
                <a:sym typeface="Inter"/>
              </a:rPr>
              <a:t xml:space="preserve"> </a:t>
            </a:r>
            <a:endParaRPr b="0" i="0" sz="1300" u="none" cap="none" strike="noStrike">
              <a:solidFill>
                <a:srgbClr val="9CA3A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