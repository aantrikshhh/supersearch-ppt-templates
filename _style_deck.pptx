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5143500" cy="9144000"/>
  <p:embeddedFontLst>
    <p:embeddedFont>
      <p:font typeface="Inter"/>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0EBE6C2-84AA-4F8B-9F8C-F36D36772EF9}">
  <a:tblStyle styleId="{30EBE6C2-84AA-4F8B-9F8C-F36D36772EF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font" Target="fonts/Inter-regular.fntdata"/><Relationship Id="rId17" Type="http://schemas.openxmlformats.org/officeDocument/2006/relationships/font" Target="fonts/Inter-bold.fntdata"/><Relationship Id="rId18" Type="http://schemas.openxmlformats.org/officeDocument/2006/relationships/font" Target="fonts/Inter-italic.fntdata"/><Relationship Id="rId19" Type="http://schemas.openxmlformats.org/officeDocument/2006/relationships/font" Target="fonts/Inter-boldItalic.fntdata"/></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 name="Shape 21"/>
        <p:cNvGrpSpPr/>
        <p:nvPr/>
      </p:nvGrpSpPr>
      <p:grpSpPr>
        <a:xfrm>
          <a:off x="0" y="0"/>
          <a:ext cx="0" cy="0"/>
          <a:chOff x="0" y="0"/>
          <a:chExt cx="0" cy="0"/>
        </a:xfrm>
      </p:grpSpPr>
      <p:sp>
        <p:nvSpPr>
          <p:cNvPr id="22" name="Google Shape;2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 name="Google Shape;2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 name="Google Shape;2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 name="Google Shape;4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 name="Google Shape;4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de89301c56_0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4" name="Google Shape;54;g3de89301c56_0_1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 name="Google Shape;55;g3de89301c56_0_1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 name="Google Shape;6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 name="Google Shape;6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de89301c56_0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4" name="Google Shape;84;g3de89301c56_0_2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 name="Google Shape;85;g3de89301c56_0_2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 name="Google Shape;9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 name="Google Shape;11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 name="Google Shape;12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3.png"/><Relationship Id="rId6" Type="http://schemas.openxmlformats.org/officeDocument/2006/relationships/image" Target="../media/image2.png"/></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sp>
        <p:nvSpPr>
          <p:cNvPr id="16" name="Google Shape;16;p3"/>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noProof="1" lang="en-US" dirty="0"/>
              <a:t/>
            </a:r>
            <a:endParaRPr/>
          </a:p>
        </p:txBody>
      </p:sp>
      <p:sp>
        <p:nvSpPr>
          <p:cNvPr id="17" name="Google Shape;17;p3"/>
          <p:cNvSpPr/>
          <p:nvPr/>
        </p:nvSpPr>
        <p:spPr>
          <a:xfrm>
            <a:off x="685800" y="1280160"/>
            <a:ext cx="77724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4400"/>
              <a:buFont typeface="Inter"/>
              <a:buNone/>
            </a:pPr>
            <a:r>
              <a:rPr b="1" i="0" lang="en-US" sz="4400" u="none" cap="none" strike="noStrike" noProof="1" dirty="0">
                <a:solidFill>
                  <a:srgbClr val="111827"/>
                </a:solidFill>
                <a:latin typeface="Inter"/>
                <a:ea typeface="Inter"/>
                <a:cs typeface="Inter"/>
                <a:sym typeface="Inter"/>
              </a:rPr>
              <a:t>SuperSearch</a:t>
            </a:r>
            <a:endParaRPr b="0" i="0" sz="4400" u="none" cap="none" strike="noStrike">
              <a:solidFill>
                <a:schemeClr val="dk1"/>
              </a:solidFill>
              <a:latin typeface="Calibri"/>
              <a:ea typeface="Calibri"/>
              <a:cs typeface="Calibri"/>
              <a:sym typeface="Calibri"/>
            </a:endParaRPr>
          </a:p>
        </p:txBody>
      </p:sp>
      <p:sp>
        <p:nvSpPr>
          <p:cNvPr id="18" name="Google Shape;18;p3"/>
          <p:cNvSpPr/>
          <p:nvPr/>
        </p:nvSpPr>
        <p:spPr>
          <a:xfrm>
            <a:off x="685800" y="2180249"/>
            <a:ext cx="6550500" cy="42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1600"/>
              <a:buFont typeface="Inter"/>
              <a:buNone/>
            </a:pPr>
            <a:r>
              <a:rPr b="0" i="0" lang="en-US" sz="1600" u="none" cap="none" strike="noStrike" noProof="1" dirty="0">
                <a:solidFill>
                  <a:srgbClr val="4B5563"/>
                </a:solidFill>
                <a:latin typeface="Inter"/>
                <a:ea typeface="Inter"/>
                <a:cs typeface="Inter"/>
                <a:sym typeface="Inter"/>
              </a:rPr>
              <a:t xml:space="preserve">Conversational </a:t>
            </a:r>
            <a:r>
              <a:rPr lang="en-US" sz="1600" noProof="1" dirty="0">
                <a:solidFill>
                  <a:srgbClr val="4B5563"/>
                </a:solidFill>
                <a:latin typeface="Inter"/>
                <a:ea typeface="Inter"/>
                <a:cs typeface="Inter"/>
                <a:sym typeface="Inter"/>
              </a:rPr>
              <a:t xml:space="preserve">AI shopping assistants </a:t>
            </a:r>
            <a:r>
              <a:rPr b="0" i="0" lang="en-US" sz="1600" u="none" cap="none" strike="noStrike" noProof="1" dirty="0">
                <a:solidFill>
                  <a:srgbClr val="4B5563"/>
                </a:solidFill>
                <a:latin typeface="Inter"/>
                <a:ea typeface="Inter"/>
                <a:cs typeface="Inter"/>
                <a:sym typeface="Inter"/>
              </a:rPr>
              <a:t xml:space="preserve"> for e-commerce websites</a:t>
            </a:r>
            <a:endParaRPr b="0" i="0" sz="1600" u="none" cap="none" strike="noStrike">
              <a:solidFill>
                <a:schemeClr val="dk1"/>
              </a:solidFill>
              <a:latin typeface="Calibri"/>
              <a:ea typeface="Calibri"/>
              <a:cs typeface="Calibri"/>
              <a:sym typeface="Calibri"/>
            </a:endParaRPr>
          </a:p>
        </p:txBody>
      </p:sp>
      <p:sp>
        <p:nvSpPr>
          <p:cNvPr id="19" name="Google Shape;19;p3"/>
          <p:cNvSpPr/>
          <p:nvPr/>
        </p:nvSpPr>
        <p:spPr>
          <a:xfrm>
            <a:off x="685800" y="3108960"/>
            <a:ext cx="5486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1300"/>
              <a:buFont typeface="Inter"/>
              <a:buNone/>
            </a:pPr>
            <a:r>
              <a:rPr b="0" i="0" lang="en-US" sz="1300" u="none" cap="none" strike="noStrike" noProof="1" dirty="0">
                <a:solidFill>
                  <a:srgbClr val="4B5563"/>
                </a:solidFill>
                <a:latin typeface="Inter"/>
                <a:ea typeface="Inter"/>
                <a:cs typeface="Inter"/>
                <a:sym typeface="Inter"/>
              </a:rPr>
              <a:t>Aantriksh Pandya  ·  Shalini Mukhopadhyay</a:t>
            </a:r>
            <a:endParaRPr b="0" i="0" sz="1300" u="none" cap="none" strike="noStrike">
              <a:solidFill>
                <a:schemeClr val="dk1"/>
              </a:solidFill>
              <a:latin typeface="Calibri"/>
              <a:ea typeface="Calibri"/>
              <a:cs typeface="Calibri"/>
              <a:sym typeface="Calibri"/>
            </a:endParaRPr>
          </a:p>
        </p:txBody>
      </p:sp>
      <p:sp>
        <p:nvSpPr>
          <p:cNvPr id="20" name="Google Shape;20;p3"/>
          <p:cNvSpPr/>
          <p:nvPr/>
        </p:nvSpPr>
        <p:spPr>
          <a:xfrm>
            <a:off x="685800" y="352044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100"/>
              <a:buFont typeface="Inter"/>
              <a:buNone/>
            </a:pPr>
            <a:r>
              <a:rPr b="0" i="0" lang="en-US" sz="1100" u="none" cap="none" strike="noStrike" noProof="1" dirty="0">
                <a:solidFill>
                  <a:srgbClr val="9CA3AF"/>
                </a:solidFill>
                <a:latin typeface="Inter"/>
                <a:ea typeface="Inter"/>
                <a:cs typeface="Inter"/>
                <a:sym typeface="Inter"/>
              </a:rPr>
              <a:t>Prepared for: Tata CLiQ</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 name="Shape 25"/>
        <p:cNvGrpSpPr/>
        <p:nvPr/>
      </p:nvGrpSpPr>
      <p:grpSpPr>
        <a:xfrm>
          <a:off x="0" y="0"/>
          <a:ext cx="0" cy="0"/>
          <a:chOff x="0" y="0"/>
          <a:chExt cx="0" cy="0"/>
        </a:xfrm>
      </p:grpSpPr>
      <p:sp>
        <p:nvSpPr>
          <p:cNvPr id="26" name="Google Shape;26;p4"/>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noProof="1" lang="en-US" dirty="0"/>
              <a:t/>
            </a:r>
            <a:endParaRPr/>
          </a:p>
        </p:txBody>
      </p:sp>
      <p:sp>
        <p:nvSpPr>
          <p:cNvPr id="27" name="Google Shape;27;p4"/>
          <p:cNvSpPr/>
          <p:nvPr/>
        </p:nvSpPr>
        <p:spPr>
          <a:xfrm>
            <a:off x="685800" y="365750"/>
            <a:ext cx="81357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800"/>
              <a:buFont typeface="Inter"/>
              <a:buNone/>
            </a:pPr>
            <a:r>
              <a:rPr b="1" lang="en-US" sz="2300" noProof="1" dirty="0">
                <a:solidFill>
                  <a:srgbClr val="111827"/>
                </a:solidFill>
                <a:latin typeface="Inter"/>
                <a:ea typeface="Inter"/>
                <a:cs typeface="Inter"/>
                <a:sym typeface="Inter"/>
              </a:rPr>
              <a:t>Ecommerce search is changing forever and AI shopping assistants are here to stay</a:t>
            </a:r>
            <a:r>
              <a:rPr b="1" i="0" lang="en-US" sz="2300" u="none" cap="none" strike="noStrike" noProof="1" dirty="0">
                <a:solidFill>
                  <a:srgbClr val="111827"/>
                </a:solidFill>
                <a:latin typeface="Inter"/>
                <a:ea typeface="Inter"/>
                <a:cs typeface="Inter"/>
                <a:sym typeface="Inter"/>
              </a:rPr>
              <a:t xml:space="preserve"> — the numbers are clear</a:t>
            </a:r>
            <a:endParaRPr b="0" i="0" sz="2300" u="none" cap="none" strike="noStrike">
              <a:solidFill>
                <a:schemeClr val="dk1"/>
              </a:solidFill>
              <a:latin typeface="Calibri"/>
              <a:ea typeface="Calibri"/>
              <a:cs typeface="Calibri"/>
              <a:sym typeface="Calibri"/>
            </a:endParaRPr>
          </a:p>
        </p:txBody>
      </p:sp>
      <p:sp>
        <p:nvSpPr>
          <p:cNvPr id="28" name="Google Shape;28;p4"/>
          <p:cNvSpPr/>
          <p:nvPr/>
        </p:nvSpPr>
        <p:spPr>
          <a:xfrm>
            <a:off x="685800" y="1143000"/>
            <a:ext cx="2514600" cy="1508760"/>
          </a:xfrm>
          <a:prstGeom prst="rect">
            <a:avLst/>
          </a:prstGeom>
          <a:solidFill>
            <a:srgbClr val="F9FAFB"/>
          </a:solidFill>
          <a:ln>
            <a:noFill/>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noProof="1" lang="en-US" dirty="0"/>
              <a:t/>
            </a:r>
            <a:endParaRPr/>
          </a:p>
        </p:txBody>
      </p:sp>
      <p:sp>
        <p:nvSpPr>
          <p:cNvPr id="29" name="Google Shape;29;p4"/>
          <p:cNvSpPr/>
          <p:nvPr/>
        </p:nvSpPr>
        <p:spPr>
          <a:xfrm>
            <a:off x="868680" y="1234440"/>
            <a:ext cx="21488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3600"/>
              <a:buFont typeface="Inter"/>
              <a:buNone/>
            </a:pPr>
            <a:r>
              <a:rPr b="1" i="0" lang="en-US" sz="3600" u="none" cap="none" strike="noStrike" noProof="1" dirty="0">
                <a:solidFill>
                  <a:srgbClr val="2563EB"/>
                </a:solidFill>
                <a:latin typeface="Inter"/>
                <a:ea typeface="Inter"/>
                <a:cs typeface="Inter"/>
                <a:sym typeface="Inter"/>
              </a:rPr>
              <a:t>58%</a:t>
            </a:r>
            <a:endParaRPr b="0" i="0" sz="3600" u="none" cap="none" strike="noStrike">
              <a:solidFill>
                <a:schemeClr val="dk1"/>
              </a:solidFill>
              <a:latin typeface="Calibri"/>
              <a:ea typeface="Calibri"/>
              <a:cs typeface="Calibri"/>
              <a:sym typeface="Calibri"/>
            </a:endParaRPr>
          </a:p>
        </p:txBody>
      </p:sp>
      <p:sp>
        <p:nvSpPr>
          <p:cNvPr id="30" name="Google Shape;30;p4"/>
          <p:cNvSpPr/>
          <p:nvPr/>
        </p:nvSpPr>
        <p:spPr>
          <a:xfrm>
            <a:off x="766575" y="1783075"/>
            <a:ext cx="23184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1200"/>
              <a:buFont typeface="Inter"/>
              <a:buNone/>
            </a:pPr>
            <a:r>
              <a:rPr b="0" i="0" lang="en-US" sz="1200" u="none" cap="none" strike="noStrike" noProof="1" dirty="0">
                <a:solidFill>
                  <a:srgbClr val="4B5563"/>
                </a:solidFill>
                <a:latin typeface="Inter"/>
                <a:ea typeface="Inter"/>
                <a:cs typeface="Inter"/>
                <a:sym typeface="Inter"/>
              </a:rPr>
              <a:t>of consumers prefer AI s</a:t>
            </a:r>
            <a:r>
              <a:rPr lang="en-US" sz="1200" noProof="1" dirty="0">
                <a:solidFill>
                  <a:srgbClr val="4B5563"/>
                </a:solidFill>
                <a:latin typeface="Inter"/>
                <a:ea typeface="Inter"/>
                <a:cs typeface="Inter"/>
                <a:sym typeface="Inter"/>
              </a:rPr>
              <a:t>hopping assistants</a:t>
            </a:r>
            <a:r>
              <a:rPr lang="en-US" sz="1200" noProof="1" dirty="0">
                <a:solidFill>
                  <a:schemeClr val="dk1"/>
                </a:solidFill>
                <a:latin typeface="Calibri"/>
                <a:ea typeface="Calibri"/>
                <a:cs typeface="Calibri"/>
                <a:sym typeface="Calibri"/>
              </a:rPr>
              <a:t xml:space="preserve"> </a:t>
            </a:r>
            <a:r>
              <a:rPr b="0" i="0" lang="en-US" sz="1200" u="none" cap="none" strike="noStrike" noProof="1" dirty="0">
                <a:solidFill>
                  <a:srgbClr val="4B5563"/>
                </a:solidFill>
                <a:latin typeface="Inter"/>
                <a:ea typeface="Inter"/>
                <a:cs typeface="Inter"/>
                <a:sym typeface="Inter"/>
              </a:rPr>
              <a:t>over keywords (up from 25%</a:t>
            </a:r>
            <a:r>
              <a:rPr lang="en-US" sz="1200" noProof="1" dirty="0">
                <a:solidFill>
                  <a:schemeClr val="dk1"/>
                </a:solidFill>
                <a:latin typeface="Calibri"/>
                <a:ea typeface="Calibri"/>
                <a:cs typeface="Calibri"/>
                <a:sym typeface="Calibri"/>
              </a:rPr>
              <a:t xml:space="preserve"> </a:t>
            </a:r>
            <a:r>
              <a:rPr b="0" i="0" lang="en-US" sz="1200" u="none" cap="none" strike="noStrike" noProof="1" dirty="0">
                <a:solidFill>
                  <a:srgbClr val="4B5563"/>
                </a:solidFill>
                <a:latin typeface="Inter"/>
                <a:ea typeface="Inter"/>
                <a:cs typeface="Inter"/>
                <a:sym typeface="Inter"/>
              </a:rPr>
              <a:t>in 2023)</a:t>
            </a:r>
            <a:endParaRPr b="0" i="0" sz="1200" u="none" cap="none" strike="noStrike">
              <a:solidFill>
                <a:schemeClr val="dk1"/>
              </a:solidFill>
              <a:latin typeface="Calibri"/>
              <a:ea typeface="Calibri"/>
              <a:cs typeface="Calibri"/>
              <a:sym typeface="Calibri"/>
            </a:endParaRPr>
          </a:p>
        </p:txBody>
      </p:sp>
      <p:sp>
        <p:nvSpPr>
          <p:cNvPr id="31" name="Google Shape;31;p4"/>
          <p:cNvSpPr/>
          <p:nvPr/>
        </p:nvSpPr>
        <p:spPr>
          <a:xfrm>
            <a:off x="3383280" y="1143000"/>
            <a:ext cx="2514600" cy="1508760"/>
          </a:xfrm>
          <a:prstGeom prst="rect">
            <a:avLst/>
          </a:prstGeom>
          <a:solidFill>
            <a:srgbClr val="F9FAFB"/>
          </a:solidFill>
          <a:ln>
            <a:noFill/>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noProof="1" lang="en-US" dirty="0"/>
              <a:t/>
            </a:r>
            <a:endParaRPr/>
          </a:p>
        </p:txBody>
      </p:sp>
      <p:sp>
        <p:nvSpPr>
          <p:cNvPr id="32" name="Google Shape;32;p4"/>
          <p:cNvSpPr/>
          <p:nvPr/>
        </p:nvSpPr>
        <p:spPr>
          <a:xfrm>
            <a:off x="3566160" y="1234440"/>
            <a:ext cx="21488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3600"/>
              <a:buFont typeface="Inter"/>
              <a:buNone/>
            </a:pPr>
            <a:r>
              <a:rPr b="1" i="0" lang="en-US" sz="3600" u="none" cap="none" strike="noStrike" noProof="1" dirty="0">
                <a:solidFill>
                  <a:srgbClr val="2563EB"/>
                </a:solidFill>
                <a:latin typeface="Inter"/>
                <a:ea typeface="Inter"/>
                <a:cs typeface="Inter"/>
                <a:sym typeface="Inter"/>
              </a:rPr>
              <a:t>4x</a:t>
            </a:r>
            <a:endParaRPr b="0" i="0" sz="3600" u="none" cap="none" strike="noStrike">
              <a:solidFill>
                <a:schemeClr val="dk1"/>
              </a:solidFill>
              <a:latin typeface="Calibri"/>
              <a:ea typeface="Calibri"/>
              <a:cs typeface="Calibri"/>
              <a:sym typeface="Calibri"/>
            </a:endParaRPr>
          </a:p>
        </p:txBody>
      </p:sp>
      <p:sp>
        <p:nvSpPr>
          <p:cNvPr id="33" name="Google Shape;33;p4"/>
          <p:cNvSpPr/>
          <p:nvPr/>
        </p:nvSpPr>
        <p:spPr>
          <a:xfrm>
            <a:off x="3566160" y="1783080"/>
            <a:ext cx="214884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1200"/>
              <a:buFont typeface="Inter"/>
              <a:buNone/>
            </a:pPr>
            <a:r>
              <a:rPr b="0" i="0" lang="en-US" sz="1200" u="none" cap="none" strike="noStrike" noProof="1" dirty="0">
                <a:solidFill>
                  <a:srgbClr val="4B5563"/>
                </a:solidFill>
                <a:latin typeface="Inter"/>
                <a:ea typeface="Inter"/>
                <a:cs typeface="Inter"/>
                <a:sym typeface="Inter"/>
              </a:rPr>
              <a:t>higher conversion rates for</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B5563"/>
              </a:buClr>
              <a:buSzPts val="1200"/>
              <a:buFont typeface="Inter"/>
              <a:buNone/>
            </a:pPr>
            <a:r>
              <a:rPr b="0" i="0" lang="en-US" sz="1200" u="none" cap="none" strike="noStrike" noProof="1" dirty="0">
                <a:solidFill>
                  <a:srgbClr val="4B5563"/>
                </a:solidFill>
                <a:latin typeface="Inter"/>
                <a:ea typeface="Inter"/>
                <a:cs typeface="Inter"/>
                <a:sym typeface="Inter"/>
              </a:rPr>
              <a:t>conversational search</a:t>
            </a:r>
            <a:r>
              <a:rPr lang="en-US" sz="1200" noProof="1" dirty="0">
                <a:solidFill>
                  <a:srgbClr val="4B5563"/>
                </a:solidFill>
                <a:latin typeface="Inter"/>
                <a:ea typeface="Inter"/>
                <a:cs typeface="Inter"/>
                <a:sym typeface="Inter"/>
              </a:rPr>
              <a:t xml:space="preserve"> </a:t>
            </a:r>
            <a:r>
              <a:rPr b="0" i="0" lang="en-US" sz="1200" u="none" cap="none" strike="noStrike" noProof="1" dirty="0">
                <a:solidFill>
                  <a:srgbClr val="4B5563"/>
                </a:solidFill>
                <a:latin typeface="Inter"/>
                <a:ea typeface="Inter"/>
                <a:cs typeface="Inter"/>
                <a:sym typeface="Inter"/>
              </a:rPr>
              <a:t>as compared to keyword search</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B5563"/>
              </a:buClr>
              <a:buSzPts val="1200"/>
              <a:buFont typeface="Inter"/>
              <a:buNone/>
            </a:pPr>
            <a:r>
              <a:rPr b="0" i="0" lang="en-US" sz="1200" u="none" cap="none" strike="noStrike" noProof="1" dirty="0">
                <a:solidFill>
                  <a:srgbClr val="4B5563"/>
                </a:solidFill>
                <a:latin typeface="Inter"/>
                <a:ea typeface="Inter"/>
                <a:cs typeface="Inter"/>
                <a:sym typeface="Inter"/>
              </a:rPr>
              <a:t>(12.3% vs 3.1%, Rep AI)</a:t>
            </a:r>
            <a:endParaRPr b="0" i="0" sz="1200" u="none" cap="none" strike="noStrike">
              <a:solidFill>
                <a:schemeClr val="dk1"/>
              </a:solidFill>
              <a:latin typeface="Calibri"/>
              <a:ea typeface="Calibri"/>
              <a:cs typeface="Calibri"/>
              <a:sym typeface="Calibri"/>
            </a:endParaRPr>
          </a:p>
        </p:txBody>
      </p:sp>
      <p:sp>
        <p:nvSpPr>
          <p:cNvPr id="34" name="Google Shape;34;p4"/>
          <p:cNvSpPr/>
          <p:nvPr/>
        </p:nvSpPr>
        <p:spPr>
          <a:xfrm>
            <a:off x="6080760" y="1143000"/>
            <a:ext cx="2514600" cy="1508760"/>
          </a:xfrm>
          <a:prstGeom prst="rect">
            <a:avLst/>
          </a:prstGeom>
          <a:solidFill>
            <a:srgbClr val="F9FAFB"/>
          </a:solidFill>
          <a:ln>
            <a:noFill/>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noProof="1" lang="en-US" dirty="0"/>
              <a:t/>
            </a:r>
            <a:endParaRPr/>
          </a:p>
        </p:txBody>
      </p:sp>
      <p:sp>
        <p:nvSpPr>
          <p:cNvPr id="35" name="Google Shape;35;p4"/>
          <p:cNvSpPr/>
          <p:nvPr/>
        </p:nvSpPr>
        <p:spPr>
          <a:xfrm>
            <a:off x="6263640" y="1234440"/>
            <a:ext cx="21488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3600"/>
              <a:buFont typeface="Inter"/>
              <a:buNone/>
            </a:pPr>
            <a:r>
              <a:rPr b="1" i="0" lang="en-US" sz="3600" u="none" cap="none" strike="noStrike" noProof="1" dirty="0">
                <a:solidFill>
                  <a:srgbClr val="2563EB"/>
                </a:solidFill>
                <a:latin typeface="Inter"/>
                <a:ea typeface="Inter"/>
                <a:cs typeface="Inter"/>
                <a:sym typeface="Inter"/>
              </a:rPr>
              <a:t>1,300%</a:t>
            </a:r>
            <a:endParaRPr b="0" i="0" sz="3600" u="none" cap="none" strike="noStrike">
              <a:solidFill>
                <a:schemeClr val="dk1"/>
              </a:solidFill>
              <a:latin typeface="Calibri"/>
              <a:ea typeface="Calibri"/>
              <a:cs typeface="Calibri"/>
              <a:sym typeface="Calibri"/>
            </a:endParaRPr>
          </a:p>
        </p:txBody>
      </p:sp>
      <p:sp>
        <p:nvSpPr>
          <p:cNvPr id="36" name="Google Shape;36;p4"/>
          <p:cNvSpPr/>
          <p:nvPr/>
        </p:nvSpPr>
        <p:spPr>
          <a:xfrm>
            <a:off x="6263640" y="1783080"/>
            <a:ext cx="214884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1200"/>
              <a:buFont typeface="Inter"/>
              <a:buNone/>
            </a:pPr>
            <a:r>
              <a:rPr b="0" i="0" lang="en-US" sz="1200" u="none" cap="none" strike="noStrike" noProof="1" dirty="0">
                <a:solidFill>
                  <a:srgbClr val="4B5563"/>
                </a:solidFill>
                <a:latin typeface="Inter"/>
                <a:ea typeface="Inter"/>
                <a:cs typeface="Inter"/>
                <a:sym typeface="Inter"/>
              </a:rPr>
              <a:t>YoY growth in AI-referred</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B5563"/>
              </a:buClr>
              <a:buSzPts val="1200"/>
              <a:buFont typeface="Inter"/>
              <a:buNone/>
            </a:pPr>
            <a:r>
              <a:rPr b="0" i="0" lang="en-US" sz="1200" u="none" cap="none" strike="noStrike" noProof="1" dirty="0">
                <a:solidFill>
                  <a:srgbClr val="4B5563"/>
                </a:solidFill>
                <a:latin typeface="Inter"/>
                <a:ea typeface="Inter"/>
                <a:cs typeface="Inter"/>
                <a:sym typeface="Inter"/>
              </a:rPr>
              <a:t>retail traffic</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B5563"/>
              </a:buClr>
              <a:buSzPts val="1200"/>
              <a:buFont typeface="Inter"/>
              <a:buNone/>
            </a:pPr>
            <a:r>
              <a:rPr b="0" i="0" lang="en-US" sz="1200" u="none" cap="none" strike="noStrike" noProof="1" dirty="0">
                <a:solidFill>
                  <a:srgbClr val="4B5563"/>
                </a:solidFill>
                <a:latin typeface="Inter"/>
                <a:ea typeface="Inter"/>
                <a:cs typeface="Inter"/>
                <a:sym typeface="Inter"/>
              </a:rPr>
              <a:t>(Adobe, Holiday 2024)</a:t>
            </a:r>
            <a:endParaRPr b="0" i="0" sz="1200" u="none" cap="none" strike="noStrike">
              <a:solidFill>
                <a:schemeClr val="dk1"/>
              </a:solidFill>
              <a:latin typeface="Calibri"/>
              <a:ea typeface="Calibri"/>
              <a:cs typeface="Calibri"/>
              <a:sym typeface="Calibri"/>
            </a:endParaRPr>
          </a:p>
        </p:txBody>
      </p:sp>
      <p:sp>
        <p:nvSpPr>
          <p:cNvPr id="37" name="Google Shape;37;p4"/>
          <p:cNvSpPr/>
          <p:nvPr/>
        </p:nvSpPr>
        <p:spPr>
          <a:xfrm>
            <a:off x="685800" y="2277275"/>
            <a:ext cx="7909500" cy="229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noProof="1" lang="en-US" dirty="0"/>
              <a:t/>
            </a:r>
            <a:endParaRPr sz="1100">
              <a:solidFill>
                <a:srgbClr val="4B5563"/>
              </a:solidFill>
              <a:latin typeface="Inter"/>
              <a:ea typeface="Inter"/>
              <a:cs typeface="Inter"/>
              <a:sym typeface="Inter"/>
            </a:endParaRPr>
          </a:p>
          <a:p>
            <a:pPr indent="-342900" lvl="0" marL="342900" marR="0" rtl="0" algn="l">
              <a:spcBef>
                <a:spcPts val="400"/>
              </a:spcBef>
              <a:spcAft>
                <a:spcPts val="0"/>
              </a:spcAft>
              <a:buClr>
                <a:srgbClr val="4B5563"/>
              </a:buClr>
              <a:buSzPts val="1100"/>
              <a:buFont typeface="Inter"/>
              <a:buChar char="•"/>
            </a:pPr>
            <a:r>
              <a:rPr b="1" lang="en-US" sz="1100" noProof="1" dirty="0">
                <a:solidFill>
                  <a:srgbClr val="4B5563"/>
                </a:solidFill>
                <a:latin typeface="Inter"/>
                <a:ea typeface="Inter"/>
                <a:cs typeface="Inter"/>
                <a:sym typeface="Inter"/>
              </a:rPr>
              <a:t xml:space="preserve">~60% to 64% of online shoppers </a:t>
            </a:r>
            <a:r>
              <a:rPr lang="en-US" sz="1100" noProof="1" dirty="0">
                <a:solidFill>
                  <a:srgbClr val="4B5563"/>
                </a:solidFill>
                <a:latin typeface="Inter"/>
                <a:ea typeface="Inter"/>
                <a:cs typeface="Inter"/>
                <a:sym typeface="Inter"/>
              </a:rPr>
              <a:t>have used or plan to use AI for shopping in 2026 (~3B AI shoppers)</a:t>
            </a:r>
            <a:r>
              <a:rPr b="1" lang="en-US" sz="1100" noProof="1" dirty="0">
                <a:solidFill>
                  <a:srgbClr val="4B5563"/>
                </a:solidFill>
                <a:latin typeface="Inter"/>
                <a:ea typeface="Inter"/>
                <a:cs typeface="Inter"/>
                <a:sym typeface="Inter"/>
              </a:rPr>
              <a:t xml:space="preserve">. </a:t>
            </a:r>
            <a:endParaRPr b="1" sz="1100">
              <a:solidFill>
                <a:srgbClr val="4B5563"/>
              </a:solidFill>
              <a:latin typeface="Inter"/>
              <a:ea typeface="Inter"/>
              <a:cs typeface="Inter"/>
              <a:sym typeface="Inter"/>
            </a:endParaRPr>
          </a:p>
          <a:p>
            <a:pPr indent="-342900" lvl="0" marL="342900" marR="0" rtl="0" algn="l">
              <a:spcBef>
                <a:spcPts val="400"/>
              </a:spcBef>
              <a:spcAft>
                <a:spcPts val="0"/>
              </a:spcAft>
              <a:buClr>
                <a:srgbClr val="4B5563"/>
              </a:buClr>
              <a:buSzPts val="1100"/>
              <a:buFont typeface="Inter"/>
              <a:buChar char="•"/>
            </a:pPr>
            <a:r>
              <a:rPr b="1" i="0" lang="en-US" sz="1100" u="none" cap="none" strike="noStrike" noProof="1" dirty="0">
                <a:solidFill>
                  <a:srgbClr val="4B5563"/>
                </a:solidFill>
                <a:latin typeface="Inter"/>
                <a:ea typeface="Inter"/>
                <a:cs typeface="Inter"/>
                <a:sym typeface="Inter"/>
              </a:rPr>
              <a:t>7-8 word queries nearly doubled since ChatGPT</a:t>
            </a:r>
            <a:r>
              <a:rPr b="0" i="0" lang="en-US" sz="1100" u="none" cap="none" strike="noStrike" noProof="1" dirty="0">
                <a:solidFill>
                  <a:srgbClr val="4B5563"/>
                </a:solidFill>
                <a:latin typeface="Inter"/>
                <a:ea typeface="Inter"/>
                <a:cs typeface="Inter"/>
                <a:sym typeface="Inter"/>
              </a:rPr>
              <a:t xml:space="preserve"> launched (Search Engine Land), 35% of all search queries are now complete sentences, not fragmented keywords</a:t>
            </a:r>
            <a:r>
              <a:rPr lang="en-US" sz="1100" noProof="1" dirty="0">
                <a:solidFill>
                  <a:srgbClr val="4B5563"/>
                </a:solidFill>
                <a:latin typeface="Inter"/>
                <a:ea typeface="Inter"/>
                <a:cs typeface="Inter"/>
                <a:sym typeface="Inter"/>
              </a:rPr>
              <a:t>. Conversational search is the new norm.</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4B5563"/>
              </a:buClr>
              <a:buSzPts val="1100"/>
              <a:buFont typeface="Inter"/>
              <a:buChar char="•"/>
            </a:pPr>
            <a:r>
              <a:rPr lang="en-US" sz="1100" noProof="1" dirty="0">
                <a:solidFill>
                  <a:srgbClr val="4B5563"/>
                </a:solidFill>
                <a:latin typeface="Inter"/>
                <a:ea typeface="Inter"/>
                <a:cs typeface="Inter"/>
                <a:sym typeface="Inter"/>
              </a:rPr>
              <a:t>79% of customers say they'd find it helpful if AI understood their specific needs (not just keywords) to recommend products in a chat instead of them having to type keywords into a search bar.</a:t>
            </a:r>
            <a:endParaRPr sz="1100">
              <a:solidFill>
                <a:srgbClr val="4B5563"/>
              </a:solidFill>
              <a:latin typeface="Inter"/>
              <a:ea typeface="Inter"/>
              <a:cs typeface="Inter"/>
              <a:sym typeface="Inter"/>
            </a:endParaRPr>
          </a:p>
          <a:p>
            <a:pPr indent="-342900" lvl="0" marL="342900" marR="0" rtl="0" algn="l">
              <a:spcBef>
                <a:spcPts val="400"/>
              </a:spcBef>
              <a:spcAft>
                <a:spcPts val="0"/>
              </a:spcAft>
              <a:buClr>
                <a:srgbClr val="4B5563"/>
              </a:buClr>
              <a:buSzPts val="1100"/>
              <a:buFont typeface="Inter"/>
              <a:buChar char="•"/>
            </a:pPr>
            <a:r>
              <a:rPr b="1" lang="en-US" sz="1100" noProof="1" dirty="0">
                <a:solidFill>
                  <a:srgbClr val="4B5563"/>
                </a:solidFill>
                <a:latin typeface="Inter"/>
                <a:ea typeface="Inter"/>
                <a:cs typeface="Inter"/>
                <a:sym typeface="Inter"/>
              </a:rPr>
              <a:t>82% want AI shopping assistants to reduce time</a:t>
            </a:r>
            <a:r>
              <a:rPr lang="en-US" sz="1100" noProof="1" dirty="0">
                <a:solidFill>
                  <a:srgbClr val="4B5563"/>
                </a:solidFill>
                <a:latin typeface="Inter"/>
                <a:ea typeface="Inter"/>
                <a:cs typeface="Inter"/>
                <a:sym typeface="Inter"/>
              </a:rPr>
              <a:t xml:space="preserve"> spent researching what to buy.</a:t>
            </a:r>
            <a:endParaRPr sz="1100">
              <a:solidFill>
                <a:srgbClr val="4B5563"/>
              </a:solidFill>
              <a:latin typeface="Inter"/>
              <a:ea typeface="Inter"/>
              <a:cs typeface="Inter"/>
              <a:sym typeface="Inter"/>
            </a:endParaRPr>
          </a:p>
          <a:p>
            <a:pPr indent="-342900" lvl="0" marL="342900" marR="0" rtl="0" algn="l">
              <a:spcBef>
                <a:spcPts val="400"/>
              </a:spcBef>
              <a:spcAft>
                <a:spcPts val="0"/>
              </a:spcAft>
              <a:buClr>
                <a:srgbClr val="4B5563"/>
              </a:buClr>
              <a:buSzPts val="1100"/>
              <a:buFont typeface="Inter"/>
              <a:buChar char="•"/>
            </a:pPr>
            <a:r>
              <a:rPr b="0" i="0" lang="en-US" sz="1100" u="none" cap="none" strike="noStrike" noProof="1" dirty="0">
                <a:solidFill>
                  <a:srgbClr val="4B5563"/>
                </a:solidFill>
                <a:latin typeface="Inter"/>
                <a:ea typeface="Inter"/>
                <a:cs typeface="Inter"/>
                <a:sym typeface="Inter"/>
              </a:rPr>
              <a:t>80% of shoppers leave a site due to poor search experience (Nosto)</a:t>
            </a:r>
            <a:endParaRPr b="0" i="0" sz="1100" u="none" cap="none" strike="noStrike">
              <a:solidFill>
                <a:schemeClr val="dk1"/>
              </a:solidFill>
              <a:latin typeface="Calibri"/>
              <a:ea typeface="Calibri"/>
              <a:cs typeface="Calibri"/>
              <a:sym typeface="Calibri"/>
            </a:endParaRPr>
          </a:p>
        </p:txBody>
      </p:sp>
      <p:sp>
        <p:nvSpPr>
          <p:cNvPr id="38" name="Google Shape;38;p4"/>
          <p:cNvSpPr/>
          <p:nvPr/>
        </p:nvSpPr>
        <p:spPr>
          <a:xfrm>
            <a:off x="685800" y="4754880"/>
            <a:ext cx="77724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900"/>
              <a:buFont typeface="Inter"/>
              <a:buNone/>
            </a:pPr>
            <a:r>
              <a:rPr b="0" i="0" lang="en-US" sz="900" u="none" cap="none" strike="noStrike" noProof="1" dirty="0">
                <a:solidFill>
                  <a:srgbClr val="9CA3AF"/>
                </a:solidFill>
                <a:latin typeface="Inter"/>
                <a:ea typeface="Inter"/>
                <a:cs typeface="Inter"/>
                <a:sym typeface="Inter"/>
              </a:rPr>
              <a:t>Sources: Rep AI 2025, Adobe Analytics, Search Engine Land, Capgemini, Constructor, Nosto</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 name="Shape 43"/>
        <p:cNvGrpSpPr/>
        <p:nvPr/>
      </p:nvGrpSpPr>
      <p:grpSpPr>
        <a:xfrm>
          <a:off x="0" y="0"/>
          <a:ext cx="0" cy="0"/>
          <a:chOff x="0" y="0"/>
          <a:chExt cx="0" cy="0"/>
        </a:xfrm>
      </p:grpSpPr>
      <p:sp>
        <p:nvSpPr>
          <p:cNvPr id="44" name="Google Shape;44;p5"/>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noProof="1" lang="en-US" dirty="0"/>
              <a:t/>
            </a:r>
            <a:endParaRPr/>
          </a:p>
        </p:txBody>
      </p:sp>
      <p:sp>
        <p:nvSpPr>
          <p:cNvPr id="45" name="Google Shape;45;p5"/>
          <p:cNvSpPr/>
          <p:nvPr/>
        </p:nvSpPr>
        <p:spPr>
          <a:xfrm>
            <a:off x="657600" y="322625"/>
            <a:ext cx="84864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800"/>
              <a:buFont typeface="Inter"/>
              <a:buNone/>
            </a:pPr>
            <a:r>
              <a:rPr b="1" i="0" lang="en-US" sz="2700" u="none" cap="none" strike="noStrike" noProof="1" dirty="0">
                <a:solidFill>
                  <a:srgbClr val="111827"/>
                </a:solidFill>
                <a:latin typeface="Inter"/>
                <a:ea typeface="Inter"/>
                <a:cs typeface="Inter"/>
                <a:sym typeface="Inter"/>
              </a:rPr>
              <a:t>Competitors are already live with conversational search and seeing massive gains</a:t>
            </a:r>
            <a:endParaRPr b="0" i="0" sz="2700" u="none" cap="none" strike="noStrike">
              <a:solidFill>
                <a:schemeClr val="dk1"/>
              </a:solidFill>
              <a:latin typeface="Calibri"/>
              <a:ea typeface="Calibri"/>
              <a:cs typeface="Calibri"/>
              <a:sym typeface="Calibri"/>
            </a:endParaRPr>
          </a:p>
        </p:txBody>
      </p:sp>
      <p:sp>
        <p:nvSpPr>
          <p:cNvPr id="46" name="Google Shape;46;p5"/>
          <p:cNvSpPr/>
          <p:nvPr/>
        </p:nvSpPr>
        <p:spPr>
          <a:xfrm>
            <a:off x="906749" y="1202975"/>
            <a:ext cx="3517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1600"/>
              <a:buFont typeface="Inter"/>
              <a:buNone/>
            </a:pPr>
            <a:r>
              <a:rPr b="1" i="0" lang="en-US" sz="1600" u="none" cap="none" strike="noStrike" noProof="1" dirty="0">
                <a:solidFill>
                  <a:srgbClr val="2563EB"/>
                </a:solidFill>
                <a:latin typeface="Inter"/>
                <a:ea typeface="Inter"/>
                <a:cs typeface="Inter"/>
                <a:sym typeface="Inter"/>
              </a:rPr>
              <a:t>Global</a:t>
            </a:r>
            <a:endParaRPr b="0" i="0" sz="1600" u="none" cap="none" strike="noStrike">
              <a:solidFill>
                <a:schemeClr val="dk1"/>
              </a:solidFill>
              <a:latin typeface="Calibri"/>
              <a:ea typeface="Calibri"/>
              <a:cs typeface="Calibri"/>
              <a:sym typeface="Calibri"/>
            </a:endParaRPr>
          </a:p>
        </p:txBody>
      </p:sp>
      <p:sp>
        <p:nvSpPr>
          <p:cNvPr id="47" name="Google Shape;47;p5"/>
          <p:cNvSpPr/>
          <p:nvPr/>
        </p:nvSpPr>
        <p:spPr>
          <a:xfrm>
            <a:off x="594050" y="1463050"/>
            <a:ext cx="3978900" cy="260430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4B5563"/>
              </a:buClr>
              <a:buSzPts val="1100"/>
              <a:buFont typeface="Inter"/>
              <a:buChar char="•"/>
            </a:pPr>
            <a:r>
              <a:rPr b="0" i="0" lang="en-US" sz="1100" u="none" cap="none" strike="noStrike" noProof="1" dirty="0">
                <a:solidFill>
                  <a:srgbClr val="4B5563"/>
                </a:solidFill>
                <a:latin typeface="Inter"/>
                <a:ea typeface="Inter"/>
                <a:cs typeface="Inter"/>
                <a:sym typeface="Inter"/>
              </a:rPr>
              <a:t xml:space="preserve">Amazon Rufus — live globally across all </a:t>
            </a:r>
            <a:r>
              <a:rPr lang="en-US" sz="1100" noProof="1" dirty="0">
                <a:solidFill>
                  <a:srgbClr val="4B5563"/>
                </a:solidFill>
                <a:latin typeface="Inter"/>
                <a:ea typeface="Inter"/>
                <a:cs typeface="Inter"/>
                <a:sym typeface="Inter"/>
              </a:rPr>
              <a:t xml:space="preserve">Amazon </a:t>
            </a:r>
            <a:r>
              <a:rPr b="0" i="0" lang="en-US" sz="1100" u="none" cap="none" strike="noStrike" noProof="1" dirty="0">
                <a:solidFill>
                  <a:srgbClr val="4B5563"/>
                </a:solidFill>
                <a:latin typeface="Inter"/>
                <a:ea typeface="Inter"/>
                <a:cs typeface="Inter"/>
                <a:sym typeface="Inter"/>
              </a:rPr>
              <a:t xml:space="preserve">categories, </a:t>
            </a:r>
            <a:r>
              <a:rPr lang="en-US" sz="1100" noProof="1" dirty="0">
                <a:solidFill>
                  <a:srgbClr val="4B5563"/>
                </a:solidFill>
                <a:latin typeface="Inter"/>
                <a:ea typeface="Inter"/>
                <a:cs typeface="Inter"/>
                <a:sym typeface="Inter"/>
              </a:rPr>
              <a:t>60% higher purchase likelihood</a:t>
            </a:r>
            <a:endParaRPr b="0" i="0" sz="110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4B5563"/>
              </a:buClr>
              <a:buSzPts val="1100"/>
              <a:buFont typeface="Inter"/>
              <a:buChar char="•"/>
            </a:pPr>
            <a:r>
              <a:rPr b="0" i="0" lang="en-US" sz="1100" u="none" cap="none" strike="noStrike" noProof="1" dirty="0">
                <a:solidFill>
                  <a:srgbClr val="4B5563"/>
                </a:solidFill>
                <a:latin typeface="Inter"/>
                <a:ea typeface="Inter"/>
                <a:cs typeface="Inter"/>
                <a:sym typeface="Inter"/>
              </a:rPr>
              <a:t>Walmart Sparky — live in ChatGPT + Gemini with checkout, higher conversion rate in months</a:t>
            </a:r>
            <a:endParaRPr b="0" i="0" sz="110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4B5563"/>
              </a:buClr>
              <a:buSzPts val="1100"/>
              <a:buFont typeface="Inter"/>
              <a:buChar char="•"/>
            </a:pPr>
            <a:r>
              <a:rPr lang="en-US" sz="1100" noProof="1" dirty="0">
                <a:solidFill>
                  <a:srgbClr val="4B5563"/>
                </a:solidFill>
                <a:latin typeface="Inter"/>
                <a:ea typeface="Inter"/>
                <a:cs typeface="Inter"/>
                <a:sym typeface="Inter"/>
              </a:rPr>
              <a:t>Zalando : 18% YoY profitability increase due to AI shopping assistant rollout</a:t>
            </a:r>
            <a:endParaRPr sz="1100">
              <a:solidFill>
                <a:srgbClr val="4B5563"/>
              </a:solidFill>
              <a:latin typeface="Inter"/>
              <a:ea typeface="Inter"/>
              <a:cs typeface="Inter"/>
              <a:sym typeface="Inter"/>
            </a:endParaRPr>
          </a:p>
          <a:p>
            <a:pPr indent="-342900" lvl="0" marL="342900" marR="0" rtl="0" algn="l">
              <a:spcBef>
                <a:spcPts val="500"/>
              </a:spcBef>
              <a:spcAft>
                <a:spcPts val="0"/>
              </a:spcAft>
              <a:buClr>
                <a:srgbClr val="4B5563"/>
              </a:buClr>
              <a:buSzPts val="1100"/>
              <a:buFont typeface="Inter"/>
              <a:buChar char="•"/>
            </a:pPr>
            <a:r>
              <a:rPr b="0" i="0" lang="en-US" sz="1100" u="none" cap="none" strike="noStrike" noProof="1" dirty="0">
                <a:solidFill>
                  <a:srgbClr val="4B5563"/>
                </a:solidFill>
                <a:latin typeface="Inter"/>
                <a:ea typeface="Inter"/>
                <a:cs typeface="Inter"/>
                <a:sym typeface="Inter"/>
              </a:rPr>
              <a:t>Albertsons — 10% basket size increase, 21% digital sales growth</a:t>
            </a:r>
            <a:endParaRPr b="0" i="0" sz="110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4B5563"/>
              </a:buClr>
              <a:buSzPts val="1100"/>
              <a:buFont typeface="Inter"/>
              <a:buChar char="•"/>
            </a:pPr>
            <a:r>
              <a:rPr b="0" i="0" lang="en-US" sz="1100" u="none" cap="none" strike="noStrike" noProof="1" dirty="0">
                <a:solidFill>
                  <a:srgbClr val="4B5563"/>
                </a:solidFill>
                <a:latin typeface="Inter"/>
                <a:ea typeface="Inter"/>
                <a:cs typeface="Inter"/>
                <a:sym typeface="Inter"/>
              </a:rPr>
              <a:t>Sephora, Target, Wayfair, eBay, Etsy — all on OpenAI/Google commerce protocols</a:t>
            </a:r>
            <a:endParaRPr b="0" i="0" sz="1100" u="none" cap="none" strike="noStrike">
              <a:solidFill>
                <a:srgbClr val="4B5563"/>
              </a:solidFill>
              <a:latin typeface="Inter"/>
              <a:ea typeface="Inter"/>
              <a:cs typeface="Inter"/>
              <a:sym typeface="Inter"/>
            </a:endParaRPr>
          </a:p>
          <a:p>
            <a:pPr indent="-342900" lvl="0" marL="342900" marR="0" rtl="0" algn="l">
              <a:spcBef>
                <a:spcPts val="500"/>
              </a:spcBef>
              <a:spcAft>
                <a:spcPts val="0"/>
              </a:spcAft>
              <a:buClr>
                <a:srgbClr val="4B5563"/>
              </a:buClr>
              <a:buSzPts val="1100"/>
              <a:buFont typeface="Inter"/>
              <a:buChar char="•"/>
            </a:pPr>
            <a:r>
              <a:rPr lang="en-US" sz="1100" noProof="1" dirty="0">
                <a:solidFill>
                  <a:srgbClr val="4B5563"/>
                </a:solidFill>
                <a:latin typeface="Inter"/>
                <a:ea typeface="Inter"/>
                <a:cs typeface="Inter"/>
                <a:sym typeface="Inter"/>
              </a:rPr>
              <a:t>Instacart : 4+ more orders per month per user for users using AI assistant compared to ones not using it</a:t>
            </a:r>
            <a:endParaRPr sz="1100">
              <a:solidFill>
                <a:srgbClr val="4B5563"/>
              </a:solidFill>
              <a:latin typeface="Inter"/>
              <a:ea typeface="Inter"/>
              <a:cs typeface="Inter"/>
              <a:sym typeface="Inter"/>
            </a:endParaRPr>
          </a:p>
        </p:txBody>
      </p:sp>
      <p:sp>
        <p:nvSpPr>
          <p:cNvPr id="48" name="Google Shape;48;p5"/>
          <p:cNvSpPr/>
          <p:nvPr/>
        </p:nvSpPr>
        <p:spPr>
          <a:xfrm>
            <a:off x="5025900" y="1202975"/>
            <a:ext cx="3432300" cy="226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1600"/>
              <a:buFont typeface="Inter"/>
              <a:buNone/>
            </a:pPr>
            <a:r>
              <a:rPr b="1" i="0" lang="en-US" sz="1600" u="none" cap="none" strike="noStrike" noProof="1" dirty="0">
                <a:solidFill>
                  <a:srgbClr val="DC2626"/>
                </a:solidFill>
                <a:latin typeface="Inter"/>
                <a:ea typeface="Inter"/>
                <a:cs typeface="Inter"/>
                <a:sym typeface="Inter"/>
              </a:rPr>
              <a:t>India (your direct market)</a:t>
            </a:r>
            <a:endParaRPr b="0" i="0" sz="1600" u="none" cap="none" strike="noStrike">
              <a:solidFill>
                <a:schemeClr val="dk1"/>
              </a:solidFill>
              <a:latin typeface="Calibri"/>
              <a:ea typeface="Calibri"/>
              <a:cs typeface="Calibri"/>
              <a:sym typeface="Calibri"/>
            </a:endParaRPr>
          </a:p>
        </p:txBody>
      </p:sp>
      <p:sp>
        <p:nvSpPr>
          <p:cNvPr id="49" name="Google Shape;49;p5"/>
          <p:cNvSpPr/>
          <p:nvPr/>
        </p:nvSpPr>
        <p:spPr>
          <a:xfrm>
            <a:off x="4709160" y="1463040"/>
            <a:ext cx="3749040" cy="182880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4B5563"/>
              </a:buClr>
              <a:buSzPts val="1100"/>
              <a:buFont typeface="Inter"/>
              <a:buChar char="•"/>
            </a:pPr>
            <a:r>
              <a:rPr b="0" i="0" lang="en-US" sz="1100" u="none" cap="none" strike="noStrike" noProof="1" dirty="0">
                <a:solidFill>
                  <a:srgbClr val="4B5563"/>
                </a:solidFill>
                <a:latin typeface="Inter"/>
                <a:ea typeface="Inter"/>
                <a:cs typeface="Inter"/>
                <a:sym typeface="Inter"/>
              </a:rPr>
              <a:t xml:space="preserve">Myntra (Maya / MyFashionGPT) — users 3x more likely to purchase through AI </a:t>
            </a:r>
            <a:r>
              <a:rPr lang="en-US" sz="1100" noProof="1" dirty="0">
                <a:solidFill>
                  <a:srgbClr val="4B5563"/>
                </a:solidFill>
                <a:latin typeface="Inter"/>
                <a:ea typeface="Inter"/>
                <a:cs typeface="Inter"/>
                <a:sym typeface="Inter"/>
              </a:rPr>
              <a:t>assistant</a:t>
            </a:r>
            <a:r>
              <a:rPr b="0" i="0" lang="en-US" sz="1100" u="none" cap="none" strike="noStrike" noProof="1" dirty="0">
                <a:solidFill>
                  <a:srgbClr val="4B5563"/>
                </a:solidFill>
                <a:latin typeface="Inter"/>
                <a:ea typeface="Inter"/>
                <a:cs typeface="Inter"/>
                <a:sym typeface="Inter"/>
              </a:rPr>
              <a:t>.</a:t>
            </a:r>
            <a:endParaRPr b="0" i="0" sz="110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4B5563"/>
              </a:buClr>
              <a:buSzPts val="1100"/>
              <a:buFont typeface="Inter"/>
              <a:buChar char="•"/>
            </a:pPr>
            <a:r>
              <a:rPr b="0" i="0" lang="en-US" sz="1100" u="none" cap="none" strike="noStrike" noProof="1" dirty="0">
                <a:solidFill>
                  <a:srgbClr val="4B5563"/>
                </a:solidFill>
                <a:latin typeface="Inter"/>
                <a:ea typeface="Inter"/>
                <a:cs typeface="Inter"/>
                <a:sym typeface="Inter"/>
              </a:rPr>
              <a:t>Meesho (Vaani) — 1.5M users, 22% higher conversion, lower returns</a:t>
            </a:r>
            <a:endParaRPr b="0" i="0" sz="110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4B5563"/>
              </a:buClr>
              <a:buSzPts val="1100"/>
              <a:buFont typeface="Inter"/>
              <a:buChar char="•"/>
            </a:pPr>
            <a:r>
              <a:rPr b="0" i="0" lang="en-US" sz="1100" u="none" cap="none" strike="noStrike" noProof="1" dirty="0">
                <a:solidFill>
                  <a:srgbClr val="4B5563"/>
                </a:solidFill>
                <a:latin typeface="Inter"/>
                <a:ea typeface="Inter"/>
                <a:cs typeface="Inter"/>
                <a:sym typeface="Inter"/>
              </a:rPr>
              <a:t>Flipkart, Ajio, Nykaa — all actively building AI search infrastructure</a:t>
            </a:r>
            <a:endParaRPr b="0" i="0" sz="110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4B5563"/>
              </a:buClr>
              <a:buSzPts val="1100"/>
              <a:buFont typeface="Inter"/>
              <a:buChar char="•"/>
            </a:pPr>
            <a:r>
              <a:rPr b="0" i="0" lang="en-US" sz="1100" u="none" cap="none" strike="noStrike" noProof="1" dirty="0">
                <a:solidFill>
                  <a:srgbClr val="4B5563"/>
                </a:solidFill>
                <a:latin typeface="Inter"/>
                <a:ea typeface="Inter"/>
                <a:cs typeface="Inter"/>
                <a:sym typeface="Inter"/>
              </a:rPr>
              <a:t>Amazon Rufus India — live with 250M shoppers globally, 60% higher purchase likelihood</a:t>
            </a:r>
            <a:endParaRPr b="0" i="0" sz="1100" u="none" cap="none" strike="noStrike">
              <a:solidFill>
                <a:schemeClr val="dk1"/>
              </a:solidFill>
              <a:latin typeface="Calibri"/>
              <a:ea typeface="Calibri"/>
              <a:cs typeface="Calibri"/>
              <a:sym typeface="Calibri"/>
            </a:endParaRPr>
          </a:p>
        </p:txBody>
      </p:sp>
      <p:sp>
        <p:nvSpPr>
          <p:cNvPr id="50" name="Google Shape;50;p5"/>
          <p:cNvSpPr/>
          <p:nvPr/>
        </p:nvSpPr>
        <p:spPr>
          <a:xfrm>
            <a:off x="685800" y="4290785"/>
            <a:ext cx="7772400" cy="640200"/>
          </a:xfrm>
          <a:prstGeom prst="rect">
            <a:avLst/>
          </a:prstGeom>
          <a:solidFill>
            <a:srgbClr val="EFF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noProof="1" lang="en-US" dirty="0"/>
              <a:t/>
            </a:r>
            <a:endParaRPr/>
          </a:p>
        </p:txBody>
      </p:sp>
      <p:sp>
        <p:nvSpPr>
          <p:cNvPr id="51" name="Google Shape;51;p5"/>
          <p:cNvSpPr/>
          <p:nvPr/>
        </p:nvSpPr>
        <p:spPr>
          <a:xfrm>
            <a:off x="814750" y="4382275"/>
            <a:ext cx="7510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1" i="0" lang="en-US" sz="1100" u="none" cap="none" strike="noStrike" noProof="1" dirty="0">
                <a:solidFill>
                  <a:srgbClr val="111827"/>
                </a:solidFill>
                <a:latin typeface="Inter"/>
                <a:ea typeface="Inter"/>
                <a:cs typeface="Inter"/>
                <a:sym typeface="Inter"/>
              </a:rPr>
              <a:t xml:space="preserve">Platform shift: </a:t>
            </a:r>
            <a:r>
              <a:rPr b="0" i="0" lang="en-US" sz="1100" u="none" cap="none" strike="noStrike" noProof="1" dirty="0">
                <a:solidFill>
                  <a:srgbClr val="111827"/>
                </a:solidFill>
                <a:latin typeface="Inter"/>
                <a:ea typeface="Inter"/>
                <a:cs typeface="Inter"/>
                <a:sym typeface="Inter"/>
              </a:rPr>
              <a:t>Walmart, Target, Sephora, Nordstrom, Best Buy, Home Depot, Wayfair, F</a:t>
            </a:r>
            <a:r>
              <a:rPr lang="en-US" sz="1100" noProof="1" dirty="0">
                <a:solidFill>
                  <a:srgbClr val="111827"/>
                </a:solidFill>
                <a:latin typeface="Inter"/>
                <a:ea typeface="Inter"/>
                <a:cs typeface="Inter"/>
                <a:sym typeface="Inter"/>
              </a:rPr>
              <a:t>rasers, Sephora, Etsy, Macy’s</a:t>
            </a:r>
            <a:r>
              <a:rPr b="0" i="0" lang="en-US" sz="1100" u="none" cap="none" strike="noStrike" noProof="1" dirty="0">
                <a:solidFill>
                  <a:srgbClr val="111827"/>
                </a:solidFill>
                <a:latin typeface="Inter"/>
                <a:ea typeface="Inter"/>
                <a:cs typeface="Inter"/>
                <a:sym typeface="Inter"/>
              </a:rPr>
              <a:t xml:space="preserve"> all </a:t>
            </a:r>
            <a:r>
              <a:rPr lang="en-US" sz="1100" noProof="1" dirty="0">
                <a:solidFill>
                  <a:srgbClr val="111827"/>
                </a:solidFill>
                <a:latin typeface="Inter"/>
                <a:ea typeface="Inter"/>
                <a:cs typeface="Inter"/>
                <a:sym typeface="Inter"/>
              </a:rPr>
              <a:t xml:space="preserve">have </a:t>
            </a:r>
            <a:r>
              <a:rPr b="0" i="0" lang="en-US" sz="1100" u="none" cap="none" strike="noStrike" noProof="1" dirty="0">
                <a:solidFill>
                  <a:srgbClr val="111827"/>
                </a:solidFill>
                <a:latin typeface="Inter"/>
                <a:ea typeface="Inter"/>
                <a:cs typeface="Inter"/>
                <a:sym typeface="Inter"/>
              </a:rPr>
              <a:t xml:space="preserve">integrated AI shopping assistants on </a:t>
            </a:r>
            <a:r>
              <a:rPr lang="en-US" sz="1100" noProof="1" dirty="0">
                <a:solidFill>
                  <a:srgbClr val="111827"/>
                </a:solidFill>
                <a:latin typeface="Inter"/>
                <a:ea typeface="Inter"/>
                <a:cs typeface="Inter"/>
                <a:sym typeface="Inter"/>
              </a:rPr>
              <a:t>their websites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6"/>
          <p:cNvSpPr txBox="1"/>
          <p:nvPr/>
        </p:nvSpPr>
        <p:spPr>
          <a:xfrm>
            <a:off x="253350" y="129400"/>
            <a:ext cx="88905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400" noProof="1" dirty="0">
                <a:solidFill>
                  <a:srgbClr val="111827"/>
                </a:solidFill>
                <a:latin typeface="Inter"/>
                <a:ea typeface="Inter"/>
                <a:cs typeface="Inter"/>
                <a:sym typeface="Inter"/>
              </a:rPr>
              <a:t>The gap in e-comm search today - s</a:t>
            </a:r>
            <a:r>
              <a:rPr b="1" lang="en-US" sz="2400" noProof="1" dirty="0">
                <a:solidFill>
                  <a:srgbClr val="111827"/>
                </a:solidFill>
                <a:latin typeface="Inter"/>
                <a:ea typeface="Inter"/>
                <a:cs typeface="Inter"/>
                <a:sym typeface="Inter"/>
              </a:rPr>
              <a:t>hoppers think in problems and intents, search engines think in keywords.</a:t>
            </a:r>
            <a:endParaRPr sz="2400">
              <a:solidFill>
                <a:schemeClr val="dk1"/>
              </a:solidFill>
              <a:latin typeface="Calibri"/>
              <a:ea typeface="Calibri"/>
              <a:cs typeface="Calibri"/>
              <a:sym typeface="Calibri"/>
            </a:endParaRPr>
          </a:p>
        </p:txBody>
      </p:sp>
      <p:sp>
        <p:nvSpPr>
          <p:cNvPr id="58" name="Google Shape;58;p6"/>
          <p:cNvSpPr txBox="1"/>
          <p:nvPr/>
        </p:nvSpPr>
        <p:spPr>
          <a:xfrm>
            <a:off x="253350" y="1204000"/>
            <a:ext cx="8637300" cy="370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100" noProof="1" dirty="0">
                <a:solidFill>
                  <a:srgbClr val="4B5563"/>
                </a:solidFill>
                <a:latin typeface="Inter"/>
                <a:ea typeface="Inter"/>
                <a:cs typeface="Inter"/>
                <a:sym typeface="Inter"/>
              </a:rPr>
              <a:t xml:space="preserve">The current search bar on your e-commerce website needs the right keywords. It does not understand human language, it cannot match scarf and dupatta, it cannot link “Jaipur in May” to summer and summer to cotton, it cannot match a white sofa for a living room to white curtains. </a:t>
            </a:r>
            <a:endParaRPr sz="1100">
              <a:solidFill>
                <a:srgbClr val="4B5563"/>
              </a:solidFill>
              <a:latin typeface="Inter"/>
              <a:ea typeface="Inter"/>
              <a:cs typeface="Inter"/>
              <a:sym typeface="Inter"/>
            </a:endParaRPr>
          </a:p>
          <a:p>
            <a:pPr indent="0" lvl="0" marL="0" rtl="0" algn="l">
              <a:spcBef>
                <a:spcPts val="0"/>
              </a:spcBef>
              <a:spcAft>
                <a:spcPts val="0"/>
              </a:spcAft>
              <a:buNone/>
            </a:pPr>
            <a:r>
              <a:rPr noProof="1" lang="en-US" dirty="0"/>
              <a:t/>
            </a:r>
            <a:endParaRPr sz="1100">
              <a:solidFill>
                <a:srgbClr val="4B5563"/>
              </a:solidFill>
              <a:latin typeface="Inter"/>
              <a:ea typeface="Inter"/>
              <a:cs typeface="Inter"/>
              <a:sym typeface="Inter"/>
            </a:endParaRPr>
          </a:p>
          <a:p>
            <a:pPr indent="0" lvl="0" marL="0" rtl="0" algn="l">
              <a:spcBef>
                <a:spcPts val="0"/>
              </a:spcBef>
              <a:spcAft>
                <a:spcPts val="0"/>
              </a:spcAft>
              <a:buNone/>
            </a:pPr>
            <a:r>
              <a:rPr lang="en-US" sz="1100" noProof="1" dirty="0">
                <a:solidFill>
                  <a:srgbClr val="4B5563"/>
                </a:solidFill>
                <a:latin typeface="Inter"/>
                <a:ea typeface="Inter"/>
                <a:cs typeface="Inter"/>
                <a:sym typeface="Inter"/>
              </a:rPr>
              <a:t xml:space="preserve">But shoppers today do not shop using keywords </a:t>
            </a:r>
            <a:r>
              <a:rPr lang="en-US" sz="1100" noProof="1" dirty="0">
                <a:solidFill>
                  <a:srgbClr val="4B5563"/>
                </a:solidFill>
                <a:latin typeface="Inter"/>
                <a:ea typeface="Inter"/>
                <a:cs typeface="Inter"/>
                <a:sym typeface="Inter"/>
              </a:rPr>
              <a:t>such as “padded shoes” or “blazer”</a:t>
            </a:r>
            <a:r>
              <a:rPr lang="en-US" sz="1100" noProof="1" dirty="0">
                <a:solidFill>
                  <a:srgbClr val="4B5563"/>
                </a:solidFill>
                <a:latin typeface="Inter"/>
                <a:ea typeface="Inter"/>
                <a:cs typeface="Inter"/>
                <a:sym typeface="Inter"/>
              </a:rPr>
              <a:t xml:space="preserve">, they shop by problems such as “foot pain” or intents such as “for an office party” or “for a wedding in India in May”.  </a:t>
            </a:r>
            <a:endParaRPr sz="1100">
              <a:solidFill>
                <a:srgbClr val="4B5563"/>
              </a:solidFill>
              <a:latin typeface="Inter"/>
              <a:ea typeface="Inter"/>
              <a:cs typeface="Inter"/>
              <a:sym typeface="Inter"/>
            </a:endParaRPr>
          </a:p>
          <a:p>
            <a:pPr indent="0" lvl="0" marL="0" rtl="0" algn="l">
              <a:spcBef>
                <a:spcPts val="0"/>
              </a:spcBef>
              <a:spcAft>
                <a:spcPts val="0"/>
              </a:spcAft>
              <a:buNone/>
            </a:pPr>
            <a:r>
              <a:rPr noProof="1" lang="en-US" dirty="0"/>
              <a:t/>
            </a:r>
            <a:endParaRPr sz="1100">
              <a:solidFill>
                <a:srgbClr val="4B5563"/>
              </a:solidFill>
              <a:latin typeface="Inter"/>
              <a:ea typeface="Inter"/>
              <a:cs typeface="Inter"/>
              <a:sym typeface="Inter"/>
            </a:endParaRPr>
          </a:p>
          <a:p>
            <a:pPr indent="0" lvl="0" marL="0" rtl="0" algn="l">
              <a:spcBef>
                <a:spcPts val="0"/>
              </a:spcBef>
              <a:spcAft>
                <a:spcPts val="0"/>
              </a:spcAft>
              <a:buNone/>
            </a:pPr>
            <a:r>
              <a:rPr lang="en-US" sz="1100" noProof="1" dirty="0">
                <a:solidFill>
                  <a:srgbClr val="4B5563"/>
                </a:solidFill>
                <a:latin typeface="Inter"/>
                <a:ea typeface="Inter"/>
                <a:cs typeface="Inter"/>
                <a:sym typeface="Inter"/>
              </a:rPr>
              <a:t xml:space="preserve">What is happening is, even if your catalog has all the relevant products, these products are invisible to your buyer. 43% of site visitors go straight to search, &gt;50% use intent to search today over keywords and ~68% leave after a failed search result                                                                                                     </a:t>
            </a:r>
            <a:endParaRPr sz="1100">
              <a:solidFill>
                <a:srgbClr val="4B5563"/>
              </a:solidFill>
              <a:latin typeface="Inter"/>
              <a:ea typeface="Inter"/>
              <a:cs typeface="Inter"/>
              <a:sym typeface="Inter"/>
            </a:endParaRPr>
          </a:p>
          <a:p>
            <a:pPr indent="0" lvl="0" marL="0" rtl="0" algn="l">
              <a:spcBef>
                <a:spcPts val="0"/>
              </a:spcBef>
              <a:spcAft>
                <a:spcPts val="0"/>
              </a:spcAft>
              <a:buNone/>
            </a:pPr>
            <a:r>
              <a:rPr lang="en-US" sz="1100" noProof="1" dirty="0">
                <a:solidFill>
                  <a:srgbClr val="4B5563"/>
                </a:solidFill>
                <a:latin typeface="Inter"/>
                <a:ea typeface="Inter"/>
                <a:cs typeface="Inter"/>
                <a:sym typeface="Inter"/>
              </a:rPr>
              <a:t xml:space="preserve">                  </a:t>
            </a:r>
            <a:endParaRPr sz="1100">
              <a:solidFill>
                <a:srgbClr val="4B5563"/>
              </a:solidFill>
              <a:latin typeface="Inter"/>
              <a:ea typeface="Inter"/>
              <a:cs typeface="Inter"/>
              <a:sym typeface="Inter"/>
            </a:endParaRPr>
          </a:p>
          <a:p>
            <a:pPr indent="0" lvl="0" marL="0" rtl="0" algn="l">
              <a:spcBef>
                <a:spcPts val="0"/>
              </a:spcBef>
              <a:spcAft>
                <a:spcPts val="0"/>
              </a:spcAft>
              <a:buNone/>
            </a:pPr>
            <a:r>
              <a:rPr lang="en-US" sz="1100" noProof="1" dirty="0">
                <a:solidFill>
                  <a:srgbClr val="4B5563"/>
                </a:solidFill>
                <a:latin typeface="Inter"/>
                <a:ea typeface="Inter"/>
                <a:cs typeface="Inter"/>
                <a:sym typeface="Inter"/>
              </a:rPr>
              <a:t xml:space="preserve">                                                                                                                                                                                                                  </a:t>
            </a:r>
            <a:endParaRPr sz="1100">
              <a:solidFill>
                <a:srgbClr val="4B5563"/>
              </a:solidFill>
              <a:latin typeface="Inter"/>
              <a:ea typeface="Inter"/>
              <a:cs typeface="Inter"/>
              <a:sym typeface="Inter"/>
            </a:endParaRPr>
          </a:p>
          <a:p>
            <a:pPr indent="0" lvl="0" marL="0" rtl="0" algn="l">
              <a:spcBef>
                <a:spcPts val="0"/>
              </a:spcBef>
              <a:spcAft>
                <a:spcPts val="0"/>
              </a:spcAft>
              <a:buNone/>
            </a:pPr>
            <a:r>
              <a:rPr lang="en-US" sz="1100" noProof="1" dirty="0">
                <a:solidFill>
                  <a:srgbClr val="4B5563"/>
                </a:solidFill>
                <a:latin typeface="Inter"/>
                <a:ea typeface="Inter"/>
                <a:cs typeface="Inter"/>
                <a:sym typeface="Inter"/>
              </a:rPr>
              <a:t xml:space="preserve">      </a:t>
            </a:r>
            <a:endParaRPr sz="1100">
              <a:solidFill>
                <a:srgbClr val="4B5563"/>
              </a:solidFill>
              <a:latin typeface="Inter"/>
              <a:ea typeface="Inter"/>
              <a:cs typeface="Inter"/>
              <a:sym typeface="Inter"/>
            </a:endParaRPr>
          </a:p>
          <a:p>
            <a:pPr indent="0" lvl="0" marL="0" rtl="0" algn="l">
              <a:spcBef>
                <a:spcPts val="0"/>
              </a:spcBef>
              <a:spcAft>
                <a:spcPts val="0"/>
              </a:spcAft>
              <a:buNone/>
            </a:pPr>
            <a:r>
              <a:rPr noProof="1" lang="en-US" dirty="0"/>
              <a:t/>
            </a:r>
            <a:endParaRPr sz="1100">
              <a:solidFill>
                <a:srgbClr val="4B5563"/>
              </a:solidFill>
              <a:latin typeface="Inter"/>
              <a:ea typeface="Inter"/>
              <a:cs typeface="Inter"/>
              <a:sym typeface="Inter"/>
            </a:endParaRPr>
          </a:p>
          <a:p>
            <a:pPr indent="0" lvl="0" marL="0" rtl="0" algn="l">
              <a:spcBef>
                <a:spcPts val="0"/>
              </a:spcBef>
              <a:spcAft>
                <a:spcPts val="0"/>
              </a:spcAft>
              <a:buNone/>
            </a:pPr>
            <a:r>
              <a:rPr noProof="1" lang="en-US" dirty="0"/>
              <a:t/>
            </a:r>
            <a:endParaRPr sz="1100">
              <a:solidFill>
                <a:srgbClr val="4B5563"/>
              </a:solidFill>
              <a:latin typeface="Inter"/>
              <a:ea typeface="Inter"/>
              <a:cs typeface="Inter"/>
              <a:sym typeface="Inter"/>
            </a:endParaRPr>
          </a:p>
          <a:p>
            <a:pPr indent="0" lvl="0" marL="0" rtl="0" algn="l">
              <a:spcBef>
                <a:spcPts val="0"/>
              </a:spcBef>
              <a:spcAft>
                <a:spcPts val="0"/>
              </a:spcAft>
              <a:buNone/>
            </a:pPr>
            <a:r>
              <a:rPr lang="en-US" sz="1100" noProof="1" dirty="0">
                <a:solidFill>
                  <a:srgbClr val="4B5563"/>
                </a:solidFill>
                <a:latin typeface="Inter"/>
                <a:ea typeface="Inter"/>
                <a:cs typeface="Inter"/>
                <a:sym typeface="Inter"/>
              </a:rPr>
              <a:t xml:space="preserve">         </a:t>
            </a:r>
            <a:endParaRPr sz="1100">
              <a:solidFill>
                <a:srgbClr val="4B5563"/>
              </a:solidFill>
              <a:latin typeface="Inter"/>
              <a:ea typeface="Inter"/>
              <a:cs typeface="Inter"/>
              <a:sym typeface="Inter"/>
            </a:endParaRPr>
          </a:p>
          <a:p>
            <a:pPr indent="0" lvl="0" marL="0" rtl="0" algn="l">
              <a:spcBef>
                <a:spcPts val="0"/>
              </a:spcBef>
              <a:spcAft>
                <a:spcPts val="0"/>
              </a:spcAft>
              <a:buNone/>
            </a:pPr>
            <a:r>
              <a:rPr noProof="1" lang="en-US" dirty="0"/>
              <a:t/>
            </a:r>
            <a:endParaRPr sz="1100">
              <a:solidFill>
                <a:srgbClr val="4B5563"/>
              </a:solidFill>
              <a:latin typeface="Inter"/>
              <a:ea typeface="Inter"/>
              <a:cs typeface="Inter"/>
              <a:sym typeface="Inter"/>
            </a:endParaRPr>
          </a:p>
          <a:p>
            <a:pPr indent="0" lvl="0" marL="0" rtl="0" algn="l">
              <a:spcBef>
                <a:spcPts val="0"/>
              </a:spcBef>
              <a:spcAft>
                <a:spcPts val="0"/>
              </a:spcAft>
              <a:buNone/>
            </a:pPr>
            <a:r>
              <a:rPr noProof="1" lang="en-US" dirty="0"/>
              <a:t/>
            </a:r>
            <a:endParaRPr sz="1100">
              <a:solidFill>
                <a:srgbClr val="4B5563"/>
              </a:solidFill>
              <a:latin typeface="Inter"/>
              <a:ea typeface="Inter"/>
              <a:cs typeface="Inter"/>
              <a:sym typeface="Inter"/>
            </a:endParaRPr>
          </a:p>
          <a:p>
            <a:pPr indent="0" lvl="0" marL="0" rtl="0" algn="l">
              <a:spcBef>
                <a:spcPts val="0"/>
              </a:spcBef>
              <a:spcAft>
                <a:spcPts val="0"/>
              </a:spcAft>
              <a:buNone/>
            </a:pPr>
            <a:r>
              <a:rPr lang="en-US" sz="1100" noProof="1" dirty="0">
                <a:solidFill>
                  <a:srgbClr val="4B5563"/>
                </a:solidFill>
                <a:latin typeface="Inter"/>
                <a:ea typeface="Inter"/>
                <a:cs typeface="Inter"/>
                <a:sym typeface="Inter"/>
              </a:rPr>
              <a:t>What an AI Shopping Assistant changes :  “I need shoes under 200$ for myself, size 6 and I have knee pain”</a:t>
            </a:r>
            <a:endParaRPr sz="1100">
              <a:solidFill>
                <a:srgbClr val="4B5563"/>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rPr lang="en-US" sz="1100" noProof="1" dirty="0">
                <a:solidFill>
                  <a:srgbClr val="4B5563"/>
                </a:solidFill>
                <a:latin typeface="Inter"/>
                <a:ea typeface="Inter"/>
                <a:cs typeface="Inter"/>
                <a:sym typeface="Inter"/>
              </a:rPr>
              <a:t>An AI shopping assistant powered by a knowledge graph understands intent + constraints + context, it maps knee pain to : rocker bottom soles,  lower heel-to-toe drop and return relevant shoes from the catalog - exactly what the shopper means and wants, not just what they typed.</a:t>
            </a:r>
            <a:endParaRPr sz="1100">
              <a:solidFill>
                <a:srgbClr val="4B5563"/>
              </a:solidFill>
              <a:latin typeface="Inter"/>
              <a:ea typeface="Inter"/>
              <a:cs typeface="Inter"/>
              <a:sym typeface="Inter"/>
            </a:endParaRPr>
          </a:p>
          <a:p>
            <a:pPr indent="0" lvl="0" marL="0" rtl="0" algn="l">
              <a:spcBef>
                <a:spcPts val="0"/>
              </a:spcBef>
              <a:spcAft>
                <a:spcPts val="0"/>
              </a:spcAft>
              <a:buNone/>
            </a:pPr>
            <a:r>
              <a:rPr noProof="1" lang="en-US" dirty="0"/>
              <a:t/>
            </a:r>
            <a:endParaRPr sz="1100">
              <a:solidFill>
                <a:srgbClr val="4B5563"/>
              </a:solidFill>
              <a:latin typeface="Inter"/>
              <a:ea typeface="Inter"/>
              <a:cs typeface="Inter"/>
              <a:sym typeface="Inter"/>
            </a:endParaRPr>
          </a:p>
          <a:p>
            <a:pPr indent="0" lvl="0" marL="0" rtl="0" algn="l">
              <a:spcBef>
                <a:spcPts val="0"/>
              </a:spcBef>
              <a:spcAft>
                <a:spcPts val="0"/>
              </a:spcAft>
              <a:buNone/>
            </a:pPr>
            <a:r>
              <a:rPr lang="en-US" sz="1100" noProof="1" dirty="0">
                <a:solidFill>
                  <a:srgbClr val="4B5563"/>
                </a:solidFill>
                <a:latin typeface="Inter"/>
                <a:ea typeface="Inter"/>
                <a:cs typeface="Inter"/>
                <a:sym typeface="Inter"/>
              </a:rPr>
              <a:t xml:space="preserve">   </a:t>
            </a:r>
            <a:r>
              <a:rPr lang="en-US" sz="1100" noProof="1" dirty="0">
                <a:solidFill>
                  <a:srgbClr val="4B5563"/>
                </a:solidFill>
                <a:latin typeface="Inter"/>
                <a:ea typeface="Inter"/>
                <a:cs typeface="Inter"/>
                <a:sym typeface="Inter"/>
              </a:rPr>
              <a:t xml:space="preserve">                                                                                                                                                                                                                                                                                                                                </a:t>
            </a:r>
            <a:endParaRPr sz="1100">
              <a:solidFill>
                <a:srgbClr val="4B5563"/>
              </a:solidFill>
              <a:latin typeface="Inter"/>
              <a:ea typeface="Inter"/>
              <a:cs typeface="Inter"/>
              <a:sym typeface="Inter"/>
            </a:endParaRPr>
          </a:p>
          <a:p>
            <a:pPr indent="0" lvl="0" marL="0" rtl="0" algn="l">
              <a:spcBef>
                <a:spcPts val="0"/>
              </a:spcBef>
              <a:spcAft>
                <a:spcPts val="0"/>
              </a:spcAft>
              <a:buNone/>
            </a:pPr>
            <a:r>
              <a:rPr lang="en-US" sz="1100" noProof="1" dirty="0">
                <a:solidFill>
                  <a:srgbClr val="4B5563"/>
                </a:solidFill>
                <a:latin typeface="Inter"/>
                <a:ea typeface="Inter"/>
                <a:cs typeface="Inter"/>
                <a:sym typeface="Inter"/>
              </a:rPr>
              <a:t xml:space="preserve">                                                                                                                                                                                                                                                                                                                                                                                                                                      </a:t>
            </a:r>
            <a:endParaRPr sz="1100">
              <a:solidFill>
                <a:srgbClr val="4B5563"/>
              </a:solidFill>
              <a:latin typeface="Inter"/>
              <a:ea typeface="Inter"/>
              <a:cs typeface="Inter"/>
              <a:sym typeface="Inter"/>
            </a:endParaRPr>
          </a:p>
        </p:txBody>
      </p:sp>
      <p:pic>
        <p:nvPicPr>
          <p:cNvPr id="59" name="Google Shape;59;p6" title="Screenshot 2026-04-14 at 9.08.05 PM.png"/>
          <p:cNvPicPr preferRelativeResize="0"/>
          <p:nvPr/>
        </p:nvPicPr>
        <p:blipFill>
          <a:blip r:embed="rId3">
            <a:alphaModFix/>
          </a:blip>
          <a:stretch>
            <a:fillRect/>
          </a:stretch>
        </p:blipFill>
        <p:spPr>
          <a:xfrm>
            <a:off x="2471075" y="2881125"/>
            <a:ext cx="4455051" cy="10314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 name="Shape 64"/>
        <p:cNvGrpSpPr/>
        <p:nvPr/>
      </p:nvGrpSpPr>
      <p:grpSpPr>
        <a:xfrm>
          <a:off x="0" y="0"/>
          <a:ext cx="0" cy="0"/>
          <a:chOff x="0" y="0"/>
          <a:chExt cx="0" cy="0"/>
        </a:xfrm>
      </p:grpSpPr>
      <p:sp>
        <p:nvSpPr>
          <p:cNvPr id="65" name="Google Shape;65;p7"/>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noProof="1" lang="en-US" dirty="0"/>
              <a:t/>
            </a:r>
            <a:endParaRPr/>
          </a:p>
        </p:txBody>
      </p:sp>
      <p:sp>
        <p:nvSpPr>
          <p:cNvPr id="66" name="Google Shape;66;p7"/>
          <p:cNvSpPr/>
          <p:nvPr/>
        </p:nvSpPr>
        <p:spPr>
          <a:xfrm>
            <a:off x="685800" y="365750"/>
            <a:ext cx="80817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800"/>
              <a:buFont typeface="Inter"/>
              <a:buNone/>
            </a:pPr>
            <a:r>
              <a:rPr b="1" i="0" lang="en-US" sz="2600" u="none" cap="none" strike="noStrike" noProof="1" dirty="0">
                <a:solidFill>
                  <a:srgbClr val="111827"/>
                </a:solidFill>
                <a:latin typeface="Inter"/>
                <a:ea typeface="Inter"/>
                <a:cs typeface="Inter"/>
                <a:sym typeface="Inter"/>
              </a:rPr>
              <a:t>Why this gap exists — three structural challenges</a:t>
            </a:r>
            <a:endParaRPr b="0" i="0" sz="2600" u="none" cap="none" strike="noStrike">
              <a:solidFill>
                <a:schemeClr val="dk1"/>
              </a:solidFill>
              <a:latin typeface="Calibri"/>
              <a:ea typeface="Calibri"/>
              <a:cs typeface="Calibri"/>
              <a:sym typeface="Calibri"/>
            </a:endParaRPr>
          </a:p>
        </p:txBody>
      </p:sp>
      <p:sp>
        <p:nvSpPr>
          <p:cNvPr id="67" name="Google Shape;67;p7"/>
          <p:cNvSpPr/>
          <p:nvPr/>
        </p:nvSpPr>
        <p:spPr>
          <a:xfrm>
            <a:off x="685800" y="1051560"/>
            <a:ext cx="320040" cy="320040"/>
          </a:xfrm>
          <a:prstGeom prst="ellipse">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noProof="1" lang="en-US" dirty="0"/>
              <a:t/>
            </a:r>
            <a:endParaRPr/>
          </a:p>
        </p:txBody>
      </p:sp>
      <p:sp>
        <p:nvSpPr>
          <p:cNvPr id="68" name="Google Shape;68;p7"/>
          <p:cNvSpPr/>
          <p:nvPr/>
        </p:nvSpPr>
        <p:spPr>
          <a:xfrm>
            <a:off x="685800" y="1051560"/>
            <a:ext cx="3200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Inter"/>
              <a:buNone/>
            </a:pPr>
            <a:r>
              <a:rPr b="1" i="0" lang="en-US" sz="1400" u="none" cap="none" strike="noStrike" noProof="1" dirty="0">
                <a:solidFill>
                  <a:srgbClr val="FFFFFF"/>
                </a:solidFill>
                <a:latin typeface="Inter"/>
                <a:ea typeface="Inter"/>
                <a:cs typeface="Inter"/>
                <a:sym typeface="Inter"/>
              </a:rPr>
              <a:t>1</a:t>
            </a:r>
            <a:endParaRPr b="0" i="0" sz="1400" u="none" cap="none" strike="noStrike">
              <a:solidFill>
                <a:schemeClr val="dk1"/>
              </a:solidFill>
              <a:latin typeface="Calibri"/>
              <a:ea typeface="Calibri"/>
              <a:cs typeface="Calibri"/>
              <a:sym typeface="Calibri"/>
            </a:endParaRPr>
          </a:p>
        </p:txBody>
      </p:sp>
      <p:sp>
        <p:nvSpPr>
          <p:cNvPr id="69" name="Google Shape;69;p7"/>
          <p:cNvSpPr/>
          <p:nvPr/>
        </p:nvSpPr>
        <p:spPr>
          <a:xfrm>
            <a:off x="1143000" y="1041875"/>
            <a:ext cx="77649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600"/>
              <a:buFont typeface="Inter"/>
              <a:buNone/>
            </a:pPr>
            <a:r>
              <a:rPr b="1" i="0" lang="en-US" sz="1600" u="none" cap="none" strike="noStrike" noProof="1" dirty="0">
                <a:solidFill>
                  <a:srgbClr val="111827"/>
                </a:solidFill>
                <a:latin typeface="Inter"/>
                <a:ea typeface="Inter"/>
                <a:cs typeface="Inter"/>
                <a:sym typeface="Inter"/>
              </a:rPr>
              <a:t>Catalogs need normalization, tagging and enr</a:t>
            </a:r>
            <a:r>
              <a:rPr b="1" lang="en-US" sz="1600" noProof="1" dirty="0">
                <a:solidFill>
                  <a:srgbClr val="111827"/>
                </a:solidFill>
                <a:latin typeface="Inter"/>
                <a:ea typeface="Inter"/>
                <a:cs typeface="Inter"/>
                <a:sym typeface="Inter"/>
              </a:rPr>
              <a:t>ichment to be AI agent readable</a:t>
            </a:r>
            <a:endParaRPr b="0" i="0" sz="1600" u="none" cap="none" strike="noStrike">
              <a:solidFill>
                <a:schemeClr val="dk1"/>
              </a:solidFill>
              <a:latin typeface="Calibri"/>
              <a:ea typeface="Calibri"/>
              <a:cs typeface="Calibri"/>
              <a:sym typeface="Calibri"/>
            </a:endParaRPr>
          </a:p>
        </p:txBody>
      </p:sp>
      <p:sp>
        <p:nvSpPr>
          <p:cNvPr id="70" name="Google Shape;70;p7"/>
          <p:cNvSpPr/>
          <p:nvPr/>
        </p:nvSpPr>
        <p:spPr>
          <a:xfrm>
            <a:off x="1005850" y="1438351"/>
            <a:ext cx="8081700" cy="41790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4B5563"/>
              </a:buClr>
              <a:buSzPts val="1100"/>
              <a:buFont typeface="Inter"/>
              <a:buChar char="•"/>
            </a:pPr>
            <a:r>
              <a:rPr lang="en-US" sz="1100" noProof="1" dirty="0">
                <a:solidFill>
                  <a:srgbClr val="4B5563"/>
                </a:solidFill>
                <a:latin typeface="Inter"/>
                <a:ea typeface="Inter"/>
                <a:cs typeface="Inter"/>
                <a:sym typeface="Inter"/>
              </a:rPr>
              <a:t>AI agents waste millions of tokens to understand d</a:t>
            </a:r>
            <a:r>
              <a:rPr b="0" i="0" lang="en-US" sz="1100" u="none" cap="none" strike="noStrike" noProof="1" dirty="0">
                <a:solidFill>
                  <a:srgbClr val="4B5563"/>
                </a:solidFill>
                <a:latin typeface="Inter"/>
                <a:ea typeface="Inter"/>
                <a:cs typeface="Inter"/>
                <a:sym typeface="Inter"/>
              </a:rPr>
              <a:t xml:space="preserve">ifferent merchants </a:t>
            </a:r>
            <a:r>
              <a:rPr lang="en-US" sz="1100" noProof="1" dirty="0">
                <a:solidFill>
                  <a:srgbClr val="4B5563"/>
                </a:solidFill>
                <a:latin typeface="Inter"/>
                <a:ea typeface="Inter"/>
                <a:cs typeface="Inter"/>
                <a:sym typeface="Inter"/>
              </a:rPr>
              <a:t xml:space="preserve">schemas </a:t>
            </a:r>
            <a:r>
              <a:rPr b="0" i="0" lang="en-US" sz="1100" u="none" cap="none" strike="noStrike" noProof="1" dirty="0">
                <a:solidFill>
                  <a:srgbClr val="4B5563"/>
                </a:solidFill>
                <a:latin typeface="Inter"/>
                <a:ea typeface="Inter"/>
                <a:cs typeface="Inter"/>
                <a:sym typeface="Inter"/>
              </a:rPr>
              <a:t>(fabric vs material</a:t>
            </a:r>
            <a:r>
              <a:rPr lang="en-US" sz="1100" noProof="1" dirty="0">
                <a:solidFill>
                  <a:srgbClr val="4B5563"/>
                </a:solidFill>
                <a:latin typeface="Inter"/>
                <a:ea typeface="Inter"/>
                <a:cs typeface="Inter"/>
                <a:sym typeface="Inter"/>
              </a:rPr>
              <a:t>, product vs type</a:t>
            </a:r>
            <a:r>
              <a:rPr b="0" i="0" lang="en-US" sz="1100" u="none" cap="none" strike="noStrike" noProof="1" dirty="0">
                <a:solidFill>
                  <a:srgbClr val="4B5563"/>
                </a:solidFill>
                <a:latin typeface="Inter"/>
                <a:ea typeface="Inter"/>
                <a:cs typeface="Inter"/>
                <a:sym typeface="Inter"/>
              </a:rPr>
              <a:t xml:space="preserve">)  </a:t>
            </a:r>
            <a:endParaRPr b="0" i="0" sz="11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4B5563"/>
              </a:buClr>
              <a:buSzPts val="1100"/>
              <a:buFont typeface="Inter"/>
              <a:buChar char="•"/>
            </a:pPr>
            <a:r>
              <a:rPr b="0" i="0" lang="en-US" sz="1100" u="none" cap="none" strike="noStrike" noProof="1" dirty="0">
                <a:solidFill>
                  <a:srgbClr val="4B5563"/>
                </a:solidFill>
                <a:latin typeface="Inter"/>
                <a:ea typeface="Inter"/>
                <a:cs typeface="Inter"/>
                <a:sym typeface="Inter"/>
              </a:rPr>
              <a:t xml:space="preserve">Catalogs today don't expose attributes such as fit/cut and tags </a:t>
            </a:r>
            <a:r>
              <a:rPr lang="en-US" sz="1100" noProof="1" dirty="0">
                <a:solidFill>
                  <a:srgbClr val="4B5563"/>
                </a:solidFill>
                <a:latin typeface="Inter"/>
                <a:ea typeface="Inter"/>
                <a:cs typeface="Inter"/>
                <a:sym typeface="Inter"/>
              </a:rPr>
              <a:t>such as “summer” or “running” which an AI agent needs to map intent such as “outfit for pear shaped body”  to “aline kurta” or “for a marathon” to “running shoes”.</a:t>
            </a:r>
            <a:endParaRPr b="0" i="0" sz="1100" u="none" cap="none" strike="noStrike">
              <a:solidFill>
                <a:schemeClr val="dk1"/>
              </a:solidFill>
              <a:latin typeface="Calibri"/>
              <a:ea typeface="Calibri"/>
              <a:cs typeface="Calibri"/>
              <a:sym typeface="Calibri"/>
            </a:endParaRPr>
          </a:p>
        </p:txBody>
      </p:sp>
      <p:sp>
        <p:nvSpPr>
          <p:cNvPr id="71" name="Google Shape;71;p7"/>
          <p:cNvSpPr/>
          <p:nvPr/>
        </p:nvSpPr>
        <p:spPr>
          <a:xfrm>
            <a:off x="1143000" y="2002558"/>
            <a:ext cx="73152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000"/>
              <a:buFont typeface="Inter"/>
              <a:buNone/>
            </a:pPr>
            <a:r>
              <a:rPr b="0" i="1" lang="en-US" sz="1000" u="none" cap="none" strike="noStrike" noProof="1" dirty="0">
                <a:solidFill>
                  <a:srgbClr val="9CA3AF"/>
                </a:solidFill>
                <a:latin typeface="Inter"/>
                <a:ea typeface="Inter"/>
                <a:cs typeface="Inter"/>
                <a:sym typeface="Inter"/>
              </a:rPr>
              <a:t>e.g. “mixer grinder 750 watt” returns only 1 result on tatacliq.com despite 40 mixers in catalog — the engine can’t bridge “mixer” to “mixer grinder”</a:t>
            </a:r>
            <a:endParaRPr b="0" i="0" sz="1000" u="none" cap="none" strike="noStrike">
              <a:solidFill>
                <a:schemeClr val="dk1"/>
              </a:solidFill>
              <a:latin typeface="Calibri"/>
              <a:ea typeface="Calibri"/>
              <a:cs typeface="Calibri"/>
              <a:sym typeface="Calibri"/>
            </a:endParaRPr>
          </a:p>
        </p:txBody>
      </p:sp>
      <p:sp>
        <p:nvSpPr>
          <p:cNvPr id="72" name="Google Shape;72;p7"/>
          <p:cNvSpPr/>
          <p:nvPr/>
        </p:nvSpPr>
        <p:spPr>
          <a:xfrm>
            <a:off x="685800" y="2377440"/>
            <a:ext cx="320040" cy="320040"/>
          </a:xfrm>
          <a:prstGeom prst="ellipse">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noProof="1" lang="en-US" dirty="0"/>
              <a:t/>
            </a:r>
            <a:endParaRPr/>
          </a:p>
        </p:txBody>
      </p:sp>
      <p:sp>
        <p:nvSpPr>
          <p:cNvPr id="73" name="Google Shape;73;p7"/>
          <p:cNvSpPr/>
          <p:nvPr/>
        </p:nvSpPr>
        <p:spPr>
          <a:xfrm>
            <a:off x="685800" y="2377440"/>
            <a:ext cx="3200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Inter"/>
              <a:buNone/>
            </a:pPr>
            <a:r>
              <a:rPr b="1" i="0" lang="en-US" sz="1400" u="none" cap="none" strike="noStrike" noProof="1" dirty="0">
                <a:solidFill>
                  <a:srgbClr val="FFFFFF"/>
                </a:solidFill>
                <a:latin typeface="Inter"/>
                <a:ea typeface="Inter"/>
                <a:cs typeface="Inter"/>
                <a:sym typeface="Inter"/>
              </a:rPr>
              <a:t>2</a:t>
            </a:r>
            <a:endParaRPr b="0" i="0" sz="1400" u="none" cap="none" strike="noStrike">
              <a:solidFill>
                <a:schemeClr val="dk1"/>
              </a:solidFill>
              <a:latin typeface="Calibri"/>
              <a:ea typeface="Calibri"/>
              <a:cs typeface="Calibri"/>
              <a:sym typeface="Calibri"/>
            </a:endParaRPr>
          </a:p>
        </p:txBody>
      </p:sp>
      <p:sp>
        <p:nvSpPr>
          <p:cNvPr id="74" name="Google Shape;74;p7"/>
          <p:cNvSpPr/>
          <p:nvPr/>
        </p:nvSpPr>
        <p:spPr>
          <a:xfrm>
            <a:off x="1143000" y="2377375"/>
            <a:ext cx="7527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600"/>
              <a:buFont typeface="Inter"/>
              <a:buNone/>
            </a:pPr>
            <a:r>
              <a:rPr b="1" lang="en-US" sz="1600" noProof="1" dirty="0">
                <a:solidFill>
                  <a:srgbClr val="111827"/>
                </a:solidFill>
                <a:latin typeface="Inter"/>
                <a:ea typeface="Inter"/>
                <a:cs typeface="Inter"/>
                <a:sym typeface="Inter"/>
              </a:rPr>
              <a:t>Conversational s</a:t>
            </a:r>
            <a:r>
              <a:rPr b="1" i="0" lang="en-US" sz="1600" u="none" cap="none" strike="noStrike" noProof="1" dirty="0">
                <a:solidFill>
                  <a:srgbClr val="111827"/>
                </a:solidFill>
                <a:latin typeface="Inter"/>
                <a:ea typeface="Inter"/>
                <a:cs typeface="Inter"/>
                <a:sym typeface="Inter"/>
              </a:rPr>
              <a:t xml:space="preserve">earch needs a knowledge graph </a:t>
            </a:r>
            <a:r>
              <a:rPr b="1" lang="en-US" sz="1600" noProof="1" dirty="0">
                <a:solidFill>
                  <a:srgbClr val="111827"/>
                </a:solidFill>
                <a:latin typeface="Inter"/>
                <a:ea typeface="Inter"/>
                <a:cs typeface="Inter"/>
                <a:sym typeface="Inter"/>
              </a:rPr>
              <a:t>to map intent to keywords</a:t>
            </a:r>
            <a:endParaRPr b="0" i="0" sz="1600" u="none" cap="none" strike="noStrike">
              <a:solidFill>
                <a:schemeClr val="dk1"/>
              </a:solidFill>
              <a:latin typeface="Calibri"/>
              <a:ea typeface="Calibri"/>
              <a:cs typeface="Calibri"/>
              <a:sym typeface="Calibri"/>
            </a:endParaRPr>
          </a:p>
        </p:txBody>
      </p:sp>
      <p:sp>
        <p:nvSpPr>
          <p:cNvPr id="75" name="Google Shape;75;p7"/>
          <p:cNvSpPr/>
          <p:nvPr/>
        </p:nvSpPr>
        <p:spPr>
          <a:xfrm>
            <a:off x="1143000" y="2953575"/>
            <a:ext cx="7764900" cy="22860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4B5563"/>
              </a:buClr>
              <a:buSzPts val="1100"/>
              <a:buFont typeface="Inter"/>
              <a:buChar char="•"/>
            </a:pPr>
            <a:r>
              <a:rPr lang="en-US" sz="1100" noProof="1" dirty="0">
                <a:solidFill>
                  <a:srgbClr val="4B5563"/>
                </a:solidFill>
                <a:latin typeface="Inter"/>
                <a:ea typeface="Inter"/>
                <a:cs typeface="Inter"/>
                <a:sym typeface="Inter"/>
              </a:rPr>
              <a:t xml:space="preserve">Unlike traditional search bars that only cater to keyword matching for direct queries like “red dress” or “16GM RAM”, AI chat assistants need to answer intent based queries like “I want an outfit for my </a:t>
            </a:r>
            <a:r>
              <a:rPr lang="en-US" sz="1100" noProof="1" dirty="0">
                <a:solidFill>
                  <a:srgbClr val="4B5563"/>
                </a:solidFill>
                <a:latin typeface="Inter"/>
                <a:ea typeface="Inter"/>
                <a:cs typeface="Inter"/>
                <a:sym typeface="Inter"/>
              </a:rPr>
              <a:t>birthday</a:t>
            </a:r>
            <a:r>
              <a:rPr lang="en-US" sz="1100" noProof="1" dirty="0">
                <a:solidFill>
                  <a:srgbClr val="4B5563"/>
                </a:solidFill>
                <a:latin typeface="Inter"/>
                <a:ea typeface="Inter"/>
                <a:cs typeface="Inter"/>
                <a:sym typeface="Inter"/>
              </a:rPr>
              <a:t xml:space="preserve">” or “I want a laptop </a:t>
            </a:r>
            <a:r>
              <a:rPr lang="en-US" sz="1100" noProof="1" dirty="0">
                <a:solidFill>
                  <a:srgbClr val="4B5563"/>
                </a:solidFill>
                <a:latin typeface="Inter"/>
                <a:ea typeface="Inter"/>
                <a:cs typeface="Inter"/>
                <a:sym typeface="Inter"/>
              </a:rPr>
              <a:t>good</a:t>
            </a:r>
            <a:r>
              <a:rPr lang="en-US" sz="1100" noProof="1" dirty="0">
                <a:solidFill>
                  <a:srgbClr val="4B5563"/>
                </a:solidFill>
                <a:latin typeface="Inter"/>
                <a:ea typeface="Inter"/>
                <a:cs typeface="Inter"/>
                <a:sym typeface="Inter"/>
              </a:rPr>
              <a:t xml:space="preserve"> for Photoshop”. They have to map buyer intent to keywords using a knowledge </a:t>
            </a:r>
            <a:r>
              <a:rPr lang="en-US" sz="1100" noProof="1" dirty="0">
                <a:solidFill>
                  <a:srgbClr val="4B5563"/>
                </a:solidFill>
                <a:latin typeface="Inter"/>
                <a:ea typeface="Inter"/>
                <a:cs typeface="Inter"/>
                <a:sym typeface="Inter"/>
              </a:rPr>
              <a:t>graph</a:t>
            </a:r>
            <a:r>
              <a:rPr lang="en-US" sz="1100" noProof="1" dirty="0">
                <a:solidFill>
                  <a:srgbClr val="4B5563"/>
                </a:solidFill>
                <a:latin typeface="Inter"/>
                <a:ea typeface="Inter"/>
                <a:cs typeface="Inter"/>
                <a:sym typeface="Inter"/>
              </a:rPr>
              <a:t xml:space="preserve"> and then search the catalog for relevant products using keywords, refer to the diagram in the next slide for an example</a:t>
            </a:r>
            <a:endParaRPr b="0" i="0" sz="1100" u="none" cap="none" strike="noStrike">
              <a:solidFill>
                <a:schemeClr val="dk1"/>
              </a:solidFill>
              <a:latin typeface="Calibri"/>
              <a:ea typeface="Calibri"/>
              <a:cs typeface="Calibri"/>
              <a:sym typeface="Calibri"/>
            </a:endParaRPr>
          </a:p>
        </p:txBody>
      </p:sp>
      <p:sp>
        <p:nvSpPr>
          <p:cNvPr id="76" name="Google Shape;76;p7"/>
          <p:cNvSpPr/>
          <p:nvPr/>
        </p:nvSpPr>
        <p:spPr>
          <a:xfrm>
            <a:off x="1437900" y="3584498"/>
            <a:ext cx="62682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000"/>
              <a:buFont typeface="Inter"/>
              <a:buNone/>
            </a:pPr>
            <a:r>
              <a:rPr b="0" i="1" lang="en-US" sz="1000" u="none" cap="none" strike="noStrike" noProof="1" dirty="0">
                <a:solidFill>
                  <a:srgbClr val="9CA3AF"/>
                </a:solidFill>
                <a:latin typeface="Inter"/>
                <a:ea typeface="Inter"/>
                <a:cs typeface="Inter"/>
                <a:sym typeface="Inter"/>
              </a:rPr>
              <a:t>e.g. “diwali outfit for men” returns running shoes and clogs on tatacliq.com instead of kurta sets and sherwanis that CLiQ stocks</a:t>
            </a:r>
            <a:endParaRPr b="0" i="0" sz="1000" u="none" cap="none" strike="noStrike">
              <a:solidFill>
                <a:schemeClr val="dk1"/>
              </a:solidFill>
              <a:latin typeface="Calibri"/>
              <a:ea typeface="Calibri"/>
              <a:cs typeface="Calibri"/>
              <a:sym typeface="Calibri"/>
            </a:endParaRPr>
          </a:p>
        </p:txBody>
      </p:sp>
      <p:sp>
        <p:nvSpPr>
          <p:cNvPr id="77" name="Google Shape;77;p7"/>
          <p:cNvSpPr/>
          <p:nvPr/>
        </p:nvSpPr>
        <p:spPr>
          <a:xfrm>
            <a:off x="685800" y="3703320"/>
            <a:ext cx="320040" cy="320040"/>
          </a:xfrm>
          <a:prstGeom prst="ellipse">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noProof="1" lang="en-US" dirty="0"/>
              <a:t/>
            </a:r>
            <a:endParaRPr/>
          </a:p>
        </p:txBody>
      </p:sp>
      <p:sp>
        <p:nvSpPr>
          <p:cNvPr id="78" name="Google Shape;78;p7"/>
          <p:cNvSpPr/>
          <p:nvPr/>
        </p:nvSpPr>
        <p:spPr>
          <a:xfrm>
            <a:off x="685800" y="3865045"/>
            <a:ext cx="3201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Inter"/>
              <a:buNone/>
            </a:pPr>
            <a:r>
              <a:rPr b="1" i="0" lang="en-US" sz="1400" u="none" cap="none" strike="noStrike" noProof="1" dirty="0">
                <a:solidFill>
                  <a:srgbClr val="FFFFFF"/>
                </a:solidFill>
                <a:latin typeface="Inter"/>
                <a:ea typeface="Inter"/>
                <a:cs typeface="Inter"/>
                <a:sym typeface="Inter"/>
              </a:rPr>
              <a:t>3</a:t>
            </a:r>
            <a:endParaRPr b="0" i="0" sz="1400" u="none" cap="none" strike="noStrike">
              <a:solidFill>
                <a:schemeClr val="dk1"/>
              </a:solidFill>
              <a:latin typeface="Calibri"/>
              <a:ea typeface="Calibri"/>
              <a:cs typeface="Calibri"/>
              <a:sym typeface="Calibri"/>
            </a:endParaRPr>
          </a:p>
        </p:txBody>
      </p:sp>
      <p:sp>
        <p:nvSpPr>
          <p:cNvPr id="79" name="Google Shape;79;p7"/>
          <p:cNvSpPr/>
          <p:nvPr/>
        </p:nvSpPr>
        <p:spPr>
          <a:xfrm>
            <a:off x="1143000" y="3813095"/>
            <a:ext cx="6400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600"/>
              <a:buFont typeface="Inter"/>
              <a:buNone/>
            </a:pPr>
            <a:r>
              <a:rPr b="1" i="0" lang="en-US" sz="1600" u="none" cap="none" strike="noStrike" noProof="1" dirty="0">
                <a:solidFill>
                  <a:srgbClr val="111827"/>
                </a:solidFill>
                <a:latin typeface="Inter"/>
                <a:ea typeface="Inter"/>
                <a:cs typeface="Inter"/>
                <a:sym typeface="Inter"/>
              </a:rPr>
              <a:t>LLMs alone can't reason over catalogs to answer human quer</a:t>
            </a:r>
            <a:r>
              <a:rPr b="1" lang="en-US" sz="1600" noProof="1" dirty="0">
                <a:solidFill>
                  <a:srgbClr val="111827"/>
                </a:solidFill>
                <a:latin typeface="Inter"/>
                <a:ea typeface="Inter"/>
                <a:cs typeface="Inter"/>
                <a:sym typeface="Inter"/>
              </a:rPr>
              <a:t>ies</a:t>
            </a:r>
            <a:endParaRPr b="0" i="0" sz="1600" u="none" cap="none" strike="noStrike">
              <a:solidFill>
                <a:schemeClr val="dk1"/>
              </a:solidFill>
              <a:latin typeface="Calibri"/>
              <a:ea typeface="Calibri"/>
              <a:cs typeface="Calibri"/>
              <a:sym typeface="Calibri"/>
            </a:endParaRPr>
          </a:p>
        </p:txBody>
      </p:sp>
      <p:sp>
        <p:nvSpPr>
          <p:cNvPr id="80" name="Google Shape;80;p7"/>
          <p:cNvSpPr/>
          <p:nvPr/>
        </p:nvSpPr>
        <p:spPr>
          <a:xfrm>
            <a:off x="1143000" y="4252125"/>
            <a:ext cx="7689300" cy="32010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4B5563"/>
              </a:buClr>
              <a:buSzPts val="1100"/>
              <a:buFont typeface="Inter"/>
              <a:buChar char="•"/>
            </a:pPr>
            <a:r>
              <a:rPr b="0" i="0" lang="en-US" sz="1100" u="none" cap="none" strike="noStrike" noProof="1" dirty="0">
                <a:solidFill>
                  <a:srgbClr val="4B5563"/>
                </a:solidFill>
                <a:latin typeface="Inter"/>
                <a:ea typeface="Inter"/>
                <a:cs typeface="Inter"/>
                <a:sym typeface="Inter"/>
              </a:rPr>
              <a:t xml:space="preserve">LLMs give generic answers, </a:t>
            </a:r>
            <a:r>
              <a:rPr lang="en-US" sz="1100" noProof="1" dirty="0">
                <a:solidFill>
                  <a:srgbClr val="4B5563"/>
                </a:solidFill>
                <a:latin typeface="Inter"/>
                <a:ea typeface="Inter"/>
                <a:cs typeface="Inter"/>
                <a:sym typeface="Inter"/>
              </a:rPr>
              <a:t xml:space="preserve">they have not been trained on </a:t>
            </a:r>
            <a:r>
              <a:rPr lang="en-US" sz="1100" noProof="1" dirty="0">
                <a:solidFill>
                  <a:srgbClr val="4B5563"/>
                </a:solidFill>
                <a:latin typeface="Inter"/>
                <a:ea typeface="Inter"/>
                <a:cs typeface="Inter"/>
                <a:sym typeface="Inter"/>
              </a:rPr>
              <a:t>proprietary</a:t>
            </a:r>
            <a:r>
              <a:rPr lang="en-US" sz="1100" noProof="1" dirty="0">
                <a:solidFill>
                  <a:srgbClr val="4B5563"/>
                </a:solidFill>
                <a:latin typeface="Inter"/>
                <a:ea typeface="Inter"/>
                <a:cs typeface="Inter"/>
                <a:sym typeface="Inter"/>
              </a:rPr>
              <a:t xml:space="preserve"> e-commerce data.They also take time to give answers(1</a:t>
            </a:r>
            <a:r>
              <a:rPr lang="en-US" sz="1100" noProof="1" dirty="0">
                <a:solidFill>
                  <a:srgbClr val="4B5563"/>
                </a:solidFill>
                <a:latin typeface="Inter"/>
                <a:ea typeface="Inter"/>
                <a:cs typeface="Inter"/>
                <a:sym typeface="Inter"/>
              </a:rPr>
              <a:t>00ms-2s latency vs sub-20ms graph traversal)</a:t>
            </a:r>
            <a:endParaRPr sz="1100">
              <a:solidFill>
                <a:schemeClr val="dk1"/>
              </a:solidFill>
              <a:latin typeface="Calibri"/>
              <a:ea typeface="Calibri"/>
              <a:cs typeface="Calibri"/>
              <a:sym typeface="Calibri"/>
            </a:endParaRPr>
          </a:p>
          <a:p>
            <a:pPr indent="-342900" lvl="0" marL="342900" marR="0" rtl="0" algn="l">
              <a:spcBef>
                <a:spcPts val="0"/>
              </a:spcBef>
              <a:spcAft>
                <a:spcPts val="0"/>
              </a:spcAft>
              <a:buClr>
                <a:srgbClr val="4B5563"/>
              </a:buClr>
              <a:buSzPts val="1100"/>
              <a:buFont typeface="Inter"/>
              <a:buChar char="•"/>
            </a:pPr>
            <a:r>
              <a:rPr lang="en-US" sz="1100" noProof="1" dirty="0">
                <a:solidFill>
                  <a:srgbClr val="4B5563"/>
                </a:solidFill>
                <a:latin typeface="Inter"/>
                <a:ea typeface="Inter"/>
                <a:cs typeface="Inter"/>
                <a:sym typeface="Inter"/>
              </a:rPr>
              <a:t>Knowledge context graph gives LLM the extra data that they need to map intent to keywords like a human</a:t>
            </a:r>
            <a:endParaRPr b="0" i="0" sz="1100" u="none" cap="none" strike="noStrike">
              <a:solidFill>
                <a:schemeClr val="dk1"/>
              </a:solidFill>
              <a:latin typeface="Calibri"/>
              <a:ea typeface="Calibri"/>
              <a:cs typeface="Calibri"/>
              <a:sym typeface="Calibri"/>
            </a:endParaRPr>
          </a:p>
        </p:txBody>
      </p:sp>
      <p:sp>
        <p:nvSpPr>
          <p:cNvPr id="81" name="Google Shape;81;p7"/>
          <p:cNvSpPr/>
          <p:nvPr/>
        </p:nvSpPr>
        <p:spPr>
          <a:xfrm>
            <a:off x="1143000" y="4745693"/>
            <a:ext cx="73152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000"/>
              <a:buFont typeface="Inter"/>
              <a:buNone/>
            </a:pPr>
            <a:r>
              <a:rPr b="0" i="1" lang="en-US" sz="1000" u="none" cap="none" strike="noStrike" noProof="1" dirty="0">
                <a:solidFill>
                  <a:srgbClr val="9CA3AF"/>
                </a:solidFill>
                <a:latin typeface="Inter"/>
                <a:ea typeface="Inter"/>
                <a:cs typeface="Inter"/>
                <a:sym typeface="Inter"/>
              </a:rPr>
              <a:t>e.g. “shoes that won’t get ruined in rain monsoon” returns generic running shoes on tatacliq.com, missing waterproof footwear the catalog has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pic>
        <p:nvPicPr>
          <p:cNvPr id="87" name="Google Shape;87;p8"/>
          <p:cNvPicPr preferRelativeResize="0"/>
          <p:nvPr/>
        </p:nvPicPr>
        <p:blipFill>
          <a:blip r:embed="rId3">
            <a:alphaModFix/>
          </a:blip>
          <a:stretch>
            <a:fillRect/>
          </a:stretch>
        </p:blipFill>
        <p:spPr>
          <a:xfrm>
            <a:off x="380525" y="77550"/>
            <a:ext cx="5518775" cy="3310376"/>
          </a:xfrm>
          <a:prstGeom prst="rect">
            <a:avLst/>
          </a:prstGeom>
          <a:noFill/>
          <a:ln>
            <a:noFill/>
          </a:ln>
        </p:spPr>
      </p:pic>
      <p:pic>
        <p:nvPicPr>
          <p:cNvPr id="88" name="Google Shape;88;p8" title="Screenshot 2026-03-23 at 7.37.38 PM.png"/>
          <p:cNvPicPr preferRelativeResize="0"/>
          <p:nvPr/>
        </p:nvPicPr>
        <p:blipFill rotWithShape="1">
          <a:blip r:embed="rId4">
            <a:alphaModFix/>
          </a:blip>
          <a:srcRect b="0" l="0" r="0" t="18294"/>
          <a:stretch/>
        </p:blipFill>
        <p:spPr>
          <a:xfrm>
            <a:off x="5323475" y="3495775"/>
            <a:ext cx="3595050" cy="1570900"/>
          </a:xfrm>
          <a:prstGeom prst="rect">
            <a:avLst/>
          </a:prstGeom>
          <a:noFill/>
          <a:ln>
            <a:noFill/>
          </a:ln>
        </p:spPr>
      </p:pic>
      <p:pic>
        <p:nvPicPr>
          <p:cNvPr id="89" name="Google Shape;89;p8" title="Screenshot 2026-03-23 at 5.43.05 PM.png"/>
          <p:cNvPicPr preferRelativeResize="0"/>
          <p:nvPr/>
        </p:nvPicPr>
        <p:blipFill rotWithShape="1">
          <a:blip r:embed="rId5">
            <a:alphaModFix/>
          </a:blip>
          <a:srcRect b="0" l="3210" r="2919" t="6068"/>
          <a:stretch/>
        </p:blipFill>
        <p:spPr>
          <a:xfrm>
            <a:off x="5949574" y="605950"/>
            <a:ext cx="2968950" cy="1782726"/>
          </a:xfrm>
          <a:prstGeom prst="rect">
            <a:avLst/>
          </a:prstGeom>
          <a:noFill/>
          <a:ln cap="flat" cmpd="sng" w="9525">
            <a:solidFill>
              <a:srgbClr val="B7B7B7"/>
            </a:solidFill>
            <a:prstDash val="solid"/>
            <a:round/>
            <a:headEnd len="sm" w="sm" type="none"/>
            <a:tailEnd len="sm" w="sm" type="none"/>
          </a:ln>
        </p:spPr>
      </p:pic>
      <p:pic>
        <p:nvPicPr>
          <p:cNvPr id="90" name="Google Shape;90;p8" title="Screenshot 2026-04-14 at 9.31.36 PM.png"/>
          <p:cNvPicPr preferRelativeResize="0"/>
          <p:nvPr/>
        </p:nvPicPr>
        <p:blipFill>
          <a:blip r:embed="rId6">
            <a:alphaModFix/>
          </a:blip>
          <a:stretch>
            <a:fillRect/>
          </a:stretch>
        </p:blipFill>
        <p:spPr>
          <a:xfrm>
            <a:off x="1509912" y="3464150"/>
            <a:ext cx="2541314" cy="16341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5" name="Shape 95"/>
        <p:cNvGrpSpPr/>
        <p:nvPr/>
      </p:nvGrpSpPr>
      <p:grpSpPr>
        <a:xfrm>
          <a:off x="0" y="0"/>
          <a:ext cx="0" cy="0"/>
          <a:chOff x="0" y="0"/>
          <a:chExt cx="0" cy="0"/>
        </a:xfrm>
      </p:grpSpPr>
      <p:sp>
        <p:nvSpPr>
          <p:cNvPr id="96" name="Google Shape;96;p9"/>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noProof="1" lang="en-US" dirty="0"/>
              <a:t/>
            </a:r>
            <a:endParaRPr/>
          </a:p>
        </p:txBody>
      </p:sp>
      <p:sp>
        <p:nvSpPr>
          <p:cNvPr id="97" name="Google Shape;97;p9"/>
          <p:cNvSpPr/>
          <p:nvPr/>
        </p:nvSpPr>
        <p:spPr>
          <a:xfrm>
            <a:off x="685700" y="290775"/>
            <a:ext cx="78879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800"/>
              <a:buFont typeface="Inter"/>
              <a:buNone/>
            </a:pPr>
            <a:r>
              <a:rPr b="1" lang="en-US" sz="2300" noProof="1" dirty="0">
                <a:solidFill>
                  <a:srgbClr val="111827"/>
                </a:solidFill>
                <a:latin typeface="Inter"/>
                <a:ea typeface="Inter"/>
                <a:cs typeface="Inter"/>
                <a:sym typeface="Inter"/>
              </a:rPr>
              <a:t>We ran an audit on your website to see what fails today</a:t>
            </a:r>
            <a:endParaRPr b="0" i="0" sz="2300" u="none" cap="none" strike="noStrike">
              <a:solidFill>
                <a:schemeClr val="dk1"/>
              </a:solidFill>
              <a:latin typeface="Calibri"/>
              <a:ea typeface="Calibri"/>
              <a:cs typeface="Calibri"/>
              <a:sym typeface="Calibri"/>
            </a:endParaRPr>
          </a:p>
        </p:txBody>
      </p:sp>
      <p:sp>
        <p:nvSpPr>
          <p:cNvPr id="98" name="Google Shape;98;p9"/>
          <p:cNvSpPr/>
          <p:nvPr/>
        </p:nvSpPr>
        <p:spPr>
          <a:xfrm>
            <a:off x="685800" y="1139333"/>
            <a:ext cx="7772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100"/>
              <a:buFont typeface="Inter"/>
              <a:buNone/>
            </a:pPr>
            <a:r>
              <a:rPr b="0" i="1" lang="en-US" sz="1100" u="none" cap="none" strike="noStrike" noProof="1" dirty="0">
                <a:solidFill>
                  <a:srgbClr val="9CA3AF"/>
                </a:solidFill>
                <a:latin typeface="Inter"/>
                <a:ea typeface="Inter"/>
                <a:cs typeface="Inter"/>
                <a:sym typeface="Inter"/>
              </a:rPr>
              <a:t>We ran real shopper queries (sourced from Google autocomplete) on tatacliq.com</a:t>
            </a:r>
            <a:endParaRPr b="0" i="0" sz="1100" u="none" cap="none" strike="noStrike">
              <a:solidFill>
                <a:schemeClr val="dk1"/>
              </a:solidFill>
              <a:latin typeface="Calibri"/>
              <a:ea typeface="Calibri"/>
              <a:cs typeface="Calibri"/>
              <a:sym typeface="Calibri"/>
            </a:endParaRPr>
          </a:p>
        </p:txBody>
      </p:sp>
      <p:graphicFrame>
        <p:nvGraphicFramePr>
          <p:cNvPr id="99" name="Google Shape;99;p9"/>
          <p:cNvGraphicFramePr/>
          <p:nvPr/>
        </p:nvGraphicFramePr>
        <p:xfrm>
          <a:off x="685800" y="1592885"/>
          <a:ext cx="3000000" cy="3000000"/>
        </p:xfrm>
        <a:graphic>
          <a:graphicData uri="http://schemas.openxmlformats.org/drawingml/2006/table">
            <a:tbl>
              <a:tblPr>
                <a:noFill/>
                <a:tableStyleId>{30EBE6C2-84AA-4F8B-9F8C-F36D36772EF9}</a:tableStyleId>
              </a:tblPr>
              <a:tblGrid>
                <a:gridCol w="2743200"/>
                <a:gridCol w="1280150"/>
                <a:gridCol w="3749050"/>
              </a:tblGrid>
              <a:tr h="292600">
                <a:tc>
                  <a:txBody>
                    <a:bodyPr/>
                    <a:lstStyle/>
                    <a:p>
                      <a:pPr indent="0" lvl="0" marL="0" marR="0" rtl="0" algn="l">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What the shopper searches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Search returns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What exists in the catalog</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r>
              <a:tr h="274325">
                <a:tc>
                  <a:txBody>
                    <a:bodyPr/>
                    <a:lstStyle/>
                    <a:p>
                      <a:pPr indent="0" lvl="0" marL="0" marR="0" rtl="0" algn="l">
                        <a:spcBef>
                          <a:spcPts val="0"/>
                        </a:spcBef>
                        <a:spcAft>
                          <a:spcPts val="0"/>
                        </a:spcAft>
                        <a:buClr>
                          <a:srgbClr val="111827"/>
                        </a:buClr>
                        <a:buSzPts val="1000"/>
                        <a:buFont typeface="Inter"/>
                        <a:buNone/>
                      </a:pPr>
                      <a:r>
                        <a:rPr lang="en-US" sz="1000" u="none" cap="none" strike="noStrike">
                          <a:solidFill>
                            <a:srgbClr val="111827"/>
                          </a:solidFill>
                          <a:latin typeface="Inter"/>
                          <a:ea typeface="Inter"/>
                          <a:cs typeface="Inter"/>
                          <a:sym typeface="Inter"/>
                        </a:rPr>
                        <a:t>diwali outfit for men</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9CA3AF"/>
                        </a:buClr>
                        <a:buSzPts val="1000"/>
                        <a:buFont typeface="Inter"/>
                        <a:buNone/>
                      </a:pPr>
                      <a:r>
                        <a:rPr i="1" lang="en-US" sz="1000" u="none" cap="none" strike="noStrike">
                          <a:solidFill>
                            <a:srgbClr val="9CA3AF"/>
                          </a:solidFill>
                          <a:latin typeface="Inter"/>
                          <a:ea typeface="Inter"/>
                          <a:cs typeface="Inter"/>
                          <a:sym typeface="Inter"/>
                        </a:rPr>
                        <a:t>0/40 relevant — returned running shoes, clogs, sandals instead of ethnic wear</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"kurta for men" → 50 relevant results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274325">
                <a:tc>
                  <a:txBody>
                    <a:bodyPr/>
                    <a:lstStyle/>
                    <a:p>
                      <a:pPr indent="0" lvl="0" marL="0" marR="0" rtl="0" algn="l">
                        <a:spcBef>
                          <a:spcPts val="0"/>
                        </a:spcBef>
                        <a:spcAft>
                          <a:spcPts val="0"/>
                        </a:spcAft>
                        <a:buClr>
                          <a:srgbClr val="111827"/>
                        </a:buClr>
                        <a:buSzPts val="1000"/>
                        <a:buFont typeface="Inter"/>
                        <a:buNone/>
                      </a:pPr>
                      <a:r>
                        <a:rPr lang="en-US" sz="1000" u="none" cap="none" strike="noStrike">
                          <a:solidFill>
                            <a:srgbClr val="111827"/>
                          </a:solidFill>
                          <a:latin typeface="Inter"/>
                          <a:ea typeface="Inter"/>
                          <a:cs typeface="Inter"/>
                          <a:sym typeface="Inter"/>
                        </a:rPr>
                        <a:t>saree for wedding guest</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9CA3AF"/>
                        </a:buClr>
                        <a:buSzPts val="1000"/>
                        <a:buFont typeface="Inter"/>
                        <a:buNone/>
                      </a:pPr>
                      <a:r>
                        <a:rPr i="1" lang="en-US" sz="1000" u="none" cap="none" strike="noStrike">
                          <a:solidFill>
                            <a:srgbClr val="9CA3AF"/>
                          </a:solidFill>
                          <a:latin typeface="Inter"/>
                          <a:ea typeface="Inter"/>
                          <a:cs typeface="Inter"/>
                          <a:sym typeface="Inter"/>
                        </a:rPr>
                        <a:t>18/39 relevant — 54% results were lehengas and shararas, wrong product type</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"saree for women" → 32 relevant results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274325">
                <a:tc>
                  <a:txBody>
                    <a:bodyPr/>
                    <a:lstStyle/>
                    <a:p>
                      <a:pPr indent="0" lvl="0" marL="0" marR="0" rtl="0" algn="l">
                        <a:spcBef>
                          <a:spcPts val="0"/>
                        </a:spcBef>
                        <a:spcAft>
                          <a:spcPts val="0"/>
                        </a:spcAft>
                        <a:buClr>
                          <a:srgbClr val="111827"/>
                        </a:buClr>
                        <a:buSzPts val="1000"/>
                        <a:buFont typeface="Inter"/>
                        <a:buNone/>
                      </a:pPr>
                      <a:r>
                        <a:rPr lang="en-US" sz="1000" u="none" cap="none" strike="noStrike">
                          <a:solidFill>
                            <a:srgbClr val="111827"/>
                          </a:solidFill>
                          <a:latin typeface="Inter"/>
                          <a:ea typeface="Inter"/>
                          <a:cs typeface="Inter"/>
                          <a:sym typeface="Inter"/>
                        </a:rPr>
                        <a:t>shoes that won't get ruined in rain monsoon</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9CA3AF"/>
                        </a:buClr>
                        <a:buSzPts val="1000"/>
                        <a:buFont typeface="Inter"/>
                        <a:buNone/>
                      </a:pPr>
                      <a:r>
                        <a:rPr i="1" lang="en-US" sz="1000" u="none" cap="none" strike="noStrike">
                          <a:solidFill>
                            <a:srgbClr val="9CA3AF"/>
                          </a:solidFill>
                          <a:latin typeface="Inter"/>
                          <a:ea typeface="Inter"/>
                          <a:cs typeface="Inter"/>
                          <a:sym typeface="Inter"/>
                        </a:rPr>
                        <a:t>0/24 relevant — all generic running shoes, no waterproof features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"waterproof shoes" → 21 relevant results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274325">
                <a:tc>
                  <a:txBody>
                    <a:bodyPr/>
                    <a:lstStyle/>
                    <a:p>
                      <a:pPr indent="0" lvl="0" marL="0" marR="0" rtl="0" algn="l">
                        <a:spcBef>
                          <a:spcPts val="0"/>
                        </a:spcBef>
                        <a:spcAft>
                          <a:spcPts val="0"/>
                        </a:spcAft>
                        <a:buClr>
                          <a:srgbClr val="111827"/>
                        </a:buClr>
                        <a:buSzPts val="1000"/>
                        <a:buFont typeface="Inter"/>
                        <a:buNone/>
                      </a:pPr>
                      <a:r>
                        <a:rPr lang="en-US" sz="1000" u="none" cap="none" strike="noStrike">
                          <a:solidFill>
                            <a:srgbClr val="111827"/>
                          </a:solidFill>
                          <a:latin typeface="Inter"/>
                          <a:ea typeface="Inter"/>
                          <a:cs typeface="Inter"/>
                          <a:sym typeface="Inter"/>
                        </a:rPr>
                        <a:t>mixer grinder 750 watt</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9CA3AF"/>
                        </a:buClr>
                        <a:buSzPts val="1000"/>
                        <a:buFont typeface="Inter"/>
                        <a:buNone/>
                      </a:pPr>
                      <a:r>
                        <a:rPr i="1" lang="en-US" sz="1000" u="none" cap="none" strike="noStrike">
                          <a:solidFill>
                            <a:srgbClr val="9CA3AF"/>
                          </a:solidFill>
                          <a:latin typeface="Inter"/>
                          <a:ea typeface="Inter"/>
                          <a:cs typeface="Inter"/>
                          <a:sym typeface="Inter"/>
                        </a:rPr>
                        <a:t>Collapsed from 40 to just 1 result</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"mixer" → 40 relevant results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274325">
                <a:tc>
                  <a:txBody>
                    <a:bodyPr/>
                    <a:lstStyle/>
                    <a:p>
                      <a:pPr indent="0" lvl="0" marL="0" marR="0" rtl="0" algn="l">
                        <a:spcBef>
                          <a:spcPts val="0"/>
                        </a:spcBef>
                        <a:spcAft>
                          <a:spcPts val="0"/>
                        </a:spcAft>
                        <a:buClr>
                          <a:srgbClr val="111827"/>
                        </a:buClr>
                        <a:buSzPts val="1000"/>
                        <a:buFont typeface="Inter"/>
                        <a:buNone/>
                      </a:pPr>
                      <a:r>
                        <a:rPr lang="en-US" sz="1000" u="none" cap="none" strike="noStrike">
                          <a:solidFill>
                            <a:srgbClr val="111827"/>
                          </a:solidFill>
                          <a:latin typeface="Inter"/>
                          <a:ea typeface="Inter"/>
                          <a:cs typeface="Inter"/>
                          <a:sym typeface="Inter"/>
                        </a:rPr>
                        <a:t>banarasi silk saree for wedding</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9CA3AF"/>
                        </a:buClr>
                        <a:buSzPts val="1000"/>
                        <a:buFont typeface="Inter"/>
                        <a:buNone/>
                      </a:pPr>
                      <a:r>
                        <a:rPr i="1" lang="en-US" sz="1000" u="none" cap="none" strike="noStrike">
                          <a:solidFill>
                            <a:srgbClr val="9CA3AF"/>
                          </a:solidFill>
                          <a:latin typeface="Inter"/>
                          <a:ea typeface="Inter"/>
                          <a:cs typeface="Inter"/>
                          <a:sym typeface="Inter"/>
                        </a:rPr>
                        <a:t>3/10 relevant — diluted with lehengas and generic silk sarees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"silk saree" → 25 relevant results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bl>
          </a:graphicData>
        </a:graphic>
      </p:graphicFrame>
      <p:sp>
        <p:nvSpPr>
          <p:cNvPr id="100" name="Google Shape;100;p9"/>
          <p:cNvSpPr/>
          <p:nvPr/>
        </p:nvSpPr>
        <p:spPr>
          <a:xfrm>
            <a:off x="685800" y="5100000"/>
            <a:ext cx="7772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100"/>
              <a:buFont typeface="Inter"/>
              <a:buNone/>
            </a:pPr>
            <a:r>
              <a:rPr b="0" i="1" lang="en-US" sz="1100" u="none" cap="none" strike="noStrike" noProof="1" dirty="0">
                <a:solidFill>
                  <a:srgbClr val="9CA3AF"/>
                </a:solidFill>
                <a:latin typeface="Inter"/>
                <a:ea typeface="Inter"/>
                <a:cs typeface="Inter"/>
                <a:sym typeface="Inter"/>
              </a:rPr>
              <a:t>Every query is grounded in Google autocomplete — real shoppers type these. The products exist. The search can't connect the two.</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5" name="Shape 105"/>
        <p:cNvGrpSpPr/>
        <p:nvPr/>
      </p:nvGrpSpPr>
      <p:grpSpPr>
        <a:xfrm>
          <a:off x="0" y="0"/>
          <a:ext cx="0" cy="0"/>
          <a:chOff x="0" y="0"/>
          <a:chExt cx="0" cy="0"/>
        </a:xfrm>
      </p:grpSpPr>
      <p:sp>
        <p:nvSpPr>
          <p:cNvPr id="106" name="Google Shape;106;p10"/>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noProof="1" lang="en-US" dirty="0"/>
              <a:t/>
            </a:r>
            <a:endParaRPr/>
          </a:p>
        </p:txBody>
      </p:sp>
      <p:sp>
        <p:nvSpPr>
          <p:cNvPr id="107" name="Google Shape;107;p10"/>
          <p:cNvSpPr/>
          <p:nvPr/>
        </p:nvSpPr>
        <p:spPr>
          <a:xfrm>
            <a:off x="685800" y="36576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800"/>
              <a:buFont typeface="Inter"/>
              <a:buNone/>
            </a:pPr>
            <a:r>
              <a:rPr b="1" i="0" lang="en-US" sz="2500" u="none" cap="none" strike="noStrike" noProof="1" dirty="0">
                <a:solidFill>
                  <a:srgbClr val="111827"/>
                </a:solidFill>
                <a:latin typeface="Inter"/>
                <a:ea typeface="Inter"/>
                <a:cs typeface="Inter"/>
                <a:sym typeface="Inter"/>
              </a:rPr>
              <a:t>What SuperSearch builds for you</a:t>
            </a:r>
            <a:endParaRPr b="0" i="0" sz="2500" u="none" cap="none" strike="noStrike">
              <a:solidFill>
                <a:schemeClr val="dk1"/>
              </a:solidFill>
              <a:latin typeface="Calibri"/>
              <a:ea typeface="Calibri"/>
              <a:cs typeface="Calibri"/>
              <a:sym typeface="Calibri"/>
            </a:endParaRPr>
          </a:p>
        </p:txBody>
      </p:sp>
      <p:sp>
        <p:nvSpPr>
          <p:cNvPr id="108" name="Google Shape;108;p10"/>
          <p:cNvSpPr/>
          <p:nvPr/>
        </p:nvSpPr>
        <p:spPr>
          <a:xfrm>
            <a:off x="685800" y="1097280"/>
            <a:ext cx="54864" cy="1051560"/>
          </a:xfrm>
          <a:prstGeom prst="rect">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noProof="1" lang="en-US" dirty="0"/>
              <a:t/>
            </a:r>
            <a:endParaRPr/>
          </a:p>
        </p:txBody>
      </p:sp>
      <p:sp>
        <p:nvSpPr>
          <p:cNvPr id="109" name="Google Shape;109;p10"/>
          <p:cNvSpPr/>
          <p:nvPr/>
        </p:nvSpPr>
        <p:spPr>
          <a:xfrm>
            <a:off x="914400" y="1056126"/>
            <a:ext cx="7315200" cy="20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600"/>
              <a:buFont typeface="Inter"/>
              <a:buNone/>
            </a:pPr>
            <a:r>
              <a:rPr b="1" lang="en-US" sz="1600" noProof="1" dirty="0">
                <a:solidFill>
                  <a:srgbClr val="111827"/>
                </a:solidFill>
                <a:latin typeface="Inter"/>
                <a:ea typeface="Inter"/>
                <a:cs typeface="Inter"/>
                <a:sym typeface="Inter"/>
              </a:rPr>
              <a:t>AI Shopping Assistant on Website</a:t>
            </a:r>
            <a:endParaRPr b="0" i="0" sz="1600" u="none" cap="none" strike="noStrike">
              <a:solidFill>
                <a:schemeClr val="dk1"/>
              </a:solidFill>
              <a:latin typeface="Calibri"/>
              <a:ea typeface="Calibri"/>
              <a:cs typeface="Calibri"/>
              <a:sym typeface="Calibri"/>
            </a:endParaRPr>
          </a:p>
        </p:txBody>
      </p:sp>
      <p:sp>
        <p:nvSpPr>
          <p:cNvPr id="110" name="Google Shape;110;p10"/>
          <p:cNvSpPr/>
          <p:nvPr/>
        </p:nvSpPr>
        <p:spPr>
          <a:xfrm>
            <a:off x="914400" y="1490575"/>
            <a:ext cx="7896300" cy="59430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4B5563"/>
              </a:buClr>
              <a:buSzPts val="1300"/>
              <a:buFont typeface="Inter"/>
              <a:buChar char="•"/>
            </a:pPr>
            <a:r>
              <a:rPr b="0" i="0" lang="en-US" sz="1300" u="none" cap="none" strike="noStrike" noProof="1" dirty="0">
                <a:solidFill>
                  <a:srgbClr val="4B5563"/>
                </a:solidFill>
                <a:latin typeface="Inter"/>
                <a:ea typeface="Inter"/>
                <a:cs typeface="Inter"/>
                <a:sym typeface="Inter"/>
              </a:rPr>
              <a:t>Chat-based shopping: voice, image, and text input</a:t>
            </a:r>
            <a:endParaRPr b="0" i="0" sz="13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4B5563"/>
              </a:buClr>
              <a:buSzPts val="1300"/>
              <a:buFont typeface="Inter"/>
              <a:buChar char="•"/>
            </a:pPr>
            <a:r>
              <a:rPr lang="en-US" sz="1300" noProof="1" dirty="0">
                <a:solidFill>
                  <a:srgbClr val="4B5563"/>
                </a:solidFill>
                <a:latin typeface="Inter"/>
                <a:ea typeface="Inter"/>
                <a:cs typeface="Inter"/>
                <a:sym typeface="Inter"/>
              </a:rPr>
              <a:t xml:space="preserve">Lower cost per query - </a:t>
            </a:r>
            <a:r>
              <a:rPr b="0" i="0" lang="en-US" sz="1300" u="none" cap="none" strike="noStrike" noProof="1" dirty="0">
                <a:solidFill>
                  <a:srgbClr val="4B5563"/>
                </a:solidFill>
                <a:latin typeface="Inter"/>
                <a:ea typeface="Inter"/>
                <a:cs typeface="Inter"/>
                <a:sym typeface="Inter"/>
              </a:rPr>
              <a:t>Graph handles the majority of queries, LLM tokens only for edge cases</a:t>
            </a:r>
            <a:endParaRPr b="0" i="0" sz="13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4B5563"/>
              </a:buClr>
              <a:buSzPts val="1300"/>
              <a:buFont typeface="Inter"/>
              <a:buChar char="•"/>
            </a:pPr>
            <a:r>
              <a:rPr lang="en-US" sz="1300" noProof="1" dirty="0">
                <a:solidFill>
                  <a:srgbClr val="4B5563"/>
                </a:solidFill>
                <a:latin typeface="Inter"/>
                <a:ea typeface="Inter"/>
                <a:cs typeface="Inter"/>
                <a:sym typeface="Inter"/>
              </a:rPr>
              <a:t>All intent based</a:t>
            </a:r>
            <a:r>
              <a:rPr b="0" i="0" lang="en-US" sz="1300" u="none" cap="none" strike="noStrike" noProof="1" dirty="0">
                <a:solidFill>
                  <a:srgbClr val="4B5563"/>
                </a:solidFill>
                <a:latin typeface="Inter"/>
                <a:ea typeface="Inter"/>
                <a:cs typeface="Inter"/>
                <a:sym typeface="Inter"/>
              </a:rPr>
              <a:t xml:space="preserve"> queries </a:t>
            </a:r>
            <a:r>
              <a:rPr lang="en-US" sz="1300" noProof="1" dirty="0">
                <a:solidFill>
                  <a:srgbClr val="4B5563"/>
                </a:solidFill>
                <a:latin typeface="Inter"/>
                <a:ea typeface="Inter"/>
                <a:cs typeface="Inter"/>
                <a:sym typeface="Inter"/>
              </a:rPr>
              <a:t>such as “outfit for Ladakh trip”, “plan my meals” handled just like in ChatGPT and Amazon Rufus, giving buyer a full conversational experience.</a:t>
            </a:r>
            <a:endParaRPr b="0" i="0" sz="13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4B5563"/>
              </a:buClr>
              <a:buSzPts val="1300"/>
              <a:buFont typeface="Inter"/>
              <a:buChar char="•"/>
            </a:pPr>
            <a:r>
              <a:rPr lang="en-US" sz="1300" noProof="1" dirty="0">
                <a:solidFill>
                  <a:srgbClr val="4B5563"/>
                </a:solidFill>
                <a:latin typeface="Inter"/>
                <a:ea typeface="Inter"/>
                <a:cs typeface="Inter"/>
                <a:sym typeface="Inter"/>
              </a:rPr>
              <a:t>We’re also open to building a full AI sales agent — a guided shopping assistant that helps buyers across CLiQ’s categories (e.g. ‘help me put together a wedding guest outfit under 15,000’ or ‘I need to furnish a 1BHK’).</a:t>
            </a:r>
            <a:endParaRPr b="0" i="0" sz="1300" u="none" cap="none" strike="noStrike">
              <a:solidFill>
                <a:schemeClr val="dk1"/>
              </a:solidFill>
              <a:latin typeface="Calibri"/>
              <a:ea typeface="Calibri"/>
              <a:cs typeface="Calibri"/>
              <a:sym typeface="Calibri"/>
            </a:endParaRPr>
          </a:p>
        </p:txBody>
      </p:sp>
      <p:sp>
        <p:nvSpPr>
          <p:cNvPr id="111" name="Google Shape;111;p10"/>
          <p:cNvSpPr/>
          <p:nvPr/>
        </p:nvSpPr>
        <p:spPr>
          <a:xfrm>
            <a:off x="685800" y="2377440"/>
            <a:ext cx="54864" cy="1051560"/>
          </a:xfrm>
          <a:prstGeom prst="rect">
            <a:avLst/>
          </a:prstGeom>
          <a:solidFill>
            <a:srgbClr val="0596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noProof="1" lang="en-US" dirty="0"/>
              <a:t/>
            </a:r>
            <a:endParaRPr/>
          </a:p>
        </p:txBody>
      </p:sp>
      <p:sp>
        <p:nvSpPr>
          <p:cNvPr id="112" name="Google Shape;112;p10"/>
          <p:cNvSpPr/>
          <p:nvPr/>
        </p:nvSpPr>
        <p:spPr>
          <a:xfrm>
            <a:off x="914400" y="2377440"/>
            <a:ext cx="73152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600"/>
              <a:buFont typeface="Inter"/>
              <a:buNone/>
            </a:pPr>
            <a:r>
              <a:rPr b="1" i="0" lang="en-US" sz="1600" u="none" cap="none" strike="noStrike" noProof="1" dirty="0">
                <a:solidFill>
                  <a:srgbClr val="111827"/>
                </a:solidFill>
                <a:latin typeface="Inter"/>
                <a:ea typeface="Inter"/>
                <a:cs typeface="Inter"/>
                <a:sym typeface="Inter"/>
              </a:rPr>
              <a:t>Catalog Normalization + Enrichment</a:t>
            </a:r>
            <a:endParaRPr b="0" i="0" sz="1600" u="none" cap="none" strike="noStrike">
              <a:solidFill>
                <a:schemeClr val="dk1"/>
              </a:solidFill>
              <a:latin typeface="Calibri"/>
              <a:ea typeface="Calibri"/>
              <a:cs typeface="Calibri"/>
              <a:sym typeface="Calibri"/>
            </a:endParaRPr>
          </a:p>
        </p:txBody>
      </p:sp>
      <p:sp>
        <p:nvSpPr>
          <p:cNvPr id="113" name="Google Shape;113;p10"/>
          <p:cNvSpPr/>
          <p:nvPr/>
        </p:nvSpPr>
        <p:spPr>
          <a:xfrm>
            <a:off x="914400" y="2724900"/>
            <a:ext cx="8229600" cy="64020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4B5563"/>
              </a:buClr>
              <a:buSzPts val="1300"/>
              <a:buFont typeface="Inter"/>
              <a:buChar char="•"/>
            </a:pPr>
            <a:r>
              <a:rPr lang="en-US" sz="1300" noProof="1" dirty="0">
                <a:solidFill>
                  <a:srgbClr val="4B5563"/>
                </a:solidFill>
                <a:latin typeface="Inter"/>
                <a:ea typeface="Inter"/>
                <a:cs typeface="Inter"/>
                <a:sym typeface="Inter"/>
              </a:rPr>
              <a:t>All merchant catalogs synced to u</a:t>
            </a:r>
            <a:r>
              <a:rPr b="0" i="0" lang="en-US" sz="1300" u="none" cap="none" strike="noStrike" noProof="1" dirty="0">
                <a:solidFill>
                  <a:srgbClr val="4B5563"/>
                </a:solidFill>
                <a:latin typeface="Inter"/>
                <a:ea typeface="Inter"/>
                <a:cs typeface="Inter"/>
                <a:sym typeface="Inter"/>
              </a:rPr>
              <a:t xml:space="preserve">nified schema that AI agents can read </a:t>
            </a:r>
            <a:r>
              <a:rPr lang="en-US" sz="1300" noProof="1" dirty="0">
                <a:solidFill>
                  <a:srgbClr val="4B5563"/>
                </a:solidFill>
                <a:latin typeface="Inter"/>
                <a:ea typeface="Inter"/>
                <a:cs typeface="Inter"/>
                <a:sym typeface="Inter"/>
              </a:rPr>
              <a:t>with no token wastage</a:t>
            </a:r>
            <a:endParaRPr b="0" i="0" sz="13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4B5563"/>
              </a:buClr>
              <a:buSzPts val="1300"/>
              <a:buFont typeface="Inter"/>
              <a:buChar char="•"/>
            </a:pPr>
            <a:r>
              <a:rPr b="0" i="0" lang="en-US" sz="1300" u="none" cap="none" strike="noStrike" noProof="1" dirty="0">
                <a:solidFill>
                  <a:srgbClr val="4B5563"/>
                </a:solidFill>
                <a:latin typeface="Inter"/>
                <a:ea typeface="Inter"/>
                <a:cs typeface="Inter"/>
                <a:sym typeface="Inter"/>
              </a:rPr>
              <a:t>Synonyms, spell check, use-case tag</a:t>
            </a:r>
            <a:r>
              <a:rPr lang="en-US" sz="1300" noProof="1" dirty="0">
                <a:solidFill>
                  <a:srgbClr val="4B5563"/>
                </a:solidFill>
                <a:latin typeface="Inter"/>
                <a:ea typeface="Inter"/>
                <a:cs typeface="Inter"/>
                <a:sym typeface="Inter"/>
              </a:rPr>
              <a:t>ging, intent mapping, attribute enrichment</a:t>
            </a:r>
            <a:r>
              <a:rPr b="0" i="0" lang="en-US" sz="1300" u="none" cap="none" strike="noStrike" noProof="1" dirty="0">
                <a:solidFill>
                  <a:srgbClr val="4B5563"/>
                </a:solidFill>
                <a:latin typeface="Inter"/>
                <a:ea typeface="Inter"/>
                <a:cs typeface="Inter"/>
                <a:sym typeface="Inter"/>
              </a:rPr>
              <a:t xml:space="preserve"> across your catalog</a:t>
            </a:r>
            <a:endParaRPr b="0" i="0" sz="13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4B5563"/>
              </a:buClr>
              <a:buSzPts val="1300"/>
              <a:buFont typeface="Inter"/>
              <a:buChar char="•"/>
            </a:pPr>
            <a:r>
              <a:rPr lang="en-US" sz="1300" noProof="1" dirty="0">
                <a:solidFill>
                  <a:srgbClr val="4B5563"/>
                </a:solidFill>
                <a:latin typeface="Inter"/>
                <a:ea typeface="Inter"/>
                <a:cs typeface="Inter"/>
                <a:sym typeface="Inter"/>
              </a:rPr>
              <a:t>AI agents can directly search the catalog to answer user queries</a:t>
            </a:r>
            <a:endParaRPr b="0" i="0" sz="1300" u="none" cap="none" strike="noStrike">
              <a:solidFill>
                <a:schemeClr val="dk1"/>
              </a:solidFill>
              <a:latin typeface="Calibri"/>
              <a:ea typeface="Calibri"/>
              <a:cs typeface="Calibri"/>
              <a:sym typeface="Calibri"/>
            </a:endParaRPr>
          </a:p>
        </p:txBody>
      </p:sp>
      <p:sp>
        <p:nvSpPr>
          <p:cNvPr id="114" name="Google Shape;114;p10"/>
          <p:cNvSpPr/>
          <p:nvPr/>
        </p:nvSpPr>
        <p:spPr>
          <a:xfrm>
            <a:off x="685800" y="3657600"/>
            <a:ext cx="54864" cy="1051560"/>
          </a:xfrm>
          <a:prstGeom prst="rect">
            <a:avLst/>
          </a:prstGeom>
          <a:solidFill>
            <a:srgbClr val="7C3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noProof="1" lang="en-US" dirty="0"/>
              <a:t/>
            </a:r>
            <a:endParaRPr/>
          </a:p>
        </p:txBody>
      </p:sp>
      <p:sp>
        <p:nvSpPr>
          <p:cNvPr id="115" name="Google Shape;115;p10"/>
          <p:cNvSpPr/>
          <p:nvPr/>
        </p:nvSpPr>
        <p:spPr>
          <a:xfrm>
            <a:off x="914400" y="3657600"/>
            <a:ext cx="73152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600"/>
              <a:buFont typeface="Inter"/>
              <a:buNone/>
            </a:pPr>
            <a:r>
              <a:rPr b="1" i="0" lang="en-US" sz="1600" u="none" cap="none" strike="noStrike" noProof="1" dirty="0">
                <a:solidFill>
                  <a:srgbClr val="111827"/>
                </a:solidFill>
                <a:latin typeface="Inter"/>
                <a:ea typeface="Inter"/>
                <a:cs typeface="Inter"/>
                <a:sym typeface="Inter"/>
              </a:rPr>
              <a:t>Intent-Aware Knowledge Graph</a:t>
            </a:r>
            <a:endParaRPr b="0" i="0" sz="1600" u="none" cap="none" strike="noStrike">
              <a:solidFill>
                <a:schemeClr val="dk1"/>
              </a:solidFill>
              <a:latin typeface="Calibri"/>
              <a:ea typeface="Calibri"/>
              <a:cs typeface="Calibri"/>
              <a:sym typeface="Calibri"/>
            </a:endParaRPr>
          </a:p>
        </p:txBody>
      </p:sp>
      <p:sp>
        <p:nvSpPr>
          <p:cNvPr id="116" name="Google Shape;116;p10"/>
          <p:cNvSpPr/>
          <p:nvPr/>
        </p:nvSpPr>
        <p:spPr>
          <a:xfrm>
            <a:off x="914400" y="4242700"/>
            <a:ext cx="8155200" cy="59430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4B5563"/>
              </a:buClr>
              <a:buSzPts val="1300"/>
              <a:buFont typeface="Inter"/>
              <a:buChar char="•"/>
            </a:pPr>
            <a:r>
              <a:rPr b="0" i="0" lang="en-US" sz="1300" u="none" cap="none" strike="noStrike" noProof="1" dirty="0">
                <a:solidFill>
                  <a:srgbClr val="4B5563"/>
                </a:solidFill>
                <a:latin typeface="Inter"/>
                <a:ea typeface="Inter"/>
                <a:cs typeface="Inter"/>
                <a:sym typeface="Inter"/>
              </a:rPr>
              <a:t xml:space="preserve">Maps </a:t>
            </a:r>
            <a:r>
              <a:rPr lang="en-US" sz="1300" noProof="1" dirty="0">
                <a:solidFill>
                  <a:srgbClr val="4B5563"/>
                </a:solidFill>
                <a:latin typeface="Inter"/>
                <a:ea typeface="Inter"/>
                <a:cs typeface="Inter"/>
                <a:sym typeface="Inter"/>
              </a:rPr>
              <a:t>user intent to keywords in PDP’s without spending millions of dollars in LLM tokens</a:t>
            </a:r>
            <a:endParaRPr b="0" i="0" sz="13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4B5563"/>
              </a:buClr>
              <a:buSzPts val="1300"/>
              <a:buFont typeface="Inter"/>
              <a:buChar char="•"/>
            </a:pPr>
            <a:r>
              <a:rPr b="0" i="0" lang="en-US" sz="1300" u="none" cap="none" strike="noStrike" noProof="1" dirty="0">
                <a:solidFill>
                  <a:srgbClr val="4B5563"/>
                </a:solidFill>
                <a:latin typeface="Inter"/>
                <a:ea typeface="Inter"/>
                <a:cs typeface="Inter"/>
                <a:sym typeface="Inter"/>
              </a:rPr>
              <a:t>Graph traversal designed for sub-20ms latency vs 100ms-2s for LLM inference</a:t>
            </a:r>
            <a:r>
              <a:rPr lang="en-US" sz="1300" noProof="1" dirty="0">
                <a:solidFill>
                  <a:schemeClr val="dk1"/>
                </a:solidFill>
                <a:latin typeface="Calibri"/>
                <a:ea typeface="Calibri"/>
                <a:cs typeface="Calibri"/>
                <a:sym typeface="Calibri"/>
              </a:rPr>
              <a:t>, w</a:t>
            </a:r>
            <a:r>
              <a:rPr b="0" i="0" lang="en-US" sz="1300" u="none" cap="none" strike="noStrike" noProof="1" dirty="0">
                <a:solidFill>
                  <a:srgbClr val="4B5563"/>
                </a:solidFill>
                <a:latin typeface="Inter"/>
                <a:ea typeface="Inter"/>
                <a:cs typeface="Inter"/>
                <a:sym typeface="Inter"/>
              </a:rPr>
              <a:t>orks for 5K-50K+ SKU catalogs</a:t>
            </a:r>
            <a:endParaRPr b="0" i="0" sz="1300" u="none" cap="none" strike="noStrike">
              <a:solidFill>
                <a:srgbClr val="4B5563"/>
              </a:solidFill>
              <a:latin typeface="Inter"/>
              <a:ea typeface="Inter"/>
              <a:cs typeface="Inter"/>
              <a:sym typeface="Inter"/>
            </a:endParaRPr>
          </a:p>
          <a:p>
            <a:pPr indent="-342900" lvl="0" marL="342900" marR="0" rtl="0" algn="l">
              <a:spcBef>
                <a:spcPts val="400"/>
              </a:spcBef>
              <a:spcAft>
                <a:spcPts val="0"/>
              </a:spcAft>
              <a:buClr>
                <a:srgbClr val="4B5563"/>
              </a:buClr>
              <a:buSzPts val="1300"/>
              <a:buFont typeface="Inter"/>
              <a:buChar char="•"/>
            </a:pPr>
            <a:r>
              <a:rPr lang="en-US" sz="1300" noProof="1" dirty="0">
                <a:solidFill>
                  <a:srgbClr val="4B5563"/>
                </a:solidFill>
                <a:latin typeface="Inter"/>
                <a:ea typeface="Inter"/>
                <a:cs typeface="Inter"/>
                <a:sym typeface="Inter"/>
              </a:rPr>
              <a:t>Enables AI shopping assistant to answer any and every query asked by a buyer facilitating a truly realistic online shopping experience and boosting conversion</a:t>
            </a:r>
            <a:endParaRPr sz="1300">
              <a:solidFill>
                <a:srgbClr val="4B5563"/>
              </a:solidFill>
              <a:latin typeface="Inter"/>
              <a:ea typeface="Inter"/>
              <a:cs typeface="Inter"/>
              <a:sym typeface="Inte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1" name="Shape 121"/>
        <p:cNvGrpSpPr/>
        <p:nvPr/>
      </p:nvGrpSpPr>
      <p:grpSpPr>
        <a:xfrm>
          <a:off x="0" y="0"/>
          <a:ext cx="0" cy="0"/>
          <a:chOff x="0" y="0"/>
          <a:chExt cx="0" cy="0"/>
        </a:xfrm>
      </p:grpSpPr>
      <p:sp>
        <p:nvSpPr>
          <p:cNvPr id="122" name="Google Shape;122;p11"/>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noProof="1" lang="en-US" dirty="0"/>
              <a:t/>
            </a:r>
            <a:endParaRPr/>
          </a:p>
        </p:txBody>
      </p:sp>
      <p:sp>
        <p:nvSpPr>
          <p:cNvPr id="123" name="Google Shape;123;p11"/>
          <p:cNvSpPr/>
          <p:nvPr/>
        </p:nvSpPr>
        <p:spPr>
          <a:xfrm>
            <a:off x="685800" y="36576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800"/>
              <a:buFont typeface="Inter"/>
              <a:buNone/>
            </a:pPr>
            <a:r>
              <a:rPr b="1" i="0" lang="en-US" sz="2800" u="none" cap="none" strike="noStrike" noProof="1" dirty="0">
                <a:solidFill>
                  <a:srgbClr val="111827"/>
                </a:solidFill>
                <a:latin typeface="Inter"/>
                <a:ea typeface="Inter"/>
                <a:cs typeface="Inter"/>
                <a:sym typeface="Inter"/>
              </a:rPr>
              <a:t>How SuperSearch is different</a:t>
            </a:r>
            <a:endParaRPr b="0" i="0" sz="2800" u="none" cap="none" strike="noStrike">
              <a:solidFill>
                <a:schemeClr val="dk1"/>
              </a:solidFill>
              <a:latin typeface="Calibri"/>
              <a:ea typeface="Calibri"/>
              <a:cs typeface="Calibri"/>
              <a:sym typeface="Calibri"/>
            </a:endParaRPr>
          </a:p>
        </p:txBody>
      </p:sp>
      <p:graphicFrame>
        <p:nvGraphicFramePr>
          <p:cNvPr id="124" name="Google Shape;124;p11"/>
          <p:cNvGraphicFramePr/>
          <p:nvPr/>
        </p:nvGraphicFramePr>
        <p:xfrm>
          <a:off x="685800" y="1097280"/>
          <a:ext cx="3000000" cy="3000000"/>
        </p:xfrm>
        <a:graphic>
          <a:graphicData uri="http://schemas.openxmlformats.org/drawingml/2006/table">
            <a:tbl>
              <a:tblPr>
                <a:noFill/>
                <a:tableStyleId>{30EBE6C2-84AA-4F8B-9F8C-F36D36772EF9}</a:tableStyleId>
              </a:tblPr>
              <a:tblGrid>
                <a:gridCol w="2011675"/>
                <a:gridCol w="1828800"/>
                <a:gridCol w="1920250"/>
                <a:gridCol w="2011675"/>
              </a:tblGrid>
              <a:tr h="365750">
                <a:tc>
                  <a:txBody>
                    <a:bodyPr/>
                    <a:lstStyle/>
                    <a:p>
                      <a:pPr indent="0" lvl="0" marL="0" marR="0" rtl="0" algn="l">
                        <a:spcBef>
                          <a:spcPts val="0"/>
                        </a:spcBef>
                        <a:spcAft>
                          <a:spcPts val="0"/>
                        </a:spcAft>
                        <a:buClr>
                          <a:schemeClr val="dk1"/>
                        </a:buClr>
                        <a:buSzPts val="1000"/>
                        <a:buFont typeface="Calibri"/>
                        <a:buNone/>
                      </a:pPr>
                      <a:r>
                        <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Keyword Search</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Pure LLM</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SuperSearch</a:t>
                      </a:r>
                      <a:endParaRPr sz="1000" u="none" cap="none" strike="noStrike">
                        <a:latin typeface="Inter"/>
                        <a:ea typeface="Inter"/>
                        <a:cs typeface="Inter"/>
                        <a:sym typeface="Inter"/>
                      </a:endParaRPr>
                    </a:p>
                    <a:p>
                      <a:pPr indent="0" lvl="0" marL="0" marR="0" rtl="0" algn="l">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(Graph + LLM)</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r>
              <a:tr h="365750">
                <a:tc>
                  <a:txBody>
                    <a:bodyPr/>
                    <a:lstStyle/>
                    <a:p>
                      <a:pPr indent="0" lvl="0" marL="0" marR="0" rtl="0" algn="l">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Simple query</a:t>
                      </a:r>
                      <a:endParaRPr sz="1000" u="none" cap="none" strike="noStrike">
                        <a:latin typeface="Inter"/>
                        <a:ea typeface="Inter"/>
                        <a:cs typeface="Inter"/>
                        <a:sym typeface="Inter"/>
                      </a:endParaRPr>
                    </a:p>
                    <a:p>
                      <a:pPr indent="0" lvl="0" marL="0" marR="0" rtl="0" algn="l">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cotton kurti for women</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Handles well</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Handles well</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Handles well</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411475">
                <a:tc>
                  <a:txBody>
                    <a:bodyPr/>
                    <a:lstStyle/>
                    <a:p>
                      <a:pPr indent="0" lvl="0" marL="0" marR="0" rtl="0" algn="l">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Synonym query</a:t>
                      </a:r>
                      <a:endParaRPr sz="1000" u="none" cap="none" strike="noStrike">
                        <a:latin typeface="Inter"/>
                        <a:ea typeface="Inter"/>
                        <a:cs typeface="Inter"/>
                        <a:sym typeface="Inter"/>
                      </a:endParaRPr>
                    </a:p>
                    <a:p>
                      <a:pPr indent="0" lvl="0" marL="0" marR="0" rtl="0" algn="l">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mixer grinder 750 watt</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Not supported</a:t>
                      </a:r>
                      <a:endParaRPr sz="1000" u="none" cap="none" strike="noStrike">
                        <a:latin typeface="Inter"/>
                        <a:ea typeface="Inter"/>
                        <a:cs typeface="Inter"/>
                        <a:sym typeface="Inter"/>
                      </a:endParaRPr>
                    </a:p>
                    <a:p>
                      <a:pPr indent="0" lvl="0" marL="0" marR="0" rtl="0" algn="l">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(no synonym bridging)</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D97706"/>
                        </a:buClr>
                        <a:buSzPts val="1000"/>
                        <a:buFont typeface="Inter"/>
                        <a:buNone/>
                      </a:pPr>
                      <a:r>
                        <a:rPr lang="en-US" sz="1000" u="none" cap="none" strike="noStrike">
                          <a:solidFill>
                            <a:srgbClr val="D97706"/>
                          </a:solidFill>
                          <a:latin typeface="Inter"/>
                          <a:ea typeface="Inter"/>
                          <a:cs typeface="Inter"/>
                          <a:sym typeface="Inter"/>
                        </a:rPr>
                        <a:t>May work</a:t>
                      </a:r>
                      <a:endParaRPr sz="1000" u="none" cap="none" strike="noStrike">
                        <a:latin typeface="Inter"/>
                        <a:ea typeface="Inter"/>
                        <a:cs typeface="Inter"/>
                        <a:sym typeface="Inter"/>
                      </a:endParaRPr>
                    </a:p>
                    <a:p>
                      <a:pPr indent="0" lvl="0" marL="0" marR="0" rtl="0" algn="l">
                        <a:spcBef>
                          <a:spcPts val="0"/>
                        </a:spcBef>
                        <a:spcAft>
                          <a:spcPts val="0"/>
                        </a:spcAft>
                        <a:buClr>
                          <a:srgbClr val="D97706"/>
                        </a:buClr>
                        <a:buSzPts val="1000"/>
                        <a:buFont typeface="Inter"/>
                        <a:buNone/>
                      </a:pPr>
                      <a:r>
                        <a:rPr lang="en-US" sz="1000" u="none" cap="none" strike="noStrike">
                          <a:solidFill>
                            <a:srgbClr val="D97706"/>
                          </a:solidFill>
                          <a:latin typeface="Inter"/>
                          <a:ea typeface="Inter"/>
                          <a:cs typeface="Inter"/>
                          <a:sym typeface="Inter"/>
                        </a:rPr>
                        <a:t>(depends on training data)</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Handles via</a:t>
                      </a:r>
                      <a:endParaRPr sz="1000" u="none" cap="none" strike="noStrike">
                        <a:latin typeface="Inter"/>
                        <a:ea typeface="Inter"/>
                        <a:cs typeface="Inter"/>
                        <a:sym typeface="Inter"/>
                      </a:endParaRPr>
                    </a:p>
                    <a:p>
                      <a:pPr indent="0" lvl="0" marL="0" marR="0" rtl="0" algn="l">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vocabulary graph</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411475">
                <a:tc>
                  <a:txBody>
                    <a:bodyPr/>
                    <a:lstStyle/>
                    <a:p>
                      <a:pPr indent="0" lvl="0" marL="0" marR="0" rtl="0" algn="l">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Occasion query</a:t>
                      </a:r>
                      <a:endParaRPr sz="1000" u="none" cap="none" strike="noStrike">
                        <a:latin typeface="Inter"/>
                        <a:ea typeface="Inter"/>
                        <a:cs typeface="Inter"/>
                        <a:sym typeface="Inter"/>
                      </a:endParaRPr>
                    </a:p>
                    <a:p>
                      <a:pPr indent="0" lvl="0" marL="0" marR="0" rtl="0" algn="l">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diwali outfit for men</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Not supported</a:t>
                      </a:r>
                      <a:endParaRPr sz="1000" u="none" cap="none" strike="noStrike">
                        <a:latin typeface="Inter"/>
                        <a:ea typeface="Inter"/>
                        <a:cs typeface="Inter"/>
                        <a:sym typeface="Inter"/>
                      </a:endParaRPr>
                    </a:p>
                    <a:p>
                      <a:pPr indent="0" lvl="0" marL="0" marR="0" rtl="0" algn="l">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(no intent mapping)</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D97706"/>
                        </a:buClr>
                        <a:buSzPts val="1000"/>
                        <a:buFont typeface="Inter"/>
                        <a:buNone/>
                      </a:pPr>
                      <a:r>
                        <a:rPr lang="en-US" sz="1000" u="none" cap="none" strike="noStrike">
                          <a:solidFill>
                            <a:srgbClr val="D97706"/>
                          </a:solidFill>
                          <a:latin typeface="Inter"/>
                          <a:ea typeface="Inter"/>
                          <a:cs typeface="Inter"/>
                          <a:sym typeface="Inter"/>
                        </a:rPr>
                        <a:t>Generic suggestions</a:t>
                      </a:r>
                      <a:endParaRPr sz="1000" u="none" cap="none" strike="noStrike">
                        <a:latin typeface="Inter"/>
                        <a:ea typeface="Inter"/>
                        <a:cs typeface="Inter"/>
                        <a:sym typeface="Inter"/>
                      </a:endParaRPr>
                    </a:p>
                    <a:p>
                      <a:pPr indent="0" lvl="0" marL="0" marR="0" rtl="0" algn="l">
                        <a:spcBef>
                          <a:spcPts val="0"/>
                        </a:spcBef>
                        <a:spcAft>
                          <a:spcPts val="0"/>
                        </a:spcAft>
                        <a:buClr>
                          <a:srgbClr val="D97706"/>
                        </a:buClr>
                        <a:buSzPts val="1000"/>
                        <a:buFont typeface="Inter"/>
                        <a:buNone/>
                      </a:pPr>
                      <a:r>
                        <a:rPr lang="en-US" sz="1000" u="none" cap="none" strike="noStrike">
                          <a:solidFill>
                            <a:srgbClr val="D97706"/>
                          </a:solidFill>
                          <a:latin typeface="Inter"/>
                          <a:ea typeface="Inter"/>
                          <a:cs typeface="Inter"/>
                          <a:sym typeface="Inter"/>
                        </a:rPr>
                        <a:t>(not catalog-aware)</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Maps to your</a:t>
                      </a:r>
                      <a:endParaRPr sz="1000" u="none" cap="none" strike="noStrike">
                        <a:latin typeface="Inter"/>
                        <a:ea typeface="Inter"/>
                        <a:cs typeface="Inter"/>
                        <a:sym typeface="Inter"/>
                      </a:endParaRPr>
                    </a:p>
                    <a:p>
                      <a:pPr indent="0" lvl="0" marL="0" marR="0" rtl="0" algn="l">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actual products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411475">
                <a:tc>
                  <a:txBody>
                    <a:bodyPr/>
                    <a:lstStyle/>
                    <a:p>
                      <a:pPr indent="0" lvl="0" marL="0" marR="0" rtl="0" algn="l">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Conversational query</a:t>
                      </a:r>
                      <a:endParaRPr sz="1000" u="none" cap="none" strike="noStrike">
                        <a:latin typeface="Inter"/>
                        <a:ea typeface="Inter"/>
                        <a:cs typeface="Inter"/>
                        <a:sym typeface="Inter"/>
                      </a:endParaRPr>
                    </a:p>
                    <a:p>
                      <a:pPr indent="0" lvl="0" marL="0" marR="0" rtl="0" algn="l">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shoes that won't get ruined in rain monsoon</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Not supported</a:t>
                      </a:r>
                      <a:endParaRPr sz="1000" u="none" cap="none" strike="noStrike">
                        <a:latin typeface="Inter"/>
                        <a:ea typeface="Inter"/>
                        <a:cs typeface="Inter"/>
                        <a:sym typeface="Inter"/>
                      </a:endParaRPr>
                    </a:p>
                    <a:p>
                      <a:pPr indent="0" lvl="0" marL="0" marR="0" rtl="0" algn="l">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(not designed for this)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D97706"/>
                        </a:buClr>
                        <a:buSzPts val="1000"/>
                        <a:buFont typeface="Inter"/>
                        <a:buNone/>
                      </a:pPr>
                      <a:r>
                        <a:rPr lang="en-US" sz="1000" u="none" cap="none" strike="noStrike">
                          <a:solidFill>
                            <a:srgbClr val="D97706"/>
                          </a:solidFill>
                          <a:latin typeface="Inter"/>
                          <a:ea typeface="Inter"/>
                          <a:cs typeface="Inter"/>
                          <a:sym typeface="Inter"/>
                        </a:rPr>
                        <a:t>Generic answers</a:t>
                      </a:r>
                      <a:endParaRPr sz="1000" u="none" cap="none" strike="noStrike">
                        <a:latin typeface="Inter"/>
                        <a:ea typeface="Inter"/>
                        <a:cs typeface="Inter"/>
                        <a:sym typeface="Inter"/>
                      </a:endParaRPr>
                    </a:p>
                    <a:p>
                      <a:pPr indent="0" lvl="0" marL="0" marR="0" rtl="0" algn="l">
                        <a:spcBef>
                          <a:spcPts val="0"/>
                        </a:spcBef>
                        <a:spcAft>
                          <a:spcPts val="0"/>
                        </a:spcAft>
                        <a:buClr>
                          <a:srgbClr val="D97706"/>
                        </a:buClr>
                        <a:buSzPts val="1000"/>
                        <a:buFont typeface="Inter"/>
                        <a:buNone/>
                      </a:pPr>
                      <a:r>
                        <a:rPr lang="en-US" sz="1000" u="none" cap="none" strike="noStrike">
                          <a:solidFill>
                            <a:srgbClr val="D97706"/>
                          </a:solidFill>
                          <a:latin typeface="Inter"/>
                          <a:ea typeface="Inter"/>
                          <a:cs typeface="Inter"/>
                          <a:sym typeface="Inter"/>
                        </a:rPr>
                        <a:t>(not your catalog)</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Returns your</a:t>
                      </a:r>
                      <a:endParaRPr sz="1000" u="none" cap="none" strike="noStrike">
                        <a:latin typeface="Inter"/>
                        <a:ea typeface="Inter"/>
                        <a:cs typeface="Inter"/>
                        <a:sym typeface="Inter"/>
                      </a:endParaRPr>
                    </a:p>
                    <a:p>
                      <a:pPr indent="0" lvl="0" marL="0" marR="0" rtl="0" algn="l">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actual inventory</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365750">
                <a:tc>
                  <a:txBody>
                    <a:bodyPr/>
                    <a:lstStyle/>
                    <a:p>
                      <a:pPr indent="0" lvl="0" marL="0" marR="0" rtl="0" algn="l">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Cost at scale</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111827"/>
                        </a:buClr>
                        <a:buSzPts val="1000"/>
                        <a:buFont typeface="Inter"/>
                        <a:buNone/>
                      </a:pPr>
                      <a:r>
                        <a:rPr lang="en-US" sz="1000" u="none" cap="none" strike="noStrike">
                          <a:solidFill>
                            <a:srgbClr val="111827"/>
                          </a:solidFill>
                          <a:latin typeface="Inter"/>
                          <a:ea typeface="Inter"/>
                          <a:cs typeface="Inter"/>
                          <a:sym typeface="Inter"/>
                        </a:rPr>
                        <a:t>Low</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High</a:t>
                      </a:r>
                      <a:endParaRPr sz="1000" u="none" cap="none" strike="noStrike">
                        <a:latin typeface="Inter"/>
                        <a:ea typeface="Inter"/>
                        <a:cs typeface="Inter"/>
                        <a:sym typeface="Inter"/>
                      </a:endParaRPr>
                    </a:p>
                    <a:p>
                      <a:pPr indent="0" lvl="0" marL="0" marR="0" rtl="0" algn="l">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(LLM call per query)</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Low</a:t>
                      </a:r>
                      <a:endParaRPr sz="1000" u="none" cap="none" strike="noStrike">
                        <a:latin typeface="Inter"/>
                        <a:ea typeface="Inter"/>
                        <a:cs typeface="Inter"/>
                        <a:sym typeface="Inter"/>
                      </a:endParaRPr>
                    </a:p>
                    <a:p>
                      <a:pPr indent="0" lvl="0" marL="0" marR="0" rtl="0" algn="l">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(LLM only for edge cases)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411475">
                <a:tc>
                  <a:txBody>
                    <a:bodyPr/>
                    <a:lstStyle/>
                    <a:p>
                      <a:pPr indent="0" lvl="0" marL="0" marR="0" rtl="0" algn="l">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Multi-attribute queries</a:t>
                      </a:r>
                      <a:endParaRPr sz="1000" u="none" cap="none" strike="noStrike">
                        <a:latin typeface="Inter"/>
                        <a:ea typeface="Inter"/>
                        <a:cs typeface="Inter"/>
                        <a:sym typeface="Inter"/>
                      </a:endParaRPr>
                    </a:p>
                    <a:p>
                      <a:pPr indent="0" lvl="0" marL="0" marR="0" rtl="0" algn="l">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(5+ constraints)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Accuracy degrades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Prone to</a:t>
                      </a:r>
                      <a:endParaRPr sz="1000" u="none" cap="none" strike="noStrike">
                        <a:latin typeface="Inter"/>
                        <a:ea typeface="Inter"/>
                        <a:cs typeface="Inter"/>
                        <a:sym typeface="Inter"/>
                      </a:endParaRPr>
                    </a:p>
                    <a:p>
                      <a:pPr indent="0" lvl="0" marL="0" marR="0" rtl="0" algn="l">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hallucinations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059669"/>
                        </a:buClr>
                        <a:buSzPts val="1000"/>
                        <a:buFont typeface="Inter"/>
                        <a:buNone/>
                      </a:pPr>
                      <a:r>
                        <a:rPr b="1" lang="en-US" sz="1000" u="none" cap="none" strike="noStrike">
                          <a:solidFill>
                            <a:srgbClr val="059669"/>
                          </a:solidFill>
                          <a:latin typeface="Inter"/>
                          <a:ea typeface="Inter"/>
                          <a:cs typeface="Inter"/>
                          <a:sym typeface="Inter"/>
                        </a:rPr>
                        <a:t>3x more accurate</a:t>
                      </a:r>
                      <a:endParaRPr sz="1000" u="none" cap="none" strike="noStrike">
                        <a:latin typeface="Inter"/>
                        <a:ea typeface="Inter"/>
                        <a:cs typeface="Inter"/>
                        <a:sym typeface="Inter"/>
                      </a:endParaRPr>
                    </a:p>
                    <a:p>
                      <a:pPr indent="0" lvl="0" marL="0" marR="0" rtl="0" algn="l">
                        <a:spcBef>
                          <a:spcPts val="0"/>
                        </a:spcBef>
                        <a:spcAft>
                          <a:spcPts val="0"/>
                        </a:spcAft>
                        <a:buClr>
                          <a:srgbClr val="059669"/>
                        </a:buClr>
                        <a:buSzPts val="1000"/>
                        <a:buFont typeface="Inter"/>
                        <a:buNone/>
                      </a:pPr>
                      <a:r>
                        <a:rPr b="1" lang="en-US" sz="1000" u="none" cap="none" strike="noStrike">
                          <a:solidFill>
                            <a:srgbClr val="059669"/>
                          </a:solidFill>
                          <a:latin typeface="Inter"/>
                          <a:ea typeface="Inter"/>
                          <a:cs typeface="Inter"/>
                          <a:sym typeface="Inter"/>
                        </a:rPr>
                        <a:t>than standard RAG</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9" name="Shape 129"/>
        <p:cNvGrpSpPr/>
        <p:nvPr/>
      </p:nvGrpSpPr>
      <p:grpSpPr>
        <a:xfrm>
          <a:off x="0" y="0"/>
          <a:ext cx="0" cy="0"/>
          <a:chOff x="0" y="0"/>
          <a:chExt cx="0" cy="0"/>
        </a:xfrm>
      </p:grpSpPr>
      <p:sp>
        <p:nvSpPr>
          <p:cNvPr id="130" name="Google Shape;130;p12"/>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noProof="1" lang="en-US" dirty="0"/>
              <a:t/>
            </a:r>
            <a:endParaRPr/>
          </a:p>
        </p:txBody>
      </p:sp>
      <p:sp>
        <p:nvSpPr>
          <p:cNvPr id="131" name="Google Shape;131;p12"/>
          <p:cNvSpPr/>
          <p:nvPr/>
        </p:nvSpPr>
        <p:spPr>
          <a:xfrm>
            <a:off x="685800" y="1097280"/>
            <a:ext cx="77724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3600"/>
              <a:buFont typeface="Inter"/>
              <a:buNone/>
            </a:pPr>
            <a:r>
              <a:rPr b="1" i="0" lang="en-US" sz="3600" u="none" cap="none" strike="noStrike" noProof="1" dirty="0">
                <a:solidFill>
                  <a:srgbClr val="111827"/>
                </a:solidFill>
                <a:latin typeface="Inter"/>
                <a:ea typeface="Inter"/>
                <a:cs typeface="Inter"/>
                <a:sym typeface="Inter"/>
              </a:rPr>
              <a:t>Let's close the gap.</a:t>
            </a:r>
            <a:endParaRPr b="0" i="0" sz="3600" u="none" cap="none" strike="noStrike">
              <a:solidFill>
                <a:schemeClr val="dk1"/>
              </a:solidFill>
              <a:latin typeface="Calibri"/>
              <a:ea typeface="Calibri"/>
              <a:cs typeface="Calibri"/>
              <a:sym typeface="Calibri"/>
            </a:endParaRPr>
          </a:p>
        </p:txBody>
      </p:sp>
      <p:sp>
        <p:nvSpPr>
          <p:cNvPr id="132" name="Google Shape;132;p12"/>
          <p:cNvSpPr/>
          <p:nvPr/>
        </p:nvSpPr>
        <p:spPr>
          <a:xfrm>
            <a:off x="685800" y="1920240"/>
            <a:ext cx="6400800" cy="1645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1500"/>
              <a:buFont typeface="Inter"/>
              <a:buNone/>
            </a:pPr>
            <a:r>
              <a:rPr b="0" i="0" lang="en-US" sz="1500" u="none" cap="none" strike="noStrike" noProof="1" dirty="0">
                <a:solidFill>
                  <a:srgbClr val="4B5563"/>
                </a:solidFill>
                <a:latin typeface="Inter"/>
                <a:ea typeface="Inter"/>
                <a:cs typeface="Inter"/>
                <a:sym typeface="Inter"/>
              </a:rPr>
              <a:t xml:space="preserve">We can run a full </a:t>
            </a:r>
            <a:r>
              <a:rPr lang="en-US" sz="1500" noProof="1" dirty="0">
                <a:solidFill>
                  <a:srgbClr val="4B5563"/>
                </a:solidFill>
                <a:latin typeface="Inter"/>
                <a:ea typeface="Inter"/>
                <a:cs typeface="Inter"/>
                <a:sym typeface="Inter"/>
              </a:rPr>
              <a:t>500</a:t>
            </a:r>
            <a:r>
              <a:rPr b="0" i="0" lang="en-US" sz="1500" u="none" cap="none" strike="noStrike" noProof="1" dirty="0">
                <a:solidFill>
                  <a:srgbClr val="4B5563"/>
                </a:solidFill>
                <a:latin typeface="Inter"/>
                <a:ea typeface="Inter"/>
                <a:cs typeface="Inter"/>
                <a:sym typeface="Inter"/>
              </a:rPr>
              <a:t>-query audit on your site in under a week.</a:t>
            </a: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500"/>
              <a:buFont typeface="Calibri"/>
              <a:buNone/>
            </a:pPr>
            <a:r>
              <a:rPr noProof="1" lang="en-US" dirty="0"/>
              <a:t/>
            </a: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B5563"/>
              </a:buClr>
              <a:buSzPts val="1500"/>
              <a:buFont typeface="Inter"/>
              <a:buNone/>
            </a:pPr>
            <a:r>
              <a:rPr b="0" i="0" lang="en-US" sz="1500" u="none" cap="none" strike="noStrike" noProof="1" dirty="0">
                <a:solidFill>
                  <a:srgbClr val="4B5563"/>
                </a:solidFill>
                <a:latin typeface="Inter"/>
                <a:ea typeface="Inter"/>
                <a:cs typeface="Inter"/>
                <a:sym typeface="Inter"/>
              </a:rPr>
              <a:t>Every query grounded in Google autocomplete. Every result verified against your actual catalog.</a:t>
            </a: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500"/>
              <a:buFont typeface="Calibri"/>
              <a:buNone/>
            </a:pPr>
            <a:r>
              <a:rPr noProof="1" lang="en-US" dirty="0"/>
              <a:t/>
            </a: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B5563"/>
              </a:buClr>
              <a:buSzPts val="1500"/>
              <a:buFont typeface="Inter"/>
              <a:buNone/>
            </a:pPr>
            <a:r>
              <a:rPr b="0" i="0" lang="en-US" sz="1500" u="none" cap="none" strike="noStrike" noProof="1" dirty="0">
                <a:solidFill>
                  <a:srgbClr val="4B5563"/>
                </a:solidFill>
                <a:latin typeface="Inter"/>
                <a:ea typeface="Inter"/>
                <a:cs typeface="Inter"/>
                <a:sym typeface="Inter"/>
              </a:rPr>
              <a:t>No commitment required — the audit speaks for itself.</a:t>
            </a:r>
            <a:endParaRPr b="0" i="0" sz="1500" u="none" cap="none" strike="noStrike">
              <a:solidFill>
                <a:schemeClr val="dk1"/>
              </a:solidFill>
              <a:latin typeface="Calibri"/>
              <a:ea typeface="Calibri"/>
              <a:cs typeface="Calibri"/>
              <a:sym typeface="Calibri"/>
            </a:endParaRPr>
          </a:p>
        </p:txBody>
      </p:sp>
      <p:sp>
        <p:nvSpPr>
          <p:cNvPr id="133" name="Google Shape;133;p12"/>
          <p:cNvSpPr/>
          <p:nvPr/>
        </p:nvSpPr>
        <p:spPr>
          <a:xfrm>
            <a:off x="685800" y="3749040"/>
            <a:ext cx="64008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300"/>
              <a:buFont typeface="Inter"/>
              <a:buNone/>
            </a:pPr>
            <a:r>
              <a:rPr b="0" i="0" lang="en-US" sz="1300" u="none" cap="none" strike="noStrike" noProof="1" dirty="0">
                <a:solidFill>
                  <a:srgbClr val="9CA3AF"/>
                </a:solidFill>
                <a:latin typeface="Inter"/>
                <a:ea typeface="Inter"/>
                <a:cs typeface="Inter"/>
                <a:sym typeface="Inter"/>
              </a:rPr>
              <a:t>Aantriksh Pandya  ·  aantriksh.pandya1@gmail.com</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9CA3AF"/>
              </a:buClr>
              <a:buSzPts val="1300"/>
              <a:buFont typeface="Inter"/>
              <a:buNone/>
            </a:pPr>
            <a:r>
              <a:rPr b="0" i="0" lang="en-US" sz="1300" u="none" cap="none" strike="noStrike" noProof="1" dirty="0">
                <a:solidFill>
                  <a:srgbClr val="9CA3AF"/>
                </a:solidFill>
                <a:latin typeface="Inter"/>
                <a:ea typeface="Inter"/>
                <a:cs typeface="Inter"/>
                <a:sym typeface="Inter"/>
              </a:rPr>
              <a:t>Shalini Mukhopadhyay  ·  shaliniiitkgp2021@gmail.com</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