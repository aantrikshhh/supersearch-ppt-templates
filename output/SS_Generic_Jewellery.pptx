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AXWUe55wi30lXcQrFr6CVs98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67869B-1F53-4C99-AD8D-8728D57326FD}">
  <a:tblStyle styleId="{A667869B-1F53-4C99-AD8D-8728D57326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03a3b1c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03a3b1c6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e03a3b1c68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36f29e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36f29e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836f29ee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36f29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836f29e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836f29ee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upersearch.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upersearch.onrender.com/" TargetMode="External"/><Relationship Id="rId4" Type="http://schemas.openxmlformats.org/officeDocument/2006/relationships/hyperlink" Target="mailto:shaliniiitkgp2021@gmail.com" TargetMode="External"/><Relationship Id="rId5" Type="http://schemas.openxmlformats.org/officeDocument/2006/relationships/hyperlink" Target="mailto:aantriksh.pandya1@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4400"/>
              <a:buFont typeface="Inter"/>
              <a:buNone/>
            </a:pPr>
            <a:r>
              <a:rPr b="1" i="0" lang="en-US" sz="4400" u="none" cap="none" strike="noStrike">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685800" y="2180251"/>
            <a:ext cx="6550500" cy="7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600"/>
              <a:buFont typeface="Inter"/>
              <a:buNone/>
            </a:pPr>
            <a:r>
              <a:rPr b="0" i="0" lang="en-US" sz="1600" u="none" cap="none" strike="noStrike">
                <a:solidFill>
                  <a:srgbClr val="4B5563"/>
                </a:solidFill>
                <a:latin typeface="Inter"/>
                <a:ea typeface="Inter"/>
                <a:cs typeface="Inter"/>
                <a:sym typeface="Inter"/>
              </a:rPr>
              <a:t>Conversational AI shopping assistants for for e-commerce websites</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600" u="none" cap="none" strike="noStrike">
              <a:solidFill>
                <a:srgbClr val="4B5563"/>
              </a:solidFill>
              <a:latin typeface="Inter"/>
              <a:ea typeface="Inter"/>
              <a:cs typeface="Inter"/>
              <a:sym typeface="Inter"/>
            </a:endParaRPr>
          </a:p>
        </p:txBody>
      </p:sp>
      <p:sp>
        <p:nvSpPr>
          <p:cNvPr id="19" name="Google Shape;19;p1"/>
          <p:cNvSpPr/>
          <p:nvPr/>
        </p:nvSpPr>
        <p:spPr>
          <a:xfrm>
            <a:off x="685800" y="3154700"/>
            <a:ext cx="5925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Aantriksh Pandya . Shalini Mukhopadhyay</a:t>
            </a:r>
            <a:r>
              <a:rPr b="0" i="0" lang="en-US" sz="1300" u="none" cap="none" strike="noStrike">
                <a:solidFill>
                  <a:schemeClr val="dk1"/>
                </a:solidFill>
                <a:latin typeface="Calibri"/>
                <a:ea typeface="Calibri"/>
                <a:cs typeface="Calibri"/>
                <a:sym typeface="Calibri"/>
              </a:rPr>
              <a:t xml:space="preserve">  </a:t>
            </a:r>
            <a:r>
              <a:rPr b="0" i="0" lang="en-US" sz="1300" u="none" cap="none" strike="noStrike">
                <a:solidFill>
                  <a:srgbClr val="4B5563"/>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100"/>
              <a:buFont typeface="Inter"/>
              <a:buNone/>
            </a:pPr>
            <a:r>
              <a:rPr b="0" i="0" lang="en-US" sz="1100" u="none" cap="none" strike="noStrike">
                <a:solidFill>
                  <a:schemeClr val="dk1"/>
                </a:solidFill>
                <a:latin typeface="Inter"/>
                <a:ea typeface="Inter"/>
                <a:cs typeface="Inter"/>
                <a:sym typeface="Inter"/>
              </a:rPr>
              <a:t>Prepared for: {Brand Name}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Ecommerce search is changing forever and AI shopping assistants are here to stay — the numbers are clear</a:t>
            </a:r>
            <a:endParaRPr b="0" i="0" sz="2300" u="none" cap="none" strike="noStrike">
              <a:solidFill>
                <a:schemeClr val="dk1"/>
              </a:solidFill>
              <a:latin typeface="Calibri"/>
              <a:ea typeface="Calibri"/>
              <a:cs typeface="Calibri"/>
              <a:sym typeface="Calibri"/>
            </a:endParaRPr>
          </a:p>
        </p:txBody>
      </p:sp>
      <p:sp>
        <p:nvSpPr>
          <p:cNvPr id="28" name="Google Shape;28;p2"/>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2"/>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of consumers prefer AI shopping assistants</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over keywords (up from 25%</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2"/>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conversational search as compared to keyword search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85800" y="2814763"/>
            <a:ext cx="7909500" cy="17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 xml:space="preserve">~60% to 64% of online shoppers </a:t>
            </a:r>
            <a:r>
              <a:rPr b="0" i="0" lang="en-US" sz="1100" u="none" cap="none" strike="noStrike">
                <a:solidFill>
                  <a:srgbClr val="4B5563"/>
                </a:solidFill>
                <a:latin typeface="Inter"/>
                <a:ea typeface="Inter"/>
                <a:cs typeface="Inter"/>
                <a:sym typeface="Inter"/>
              </a:rPr>
              <a:t>have used or plan to use AI for shopping in 2026 (~3B AI shoppers)</a:t>
            </a:r>
            <a:r>
              <a:rPr b="1" i="0" lang="en-US" sz="1100" u="none" cap="none" strike="noStrike">
                <a:solidFill>
                  <a:srgbClr val="4B5563"/>
                </a:solidFill>
                <a:latin typeface="Inter"/>
                <a:ea typeface="Inter"/>
                <a:cs typeface="Inter"/>
                <a:sym typeface="Inter"/>
              </a:rPr>
              <a:t xml:space="preserve">. </a:t>
            </a:r>
            <a:endParaRPr b="1"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1"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7-8 word queries nearly doubled since ChatGPT</a:t>
            </a:r>
            <a:r>
              <a:rPr b="0" i="0" lang="en-US" sz="1100" u="none" cap="none" strike="noStrike">
                <a:solidFill>
                  <a:srgbClr val="4B5563"/>
                </a:solidFill>
                <a:latin typeface="Inter"/>
                <a:ea typeface="Inter"/>
                <a:cs typeface="Inter"/>
                <a:sym typeface="Inter"/>
              </a:rPr>
              <a:t xml:space="preserve"> launched (Search Engine Land), 35% of all search queries are now complete sentences, not fragmented keywords. Conversational search is the new norm.</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 to discover relevant products.</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82% want AI shopping assistants to reduce time</a:t>
            </a:r>
            <a:r>
              <a:rPr b="0" i="0" lang="en-US" sz="1100" u="none" cap="none" strike="noStrike">
                <a:solidFill>
                  <a:srgbClr val="4B5563"/>
                </a:solidFill>
                <a:latin typeface="Inter"/>
                <a:ea typeface="Inter"/>
                <a:cs typeface="Inter"/>
                <a:sym typeface="Inter"/>
              </a:rPr>
              <a:t xml:space="preserve"> spent researching what to buy.</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928325" y="4876001"/>
            <a:ext cx="7530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900"/>
              <a:buFont typeface="Inter"/>
              <a:buNone/>
            </a:pPr>
            <a:r>
              <a:rPr b="0" i="0" lang="en-US" sz="900" u="none" cap="none" strike="noStrike">
                <a:solidFill>
                  <a:srgbClr val="666666"/>
                </a:solidFill>
                <a:latin typeface="Inter"/>
                <a:ea typeface="Inter"/>
                <a:cs typeface="Inter"/>
                <a:sym typeface="Inter"/>
              </a:rPr>
              <a:t>Sources: Rep AI 2025, Adobe Analytics, Search Engine Land, Capgemini, Constructor, Nosto</a:t>
            </a:r>
            <a:endParaRPr b="0" i="0" sz="900" u="none" cap="none" strike="noStrike">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367600" y="322625"/>
            <a:ext cx="87765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Competitors are already live with conversational search and seeing massive gains</a:t>
            </a:r>
            <a:endParaRPr b="0" i="0" sz="2200" u="none" cap="none" strike="noStrike">
              <a:solidFill>
                <a:schemeClr val="dk1"/>
              </a:solidFill>
              <a:latin typeface="Calibri"/>
              <a:ea typeface="Calibri"/>
              <a:cs typeface="Calibri"/>
              <a:sym typeface="Calibri"/>
            </a:endParaRPr>
          </a:p>
        </p:txBody>
      </p:sp>
      <p:sp>
        <p:nvSpPr>
          <p:cNvPr id="46" name="Google Shape;46;p3"/>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600"/>
              <a:buFont typeface="Inter"/>
              <a:buNone/>
            </a:pPr>
            <a:r>
              <a:rPr b="1" i="0" lang="en-US" sz="1600" u="none" cap="none" strike="noStrike">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Pandora (Gemma)</a:t>
            </a:r>
            <a:r>
              <a:rPr b="0" i="0" lang="en-US" sz="1100" u="none" cap="none" strike="noStrike">
                <a:solidFill>
                  <a:srgbClr val="4B5563"/>
                </a:solidFill>
                <a:latin typeface="Inter"/>
                <a:ea typeface="Inter"/>
                <a:cs typeface="Inter"/>
                <a:sym typeface="Inter"/>
              </a:rPr>
              <a:t xml:space="preserve"> — AI personal shopper on Salesforce Agentforce (Sep 2025), understands occasions, preferences, budgets. Clara AI handles 60% of service cases (+10% NPS).</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Tiffany &amp; Co.</a:t>
            </a:r>
            <a:r>
              <a:rPr b="0" i="0" lang="en-US" sz="1100" u="none" cap="none" strike="noStrike">
                <a:solidFill>
                  <a:srgbClr val="4B5563"/>
                </a:solidFill>
                <a:latin typeface="Inter"/>
                <a:ea typeface="Inter"/>
                <a:cs typeface="Inter"/>
                <a:sym typeface="Inter"/>
              </a:rPr>
              <a:t xml:space="preserve"> — AI recommendations drove 25% conversion rise, 40% AOV increase. AR try-on for rings, bracelets, necklaces: 22% conversion jump, 19% fewer returns.</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Cartier</a:t>
            </a:r>
            <a:r>
              <a:rPr b="0" i="0" lang="en-US" sz="1100" u="none" cap="none" strike="noStrike">
                <a:solidFill>
                  <a:srgbClr val="4B5563"/>
                </a:solidFill>
                <a:latin typeface="Inter"/>
                <a:ea typeface="Inter"/>
                <a:cs typeface="Inter"/>
                <a:sym typeface="Inter"/>
              </a:rPr>
              <a:t xml:space="preserve"> — Google Cloud AI image recognition identifies any product from 174-year archive in &lt;2 seconds. “Looking Glass” in-store AR (Jan 2025).</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Signet (Kay, Zales, Jared)</a:t>
            </a:r>
            <a:r>
              <a:rPr b="0" i="0" lang="en-US" sz="1100" u="none" cap="none" strike="noStrike">
                <a:solidFill>
                  <a:srgbClr val="4B5563"/>
                </a:solidFill>
                <a:latin typeface="Inter"/>
                <a:ea typeface="Inter"/>
                <a:cs typeface="Inter"/>
                <a:sym typeface="Inter"/>
              </a:rPr>
              <a:t xml:space="preserve"> — world’s largest diamond jeweller, AI personalization across all brands. AR try-on: 67% adoption, 27% higher conversion.</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Blue Nile / James Allen / Brilliant Earth</a:t>
            </a:r>
            <a:r>
              <a:rPr b="0" i="0" lang="en-US" sz="1100" u="none" cap="none" strike="noStrike">
                <a:solidFill>
                  <a:srgbClr val="4B5563"/>
                </a:solidFill>
                <a:latin typeface="Inter"/>
                <a:ea typeface="Inter"/>
                <a:cs typeface="Inter"/>
                <a:sym typeface="Inter"/>
              </a:rPr>
              <a:t xml:space="preserve"> — AI diamond recommendation engines, AR ring try-on, 360° diamond video. 20-25% conversion lift across platforms.</a:t>
            </a:r>
          </a:p>
        </p:txBody>
      </p:sp>
      <p:sp>
        <p:nvSpPr>
          <p:cNvPr id="48" name="Google Shape;48;p3"/>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600"/>
              <a:buFont typeface="Inter"/>
              <a:buNone/>
            </a:pPr>
            <a:r>
              <a:rPr b="1" i="0" lang="en-US" sz="1600" u="none" cap="none" strike="noStrike">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709150" y="1630300"/>
            <a:ext cx="3749100" cy="23184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CaratLane (Tata/Tanishq)</a:t>
            </a:r>
            <a:r>
              <a:rPr i="0" lang="en-US" sz="1100" u="none" cap="none" strike="noStrike">
                <a:solidFill>
                  <a:schemeClr val="dk1"/>
                </a:solidFill>
                <a:latin typeface="Inter"/>
                <a:ea typeface="Inter"/>
                <a:cs typeface="Inter"/>
                <a:sym typeface="Inter"/>
              </a:rPr>
              <a:t xml:space="preserve"> — pioneer AR virtual try-on since 2015, 200% app usage increase, 40% of business from AR app. $100M+ quarterly revenue.</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Tanishq</a:t>
            </a:r>
            <a:r>
              <a:rPr i="0" lang="en-US" sz="1100" u="none" cap="none" strike="noStrike">
                <a:solidFill>
                  <a:schemeClr val="dk1"/>
                </a:solidFill>
                <a:latin typeface="Inter"/>
                <a:ea typeface="Inter"/>
                <a:cs typeface="Inter"/>
                <a:sym typeface="Inter"/>
              </a:rPr>
              <a:t xml:space="preserve"> — 1,000+ chats/day, Sherpa AI for personalization, Endless Aisle kiosks. 107% uplift in click-to-conversion during Akshay Tritiya.</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BlueStone</a:t>
            </a:r>
            <a:r>
              <a:rPr i="0" lang="en-US" sz="1100" u="none" cap="none" strike="noStrike">
                <a:solidFill>
                  <a:schemeClr val="dk1"/>
                </a:solidFill>
                <a:latin typeface="Inter"/>
                <a:ea typeface="Inter"/>
                <a:cs typeface="Inter"/>
                <a:sym typeface="Inter"/>
              </a:rPr>
              <a:t xml:space="preserve"> — AI/ML for UX, AR try-on, blockchain authentication. SEBI-approved $120M IPO.</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Kalyan (Candere), Malabar Gold</a:t>
            </a:r>
            <a:r>
              <a:rPr i="0" lang="en-US" sz="1100" u="none" cap="none" strike="noStrike">
                <a:solidFill>
                  <a:schemeClr val="dk1"/>
                </a:solidFill>
                <a:latin typeface="Inter"/>
                <a:ea typeface="Inter"/>
                <a:cs typeface="Inter"/>
                <a:sym typeface="Inter"/>
              </a:rPr>
              <a:t xml:space="preserve"> — Candere uses AI for behavior analysis. Malabar partnered with Accenture for AI-driven operations. Neither has conversational search.</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GIVA, Melorra, PC Jeweller</a:t>
            </a:r>
            <a:r>
              <a:rPr i="0" lang="en-US" sz="1100" u="none" cap="none" strike="noStrike">
                <a:solidFill>
                  <a:schemeClr val="dk1"/>
                </a:solidFill>
                <a:latin typeface="Inter"/>
                <a:ea typeface="Inter"/>
                <a:cs typeface="Inter"/>
                <a:sym typeface="Inter"/>
              </a:rPr>
              <a:t xml:space="preserve"> — GIVA has selective AR try-on. No Indian jewellery brand has conversational AI product discovery today.</a:t>
            </a:r>
          </a:p>
        </p:txBody>
      </p:sp>
      <p:sp>
        <p:nvSpPr>
          <p:cNvPr id="50" name="Google Shape;50;p3"/>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 xml:space="preserve">Platform shift: </a:t>
            </a:r>
            <a:r>
              <a:rPr b="0" i="0" lang="en-US" sz="1100" u="none" cap="none" strike="noStrike">
                <a:solidFill>
                  <a:srgbClr val="111827"/>
                </a:solidFill>
                <a:latin typeface="Inter"/>
                <a:ea typeface="Inter"/>
                <a:cs typeface="Inter"/>
                <a:sym typeface="Inter"/>
              </a:rPr>
              <a:t>Walmart, Target, Sephora, Nordstrom, Best Buy, Home Depot, Wayfair, Frasers, Sephora, Etsy, Macy’s all have integrated AI shopping assistants on 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253350" y="129400"/>
            <a:ext cx="889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Inter"/>
                <a:ea typeface="Inter"/>
                <a:cs typeface="Inter"/>
                <a:sym typeface="Inter"/>
              </a:rPr>
              <a:t>The gap in e-comm search today - shoppers think in problems and intents, search engines think in keywords.</a:t>
            </a:r>
            <a:endParaRPr b="0" i="0" sz="2200" u="none" cap="none" strike="noStrike">
              <a:solidFill>
                <a:schemeClr val="dk1"/>
              </a:solidFill>
              <a:latin typeface="Calibri"/>
              <a:ea typeface="Calibri"/>
              <a:cs typeface="Calibri"/>
              <a:sym typeface="Calibri"/>
            </a:endParaRPr>
          </a:p>
        </p:txBody>
      </p:sp>
      <p:sp>
        <p:nvSpPr>
          <p:cNvPr id="58" name="Google Shape;58;p4"/>
          <p:cNvSpPr txBox="1"/>
          <p:nvPr/>
        </p:nvSpPr>
        <p:spPr>
          <a:xfrm>
            <a:off x="217075" y="1052800"/>
            <a:ext cx="8637300" cy="3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The current search bar on your e-commerce website needs the right keywords. It does not understand human language, it cannot match necklace and mangalsutra, it cannot link “a South Indian wedding” to bridal and bridal to temple jewellery.</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But shoppers today do not shop using keywords such as “engagement ring” or “22kt BIS hallmark gold choker”, they shop by intents such as “for daily wear to office” or “that’s hypoallergenic for sensitive ears”.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What is happening is, even if your catalog has all the relevant products, these products are invisible to your buyer.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What an AI Sales Associate changes :  “I need a lightweight gold necklace within budget, 22kt BIS hallmark, minimalist for daily wear, that won’t tangle”</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4B5563"/>
                </a:solidFill>
                <a:latin typeface="Inter"/>
                <a:ea typeface="Inter"/>
                <a:cs typeface="Inter"/>
                <a:sym typeface="Inter"/>
              </a:rPr>
              <a:t>An AI sales associate powered by a knowledge graph understands intent + constraints + context, it maps lightweight to under 10g, daily wear to minimalist/durable, adds the conditions for karat, hallmark, and price and returns relevant products from the catalog - exactly what the shopper means and wants, not just what they typed.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p:txBody>
      </p:sp>
      <p:pic>
        <p:nvPicPr>
          <p:cNvPr id="59" name="Picture 58" descr="jewellery_table.png"/>
          <p:cNvPicPr>
            <a:picLocks noChangeAspect="1"/>
          </p:cNvPicPr>
          <p:nvPr/>
        </p:nvPicPr>
        <p:blipFill>
          <a:blip r:embed="rId4"/>
          <a:stretch>
            <a:fillRect/>
          </a:stretch>
        </p:blipFill>
        <p:spPr>
          <a:xfrm>
            <a:off x="2471075" y="2460600"/>
            <a:ext cx="4455051" cy="1031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88000" y="194225"/>
            <a:ext cx="7860900" cy="59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Why this gap exists — three structural challenges</a:t>
            </a:r>
            <a:endParaRPr b="0" i="0" sz="2200" u="none" cap="none" strike="noStrike">
              <a:solidFill>
                <a:schemeClr val="dk1"/>
              </a:solidFill>
              <a:latin typeface="Calibri"/>
              <a:ea typeface="Calibri"/>
              <a:cs typeface="Calibri"/>
              <a:sym typeface="Calibri"/>
            </a:endParaRPr>
          </a:p>
        </p:txBody>
      </p:sp>
      <p:sp>
        <p:nvSpPr>
          <p:cNvPr id="67" name="Google Shape;67;p5"/>
          <p:cNvSpPr/>
          <p:nvPr/>
        </p:nvSpPr>
        <p:spPr>
          <a:xfrm>
            <a:off x="267050" y="877085"/>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267050" y="87708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724250" y="867400"/>
            <a:ext cx="7764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Catalogs need tagging and enrichment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5"/>
          <p:cNvSpPr/>
          <p:nvPr/>
        </p:nvSpPr>
        <p:spPr>
          <a:xfrm>
            <a:off x="326250" y="1354925"/>
            <a:ext cx="83424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AI agents waste millions of tokens to understand the actual product in the catalog</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Catalogs today don't expose attributes such as karat/purity and tags such as “hallmark” or “antique finish” which an AI agent needs to map intent such as “jewellery for a South Indian wedding”  to “22kt temple gold jhumka” or “for a Maharashtrian mangalsutra” to “hypoallergenic daily-wear earring”.</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267050" y="2312477"/>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67050" y="2396620"/>
            <a:ext cx="320100" cy="126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733650" y="2312487"/>
            <a:ext cx="752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Conversational search needs a knowledge graph to map intent to keywords</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369650" y="2712925"/>
            <a:ext cx="8081700" cy="854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Unlike traditional search bars that only cater to keyword matching for direct queries like “gold choker necklace” or “antique kundan bridal set”, AI chat assistants need to answer intent based queries like “I need jewellery for my wedding” or “I want earrings that won’t irritate sensitive ears”. They have to map buyer intent to keywords using a knowledge graph and then search the catalog for relevant products using keywords, refer to the diagram on slide 11 for an example</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267050" y="3757583"/>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267050" y="375754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724250" y="3757570"/>
            <a:ext cx="6400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LLMs alone can't reason over catalogs to answer human queries</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407450" y="4077650"/>
            <a:ext cx="80061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LLMs give generic answers, they have not been trained on proprietary e-commerce data.They also take time to give answers(100ms-2s latency vs sub-20ms graph traversal)</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Knowledge context graph gives LLM the extra data that they need to map intent to keywords like a human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8"/>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254475" y="290775"/>
            <a:ext cx="8793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a:solidFill>
                  <a:srgbClr val="111827"/>
                </a:solidFill>
                <a:latin typeface="Inter"/>
                <a:ea typeface="Inter"/>
                <a:cs typeface="Inter"/>
                <a:sym typeface="Inter"/>
              </a:rPr>
              <a:t>We ran an audit on the &lt;&gt;website to see what fails today</a:t>
            </a:r>
            <a:endParaRPr b="0" i="0" sz="2300" u="none" cap="none" strike="noStrike">
              <a:solidFill>
                <a:schemeClr val="dk1"/>
              </a:solidFill>
              <a:latin typeface="Calibri"/>
              <a:ea typeface="Calibri"/>
              <a:cs typeface="Calibri"/>
              <a:sym typeface="Calibri"/>
            </a:endParaRPr>
          </a:p>
        </p:txBody>
      </p:sp>
      <p:graphicFrame>
        <p:nvGraphicFramePr>
          <p:cNvPr id="86" name="Google Shape;86;p8"/>
          <p:cNvGraphicFramePr/>
          <p:nvPr/>
        </p:nvGraphicFramePr>
        <p:xfrm>
          <a:off x="254475" y="979872"/>
          <a:ext cx="3000000" cy="3000000"/>
        </p:xfrm>
        <a:graphic>
          <a:graphicData uri="http://schemas.openxmlformats.org/drawingml/2006/table">
            <a:tbl>
              <a:tblPr>
                <a:noFill/>
                <a:tableStyleId>{A667869B-1F53-4C99-AD8D-8728D57326FD}</a:tableStyleId>
              </a:tblPr>
              <a:tblGrid>
                <a:gridCol w="2732400"/>
                <a:gridCol w="1377250"/>
                <a:gridCol w="4525400"/>
              </a:tblGrid>
              <a:tr h="368075">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bl>
          </a:graphicData>
        </a:graphic>
      </p:graphicFrame>
      <p:sp>
        <p:nvSpPr>
          <p:cNvPr id="87" name="Google Shape;87;p8"/>
          <p:cNvSpPr/>
          <p:nvPr/>
        </p:nvSpPr>
        <p:spPr>
          <a:xfrm>
            <a:off x="254475" y="4552499"/>
            <a:ext cx="8635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a:solidFill>
                  <a:schemeClr val="dk1"/>
                </a:solidFill>
                <a:latin typeface="Inter"/>
                <a:ea typeface="Inter"/>
                <a:cs typeface="Inter"/>
                <a:sym typeface="Inter"/>
              </a:rPr>
              <a:t xml:space="preserve">Every query is grounded in Google autocomplete — real shoppers type these. The products exist. The search can't connect the two. </a:t>
            </a:r>
            <a:r>
              <a:rPr i="1" lang="en-US" sz="1100">
                <a:solidFill>
                  <a:schemeClr val="dk1"/>
                </a:solidFill>
                <a:latin typeface="Inter"/>
                <a:ea typeface="Inter"/>
                <a:cs typeface="Inter"/>
                <a:sym typeface="Inter"/>
              </a:rPr>
              <a:t>For a more detailed report see the report attached with the email.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Placeholder 1"/>
          <p:cNvSpPr/>
          <p:nvPr/>
        </p:nvSpPr>
        <p:spPr>
          <a:xfrm>
            <a:off x="0" y="0"/>
            <a:ext cx="4175109" cy="235052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#1</a:t>
            </a:r>
          </a:p>
          <a:p>
            <a:pPr algn="ctr"/>
            <a:r>
              <a:rPr lang="en-US" sz="1100" i="1">
                <a:solidFill>
                  <a:srgbClr val="999999"/>
                </a:solidFill>
                <a:latin typeface="Inter"/>
              </a:rPr>
              <a:t>paste the search-results screenshot for the most egregious failing query here</a:t>
            </a:r>
          </a:p>
        </p:txBody>
      </p:sp>
      <p:sp>
        <p:nvSpPr>
          <p:cNvPr id="94" name="Placeholder 2"/>
          <p:cNvSpPr/>
          <p:nvPr/>
        </p:nvSpPr>
        <p:spPr>
          <a:xfrm>
            <a:off x="4968925" y="5"/>
            <a:ext cx="4175078" cy="2350520"/>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#2</a:t>
            </a:r>
          </a:p>
          <a:p>
            <a:pPr algn="ctr"/>
            <a:r>
              <a:rPr lang="en-US" sz="1100" i="1">
                <a:solidFill>
                  <a:srgbClr val="999999"/>
                </a:solidFill>
                <a:latin typeface="Inter"/>
              </a:rPr>
              <a:t>paste the search-results screenshot for the most egregious failing query here</a:t>
            </a:r>
          </a:p>
        </p:txBody>
      </p:sp>
      <p:sp>
        <p:nvSpPr>
          <p:cNvPr id="95" name="Placeholder 3"/>
          <p:cNvSpPr/>
          <p:nvPr/>
        </p:nvSpPr>
        <p:spPr>
          <a:xfrm>
            <a:off x="0" y="2801079"/>
            <a:ext cx="4175099" cy="235054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#3</a:t>
            </a:r>
          </a:p>
          <a:p>
            <a:pPr algn="ctr"/>
            <a:r>
              <a:rPr lang="en-US" sz="1100" i="1">
                <a:solidFill>
                  <a:srgbClr val="999999"/>
                </a:solidFill>
                <a:latin typeface="Inter"/>
              </a:rPr>
              <a:t>paste the search-results screenshot for the most egregious failing query here</a:t>
            </a:r>
          </a:p>
        </p:txBody>
      </p:sp>
      <p:sp>
        <p:nvSpPr>
          <p:cNvPr id="96" name="Placeholder 4"/>
          <p:cNvSpPr/>
          <p:nvPr/>
        </p:nvSpPr>
        <p:spPr>
          <a:xfrm>
            <a:off x="4968925" y="2801118"/>
            <a:ext cx="4175073" cy="235050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#4</a:t>
            </a:r>
          </a:p>
          <a:p>
            <a:pPr algn="ctr"/>
            <a:r>
              <a:rPr lang="en-US" sz="1100" i="1">
                <a:solidFill>
                  <a:srgbClr val="999999"/>
                </a:solidFill>
                <a:latin typeface="Inter"/>
              </a:rPr>
              <a:t>paste the search-results screenshot for the most egregious failing query here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685800" y="365750"/>
            <a:ext cx="81552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500" u="none" cap="none" strike="noStrike">
                <a:solidFill>
                  <a:srgbClr val="111827"/>
                </a:solidFill>
                <a:latin typeface="Inter"/>
                <a:ea typeface="Inter"/>
                <a:cs typeface="Inter"/>
                <a:sym typeface="Inter"/>
              </a:rPr>
              <a:t xml:space="preserve">What SuperSearch builds for you </a:t>
            </a:r>
            <a:r>
              <a:rPr b="1" lang="en-US" sz="2500">
                <a:solidFill>
                  <a:srgbClr val="111827"/>
                </a:solidFill>
                <a:latin typeface="Inter"/>
                <a:ea typeface="Inter"/>
                <a:cs typeface="Inter"/>
                <a:sym typeface="Inter"/>
              </a:rPr>
              <a:t>- current offerings</a:t>
            </a:r>
            <a:endParaRPr b="0" i="0" sz="2500" u="none" cap="none" strike="noStrike">
              <a:solidFill>
                <a:schemeClr val="dk1"/>
              </a:solidFill>
              <a:latin typeface="Calibri"/>
              <a:ea typeface="Calibri"/>
              <a:cs typeface="Calibri"/>
              <a:sym typeface="Calibri"/>
            </a:endParaRPr>
          </a:p>
        </p:txBody>
      </p:sp>
      <p:sp>
        <p:nvSpPr>
          <p:cNvPr id="112" name="Google Shape;112;p9"/>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AI Sales Associate on your website that guides buyers to the right purchase</a:t>
            </a:r>
            <a:endParaRPr b="0" i="0" sz="1600" u="none" cap="none" strike="noStrike">
              <a:solidFill>
                <a:schemeClr val="dk1"/>
              </a:solidFill>
              <a:latin typeface="Calibri"/>
              <a:ea typeface="Calibri"/>
              <a:cs typeface="Calibri"/>
              <a:sym typeface="Calibri"/>
            </a:endParaRPr>
          </a:p>
        </p:txBody>
      </p:sp>
      <p:sp>
        <p:nvSpPr>
          <p:cNvPr id="114" name="Google Shape;114;p9"/>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Acts as a digital sales associate — asks the right questions, understands what the buyer actually needs, and guides them to the right product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Drives revenue, not just answers — every conversation is a guided selling opportunity that converts browsers into buyers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intent based queries such as “jewellery for a South Indian wedding”, “lightweight earrings for daily wear” handled just like in ChatGPT and Amazon Rufus, guiding buyers to a purchase just like your best in-store sales associate would.</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 Tagging + Enrichment</a:t>
            </a:r>
            <a:endParaRPr b="0" i="0" sz="1600" u="none" cap="none" strike="noStrike">
              <a:solidFill>
                <a:schemeClr val="dk1"/>
              </a:solidFill>
              <a:latin typeface="Calibri"/>
              <a:ea typeface="Calibri"/>
              <a:cs typeface="Calibri"/>
              <a:sym typeface="Calibri"/>
            </a:endParaRPr>
          </a:p>
        </p:txBody>
      </p:sp>
      <p:sp>
        <p:nvSpPr>
          <p:cNvPr id="117" name="Google Shape;117;p9"/>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merchant catalogs synced to unified schema that AI agents can read with no token wastage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Synonyms, spell check, use-case tagging, intent mapping, attribute enrichment across your catalog</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914400" y="4087375"/>
            <a:ext cx="8155200" cy="749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Maps 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Sub-20ms graph traversal vs 100ms-2s for LLM inference</a:t>
            </a:r>
            <a:r>
              <a:rPr b="0" i="0" lang="en-US" sz="1300" u="none" cap="none" strike="noStrike">
                <a:solidFill>
                  <a:schemeClr val="dk1"/>
                </a:solidFill>
                <a:latin typeface="Calibri"/>
                <a:ea typeface="Calibri"/>
                <a:cs typeface="Calibri"/>
                <a:sym typeface="Calibri"/>
              </a:rPr>
              <a:t>, w</a:t>
            </a:r>
            <a:r>
              <a:rPr b="0" i="0" lang="en-US" sz="1300" u="none" cap="none" strike="noStrike">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Enables AI shopping assistant to answer all intent/event/activity based queries asked by a buyer facilitating a truly realistic online shopping experience and boosting conversion</a:t>
            </a:r>
            <a:endParaRPr b="0" i="0" sz="1300" u="none" cap="none" strike="noStrike">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836f29ee0_0_17"/>
          <p:cNvSpPr txBox="1"/>
          <p:nvPr/>
        </p:nvSpPr>
        <p:spPr>
          <a:xfrm>
            <a:off x="410725" y="260850"/>
            <a:ext cx="84756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The future of e-commerce - shopping assistants, virtual try-on, multilingual queries and discovery through apps on LLM platforms.</a:t>
            </a:r>
            <a:endParaRPr b="1" sz="2000"/>
          </a:p>
        </p:txBody>
      </p:sp>
      <p:sp>
        <p:nvSpPr>
          <p:cNvPr id="127" name="Google Shape;127;g3d836f29ee0_0_17"/>
          <p:cNvSpPr txBox="1"/>
          <p:nvPr/>
        </p:nvSpPr>
        <p:spPr>
          <a:xfrm>
            <a:off x="345025" y="1274475"/>
            <a:ext cx="8238300" cy="3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xml:space="preserve">Buyers today are increasingly looking for virtual try-on to make more informed </a:t>
            </a:r>
            <a:r>
              <a:rPr lang="en-US"/>
              <a:t>decisions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and more numbers of queries are being asked in multilingual languages as e-commerce spreads to tier 2 and 3 cities.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 xml:space="preserve">40% of shoppers now start their discovery journey on some AI chat agent </a:t>
            </a:r>
            <a:r>
              <a:rPr lang="en-US"/>
              <a:t xml:space="preserve">such as Gemini/ChatGPT/Perplexity.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reaching a brand’s website, buyers first discover brand</a:t>
            </a:r>
            <a:r>
              <a:rPr lang="en-US"/>
              <a:t>s</a:t>
            </a:r>
            <a:r>
              <a:rPr lang="en-US"/>
              <a:t xml:space="preserve"> through LLMs. While AEO/GEO ensures that a brand comes up in the LLM’s suggestions, that is just the first part. Brands have to also ensure that buyers can </a:t>
            </a:r>
            <a:r>
              <a:rPr lang="en-US"/>
              <a:t>interact</a:t>
            </a:r>
            <a:r>
              <a:rPr lang="en-US"/>
              <a:t xml:space="preserve"> </a:t>
            </a:r>
            <a:r>
              <a:rPr lang="en-US"/>
              <a:t>with</a:t>
            </a:r>
            <a:r>
              <a:rPr lang="en-US"/>
              <a:t xml:space="preserve"> their catalogs within the LLM chat interface itself so they come to their website and buy.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As a result </a:t>
            </a:r>
            <a:r>
              <a:rPr b="1" lang="en-US"/>
              <a:t>Walmart, Sephora, Instacart, Doordash</a:t>
            </a:r>
            <a:r>
              <a:rPr lang="en-US"/>
              <a:t xml:space="preserve"> have already created apps on top of ChatGPT to capture buyers upfront.</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d836f29ee0_0_0"/>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836f29ee0_0_0"/>
          <p:cNvSpPr/>
          <p:nvPr/>
        </p:nvSpPr>
        <p:spPr>
          <a:xfrm>
            <a:off x="685800" y="365750"/>
            <a:ext cx="8308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400" u="none" cap="none" strike="noStrike">
                <a:solidFill>
                  <a:srgbClr val="111827"/>
                </a:solidFill>
                <a:latin typeface="Inter"/>
                <a:ea typeface="Inter"/>
                <a:cs typeface="Inter"/>
                <a:sym typeface="Inter"/>
              </a:rPr>
              <a:t xml:space="preserve">What SuperSearch builds for you - </a:t>
            </a:r>
            <a:r>
              <a:rPr b="1" lang="en-US" sz="2400">
                <a:solidFill>
                  <a:srgbClr val="111827"/>
                </a:solidFill>
                <a:latin typeface="Inter"/>
                <a:ea typeface="Inter"/>
                <a:cs typeface="Inter"/>
                <a:sym typeface="Inter"/>
              </a:rPr>
              <a:t>upcoming offerings</a:t>
            </a:r>
            <a:endParaRPr b="0" i="0" sz="2400" u="none" cap="none" strike="noStrike">
              <a:solidFill>
                <a:schemeClr val="dk1"/>
              </a:solidFill>
              <a:latin typeface="Calibri"/>
              <a:ea typeface="Calibri"/>
              <a:cs typeface="Calibri"/>
              <a:sym typeface="Calibri"/>
            </a:endParaRPr>
          </a:p>
        </p:txBody>
      </p:sp>
      <p:sp>
        <p:nvSpPr>
          <p:cNvPr id="135" name="Google Shape;135;g3d836f29ee0_0_0"/>
          <p:cNvSpPr/>
          <p:nvPr/>
        </p:nvSpPr>
        <p:spPr>
          <a:xfrm>
            <a:off x="685800" y="1097280"/>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836f29ee0_0_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AR Jewellery Try-On</a:t>
            </a:r>
            <a:endParaRPr b="0" i="0" sz="1600" u="none" cap="none" strike="noStrike">
              <a:solidFill>
                <a:schemeClr val="dk1"/>
              </a:solidFill>
              <a:latin typeface="Calibri"/>
              <a:ea typeface="Calibri"/>
              <a:cs typeface="Calibri"/>
              <a:sym typeface="Calibri"/>
            </a:endParaRPr>
          </a:p>
        </p:txBody>
      </p:sp>
      <p:sp>
        <p:nvSpPr>
          <p:cNvPr id="137" name="Google Shape;137;g3d836f29ee0_0_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See the necklace on your neck, the jhumkas on your ears, or the ring on your hand via AR before you commit.</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CaratLane pioneered this — 200% app usage increase, 40% of business from AR. Tiffany reports 22% conversion jump and 19% fewer returns. Signet’s VTO has 67% adoption among mobile users.</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Higher conversion, fewer returns, and the confidence bridge that brings offline jewellery buyers online.</a:t>
            </a:r>
            <a:endParaRPr sz="1300">
              <a:solidFill>
                <a:srgbClr val="4B5563"/>
              </a:solidFill>
              <a:latin typeface="Inter"/>
              <a:ea typeface="Inter"/>
              <a:cs typeface="Inter"/>
              <a:sym typeface="Inter"/>
            </a:endParaRPr>
          </a:p>
        </p:txBody>
      </p:sp>
      <p:sp>
        <p:nvSpPr>
          <p:cNvPr id="138" name="Google Shape;138;g3d836f29ee0_0_0"/>
          <p:cNvSpPr/>
          <p:nvPr/>
        </p:nvSpPr>
        <p:spPr>
          <a:xfrm>
            <a:off x="685800" y="2377440"/>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836f29ee0_0_0"/>
          <p:cNvSpPr/>
          <p:nvPr/>
        </p:nvSpPr>
        <p:spPr>
          <a:xfrm>
            <a:off x="914400" y="237744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Vernacular + natural-language queries</a:t>
            </a:r>
            <a:endParaRPr b="0" i="0" sz="1600" u="none" cap="none" strike="noStrike">
              <a:solidFill>
                <a:schemeClr val="dk1"/>
              </a:solidFill>
              <a:latin typeface="Calibri"/>
              <a:ea typeface="Calibri"/>
              <a:cs typeface="Calibri"/>
              <a:sym typeface="Calibri"/>
            </a:endParaRPr>
          </a:p>
        </p:txBody>
      </p:sp>
      <p:sp>
        <p:nvSpPr>
          <p:cNvPr id="140" name="Google Shape;140;g3d836f29ee0_0_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Hindi, Tamil, Telugu and Bengali queries mapped to the English catalog — “mangalsutra” vs “thali” vs “minnu”, “nath” vs “mukkuthi”, “jhumka” vs “jhumki”.</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Natural-language queries like “something lightweight I can wear daily to office” resolve to minimalist daily-wear pieces instead of 0 results.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India’s $95B jewellery market is only 4% online. Vernacular conversational search bridges the trust gap.</a:t>
            </a:r>
            <a:endParaRPr sz="1300">
              <a:solidFill>
                <a:srgbClr val="4B5563"/>
              </a:solidFill>
              <a:latin typeface="Inter"/>
              <a:ea typeface="Inter"/>
              <a:cs typeface="Inter"/>
              <a:sym typeface="Inter"/>
            </a:endParaRPr>
          </a:p>
        </p:txBody>
      </p:sp>
      <p:sp>
        <p:nvSpPr>
          <p:cNvPr id="141" name="Google Shape;141;g3d836f29ee0_0_0"/>
          <p:cNvSpPr/>
          <p:nvPr/>
        </p:nvSpPr>
        <p:spPr>
          <a:xfrm>
            <a:off x="685800" y="3657600"/>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836f29ee0_0_0"/>
          <p:cNvSpPr/>
          <p:nvPr/>
        </p:nvSpPr>
        <p:spPr>
          <a:xfrm>
            <a:off x="914400" y="3783675"/>
            <a:ext cx="7315200" cy="1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App Storefront on ChatGPT</a:t>
            </a:r>
            <a:endParaRPr b="1" sz="1600">
              <a:solidFill>
                <a:srgbClr val="111827"/>
              </a:solidFill>
              <a:latin typeface="Inter"/>
              <a:ea typeface="Inter"/>
              <a:cs typeface="Inter"/>
              <a:sym typeface="Inter"/>
            </a:endParaRPr>
          </a:p>
        </p:txBody>
      </p:sp>
      <p:sp>
        <p:nvSpPr>
          <p:cNvPr id="143" name="Google Shape;143;g3d836f29ee0_0_0"/>
          <p:cNvSpPr/>
          <p:nvPr/>
        </p:nvSpPr>
        <p:spPr>
          <a:xfrm>
            <a:off x="914400" y="3905525"/>
            <a:ext cx="8155200" cy="9315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40% of buyers now start their product research on ChatGPT / Gemini / Perplexity before visiting a brand site.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Your catalog becomes shoppable inside the AI conversation — karat, hallmark, gemstone, weight, and occasion details surfaced natively.</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Jewellery has the highest AOV ($436) but lowest conversion (0.87%) of any online category. Conversational AI can close this gap.</a:t>
            </a:r>
            <a:endParaRPr sz="1300">
              <a:solidFill>
                <a:srgbClr val="4B5563"/>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78375" y="239300"/>
            <a:ext cx="8572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Examples of queries with intent being mapped to keywords using knowledge context graph</a:t>
            </a:r>
            <a:endParaRPr b="1" i="0" sz="1500" u="none" cap="none" strike="noStrike">
              <a:solidFill>
                <a:srgbClr val="000000"/>
              </a:solidFill>
              <a:latin typeface="Arial"/>
              <a:ea typeface="Arial"/>
              <a:cs typeface="Arial"/>
              <a:sym typeface="Arial"/>
            </a:endParaRPr>
          </a:p>
        </p:txBody>
      </p:sp>
      <p:pic>
        <p:nvPicPr>
          <p:cNvPr id="150" name="Picture 149" descr="jewellery_graph.png"/>
          <p:cNvPicPr>
            <a:picLocks noChangeAspect="1"/>
          </p:cNvPicPr>
          <p:nvPr/>
        </p:nvPicPr>
        <p:blipFill>
          <a:blip r:embed="rId4"/>
          <a:stretch>
            <a:fillRect/>
          </a:stretch>
        </p:blipFill>
        <p:spPr>
          <a:xfrm>
            <a:off x="152400" y="812300"/>
            <a:ext cx="8839197" cy="40803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08950" y="177335"/>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Your AI sales associate doesn't just search — it sells</a:t>
            </a:r>
            <a:endParaRPr b="0" i="0" sz="2300" u="none" cap="none" strike="noStrike">
              <a:solidFill>
                <a:schemeClr val="dk1"/>
              </a:solidFill>
              <a:latin typeface="Calibri"/>
              <a:ea typeface="Calibri"/>
              <a:cs typeface="Calibri"/>
              <a:sym typeface="Calibri"/>
            </a:endParaRPr>
          </a:p>
        </p:txBody>
      </p:sp>
      <p:sp>
        <p:nvSpPr>
          <p:cNvPr id="157" name="Google Shape;157;p12"/>
          <p:cNvSpPr/>
          <p:nvPr/>
        </p:nvSpPr>
        <p:spPr>
          <a:xfrm>
            <a:off x="308950" y="908855"/>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58" name="Google Shape;158;p12"/>
          <p:cNvSpPr/>
          <p:nvPr/>
        </p:nvSpPr>
        <p:spPr>
          <a:xfrm>
            <a:off x="537550" y="867701"/>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Guided discovery → conversion lift</a:t>
            </a:r>
            <a:endParaRPr b="0" i="0" u="none" cap="none" strike="noStrike">
              <a:solidFill>
                <a:schemeClr val="dk1"/>
              </a:solidFill>
              <a:latin typeface="Calibri"/>
              <a:ea typeface="Calibri"/>
              <a:cs typeface="Calibri"/>
              <a:sym typeface="Calibri"/>
            </a:endParaRPr>
          </a:p>
        </p:txBody>
      </p:sp>
      <p:sp>
        <p:nvSpPr>
          <p:cNvPr id="159" name="Google Shape;159;p12"/>
          <p:cNvSpPr/>
          <p:nvPr/>
        </p:nvSpPr>
        <p:spPr>
          <a:xfrm>
            <a:off x="537550" y="1302150"/>
            <a:ext cx="7896300" cy="5943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Like your best sales associate, it clarifies intent instead of dumping a catalog — asks the right follow-up questions (occasion, budget, use-case, size/fit) before suggesting anything.</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4x conversion uplift for conversational vs keyword — 12.3% vs 3.1% (Rep AI 2025 Ecommerce Shopper Behavior Report).</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Zalando's AI assistant rollout tied to 18% YoY profitability lift — proof the impact shows up in the P&amp;L.</a:t>
            </a:r>
            <a:endParaRPr b="0" i="0" sz="1100" u="none" cap="none" strike="noStrike">
              <a:solidFill>
                <a:schemeClr val="dk1"/>
              </a:solidFill>
              <a:latin typeface="Calibri"/>
              <a:ea typeface="Calibri"/>
              <a:cs typeface="Calibri"/>
              <a:sym typeface="Calibri"/>
            </a:endParaRPr>
          </a:p>
        </p:txBody>
      </p:sp>
      <p:sp>
        <p:nvSpPr>
          <p:cNvPr id="160" name="Google Shape;160;p12"/>
          <p:cNvSpPr/>
          <p:nvPr/>
        </p:nvSpPr>
        <p:spPr>
          <a:xfrm>
            <a:off x="308950" y="2189015"/>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12"/>
          <p:cNvSpPr/>
          <p:nvPr/>
        </p:nvSpPr>
        <p:spPr>
          <a:xfrm>
            <a:off x="537550" y="218901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Stylist-grade cross-sell → AOV lift</a:t>
            </a:r>
            <a:endParaRPr b="0" i="0" u="none" cap="none" strike="noStrike">
              <a:solidFill>
                <a:schemeClr val="dk1"/>
              </a:solidFill>
              <a:latin typeface="Calibri"/>
              <a:ea typeface="Calibri"/>
              <a:cs typeface="Calibri"/>
              <a:sym typeface="Calibri"/>
            </a:endParaRPr>
          </a:p>
        </p:txBody>
      </p:sp>
      <p:sp>
        <p:nvSpPr>
          <p:cNvPr id="162" name="Google Shape;162;p12"/>
          <p:cNvSpPr/>
          <p:nvPr/>
        </p:nvSpPr>
        <p:spPr>
          <a:xfrm>
            <a:off x="537550" y="2536475"/>
            <a:ext cx="8229600" cy="6402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Assistant knows what pairs with what — matching accessories, complementary items, a complete bridal set — necklace plus matching earrings plus bangles — instead of a single piece.</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Single-item sessions become complete jewellery sets — every add-to-cart becomes an opening for a second, third, fourth item.</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Nosto: when search works, 78% of shoppers also buy an additional item — the assistant is the conversion engine for that second buy.</a:t>
            </a:r>
            <a:endParaRPr b="0" i="0" sz="1100" u="none" cap="none" strike="noStrike">
              <a:solidFill>
                <a:schemeClr val="dk1"/>
              </a:solidFill>
              <a:latin typeface="Calibri"/>
              <a:ea typeface="Calibri"/>
              <a:cs typeface="Calibri"/>
              <a:sym typeface="Calibri"/>
            </a:endParaRPr>
          </a:p>
        </p:txBody>
      </p:sp>
      <p:sp>
        <p:nvSpPr>
          <p:cNvPr id="163" name="Google Shape;163;p12"/>
          <p:cNvSpPr/>
          <p:nvPr/>
        </p:nvSpPr>
        <p:spPr>
          <a:xfrm>
            <a:off x="308950" y="3469175"/>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4" name="Google Shape;164;p12"/>
          <p:cNvSpPr/>
          <p:nvPr/>
        </p:nvSpPr>
        <p:spPr>
          <a:xfrm>
            <a:off x="537550" y="346917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Intent rescue → keep shoppers on site</a:t>
            </a:r>
            <a:endParaRPr b="0" i="0" u="none" cap="none" strike="noStrike">
              <a:solidFill>
                <a:schemeClr val="dk1"/>
              </a:solidFill>
              <a:latin typeface="Calibri"/>
              <a:ea typeface="Calibri"/>
              <a:cs typeface="Calibri"/>
              <a:sym typeface="Calibri"/>
            </a:endParaRPr>
          </a:p>
        </p:txBody>
      </p:sp>
      <p:sp>
        <p:nvSpPr>
          <p:cNvPr id="165" name="Google Shape;165;p12"/>
          <p:cNvSpPr/>
          <p:nvPr/>
        </p:nvSpPr>
        <p:spPr>
          <a:xfrm>
            <a:off x="537550" y="3898950"/>
            <a:ext cx="8155200" cy="7497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Vague, intent-shaped queries become a curated shortlist instead of thousands of random results.</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80% of shoppers leave a site due to poor search — the assistant plugs that leak before the session bounces (Nosto).</a:t>
            </a:r>
            <a:endParaRPr b="0" i="0" sz="1100" u="none" cap="none" strike="noStrike">
              <a:solidFill>
                <a:srgbClr val="4B5563"/>
              </a:solidFill>
              <a:latin typeface="Inter"/>
              <a:ea typeface="Inter"/>
              <a:cs typeface="Inter"/>
              <a:sym typeface="Inter"/>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Myntra's MyFashionGPT: users 3x more likely to purchase through the assistant than through keyword search.</a:t>
            </a:r>
            <a:endParaRPr b="0" i="0" sz="1100" u="none" cap="none" strike="noStrike">
              <a:solidFill>
                <a:srgbClr val="4B5563"/>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800" u="none" cap="none" strike="noStrike">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73" name="Google Shape;173;p13"/>
          <p:cNvGraphicFramePr/>
          <p:nvPr/>
        </p:nvGraphicFramePr>
        <p:xfrm>
          <a:off x="685800" y="1097280"/>
          <a:ext cx="3000000" cy="3000000"/>
        </p:xfrm>
        <a:graphic>
          <a:graphicData uri="http://schemas.openxmlformats.org/drawingml/2006/table">
            <a:tbl>
              <a:tblPr>
                <a:noFill/>
                <a:tableStyleId>{A667869B-1F53-4C99-AD8D-8728D57326FD}</a:tableStyleId>
              </a:tblPr>
              <a:tblGrid>
                <a:gridCol w="2011675"/>
                <a:gridCol w="1828800"/>
                <a:gridCol w="1920250"/>
                <a:gridCol w="2011675"/>
              </a:tblGrid>
              <a:tr h="365750">
                <a:tc>
                  <a:txBody>
                    <a:bodyPr/>
                    <a:lstStyle/>
                    <a:p>
                      <a:pPr indent="0" lvl="0" marL="0" marR="0" rtl="0" algn="l">
                        <a:lnSpc>
                          <a:spcPct val="100000"/>
                        </a:lnSpc>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gold choker necklace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mangalsutra / thali / minnu</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jewellery for a South Indian wedding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lightweight daily-wear earrings for sensitive ears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22kt, BIS hallmark, antique, temple choker, within budget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Much more accurate</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685800" y="658330"/>
            <a:ext cx="77724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600"/>
              <a:buFont typeface="Inter"/>
              <a:buNone/>
            </a:pPr>
            <a:r>
              <a:rPr b="1" i="0" lang="en-US" sz="3600" u="none" cap="none" strike="noStrike">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81" name="Google Shape;181;p14"/>
          <p:cNvSpPr/>
          <p:nvPr/>
        </p:nvSpPr>
        <p:spPr>
          <a:xfrm>
            <a:off x="685800" y="1920250"/>
            <a:ext cx="7553400" cy="178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We can run a full 500-query audit on your site in under a week and show you exactly where you are losing crores in revenue..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Every query grounded in Google autocomplete. Every result verified against your actual catalog.</a:t>
            </a:r>
            <a:r>
              <a:rPr b="0" i="0" lang="en-US" sz="1500" u="none" cap="none" strike="noStrike">
                <a:solidFill>
                  <a:schemeClr val="dk1"/>
                </a:solidFill>
                <a:latin typeface="Calibri"/>
                <a:ea typeface="Calibri"/>
                <a:cs typeface="Calibri"/>
                <a:sym typeface="Calibri"/>
              </a:rPr>
              <a:t xml:space="preserve"> </a:t>
            </a:r>
            <a:r>
              <a:rPr b="0" i="0" lang="en-US" sz="1500" u="none" cap="none" strike="noStrike">
                <a:solidFill>
                  <a:srgbClr val="4B5563"/>
                </a:solidFill>
                <a:latin typeface="Inter"/>
                <a:ea typeface="Inter"/>
                <a:cs typeface="Inter"/>
                <a:sym typeface="Inter"/>
              </a:rPr>
              <a:t>We have pasted some of the results we obtained from a smaller audit on your website slide 6.</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 xml:space="preserve">We can fix your search and upgrade your website from keyword based search bar to intent based AI assistant. </a:t>
            </a: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500" u="none" cap="none" strike="noStrike">
              <a:solidFill>
                <a:schemeClr val="dk1"/>
              </a:solidFill>
              <a:latin typeface="Calibri"/>
              <a:ea typeface="Calibri"/>
              <a:cs typeface="Calibri"/>
              <a:sym typeface="Calibri"/>
            </a:endParaRPr>
          </a:p>
        </p:txBody>
      </p:sp>
      <p:sp>
        <p:nvSpPr>
          <p:cNvPr id="182" name="Google Shape;182;p14"/>
          <p:cNvSpPr/>
          <p:nvPr/>
        </p:nvSpPr>
        <p:spPr>
          <a:xfrm>
            <a:off x="685800" y="3981001"/>
            <a:ext cx="6400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Shalini Mukhopadhyay  ·  </a:t>
            </a:r>
            <a:r>
              <a:rPr b="0" i="0" lang="en-US" sz="1300" u="sng" cap="none" strike="noStrike">
                <a:solidFill>
                  <a:schemeClr val="dk1"/>
                </a:solidFill>
                <a:latin typeface="Inter"/>
                <a:ea typeface="Inter"/>
                <a:cs typeface="Inter"/>
                <a:sym typeface="Inter"/>
                <a:hlinkClick r:id="rId4">
                  <a:extLst>
                    <a:ext uri="{A12FA001-AC4F-418D-AE19-62706E023703}">
                      <ahyp:hlinkClr val="tx"/>
                    </a:ext>
                  </a:extLst>
                </a:hlinkClick>
              </a:rPr>
              <a:t>shaliniiitkgp2021@gmail.com</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Aantriksh Pandya  ·  </a:t>
            </a:r>
            <a:r>
              <a:rPr b="0" i="0" lang="en-US" sz="1300" u="sng" cap="none" strike="noStrike">
                <a:solidFill>
                  <a:schemeClr val="dk1"/>
                </a:solidFill>
                <a:latin typeface="Inter"/>
                <a:ea typeface="Inter"/>
                <a:cs typeface="Inter"/>
                <a:sym typeface="Inter"/>
                <a:hlinkClick r:id="rId5">
                  <a:extLst>
                    <a:ext uri="{A12FA001-AC4F-418D-AE19-62706E023703}">
                      <ahyp:hlinkClr val="tx"/>
                    </a:ext>
                  </a:extLst>
                </a:hlinkClick>
              </a:rPr>
              <a:t>aantriksh.pandya1@gmail.com</a:t>
            </a:r>
            <a:r>
              <a:rPr b="0" i="0" lang="en-US" sz="1300" u="none" cap="none" strike="noStrike">
                <a:solidFill>
                  <a:schemeClr val="dk1"/>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rgbClr val="9CA3AF"/>
                </a:solidFill>
                <a:latin typeface="Inter"/>
                <a:ea typeface="Inter"/>
                <a:cs typeface="Inter"/>
                <a:sym typeface="Inter"/>
              </a:rPr>
              <a:t xml:space="preserve"> </a:t>
            </a:r>
            <a:endParaRPr b="0" i="0" sz="1300" u="none" cap="none" strike="noStrike">
              <a:solidFill>
                <a:srgbClr val="9CA3A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