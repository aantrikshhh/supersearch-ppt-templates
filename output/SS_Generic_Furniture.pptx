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ppt/metadata" ContentType="application/binary"/>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48" r:id="rId4"/>
  </p:sldMasterIdLst>
  <p:notesMasterIdLst>
    <p:notesMasterId r:id="rId5"/>
  </p:notesMasterIdLst>
  <p:sldIdLst>
    <p:sldId id="256" r:id="rId6"/>
    <p:sldId id="257" r:id="rId7"/>
    <p:sldId id="258" r:id="rId8"/>
    <p:sldId id="259" r:id="rId9"/>
    <p:sldId id="260" r:id="rId10"/>
    <p:sldId id="261" r:id="rId11"/>
    <p:sldId id="263" r:id="rId13"/>
    <p:sldId id="264" r:id="rId14"/>
    <p:sldId id="265" r:id="rId15"/>
    <p:sldId id="266" r:id="rId16"/>
    <p:sldId id="267" r:id="rId17"/>
    <p:sldId id="268" r:id="rId18"/>
    <p:sldId id="269" r:id="rId19"/>
    <p:sldId id="270" r:id="rId20"/>
  </p:sldIdLst>
  <p:sldSz cy="5143500" cx="9144000"/>
  <p:notesSz cx="5143500" cy="9144000"/>
  <p:embeddedFontLst>
    <p:embeddedFont>
      <p:font typeface="Inter"/>
      <p:regular r:id="rId21"/>
      <p:bold r:id="rId22"/>
      <p:italic r:id="rId23"/>
      <p:boldItalic r:id="rId24"/>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GoogleSlidesCustomDataVersion2">
      <go:slidesCustomData xmlns:go="http://customooxmlschemas.google.com/" r:id="rId25" roundtripDataSignature="AMtx7mjAXWUe55wi30lXcQrFr6CVs98ltg=="/>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A667869B-1F53-4C99-AD8D-8728D57326FD}">
  <a:tblStyle styleId="{A667869B-1F53-4C99-AD8D-8728D57326FD}" styleName="Table_0">
    <a:wholeTbl>
      <a:tcTxStyle b="off" i="off">
        <a:font>
          <a:latin typeface="Arial"/>
          <a:ea typeface="Arial"/>
          <a:cs typeface="Arial"/>
        </a:font>
        <a:srgbClr val="000000"/>
      </a:tcTxStyle>
    </a:wholeTbl>
    <a:band1H>
      <a:tcTxStyle b="off" i="off"/>
    </a:band1H>
    <a:band2H>
      <a:tcTxStyle b="off" i="off"/>
    </a:band2H>
    <a:band1V>
      <a:tcTxStyle b="off" i="off"/>
    </a:band1V>
    <a:band2V>
      <a:tcTxStyle b="off" i="off"/>
    </a:band2V>
    <a:lastCol>
      <a:tcTxStyle b="off" i="off"/>
    </a:lastCol>
    <a:firstCol>
      <a:tcTxStyle b="off" i="off"/>
    </a:firstCol>
    <a:lastRow>
      <a:tcTxStyle b="off" i="off"/>
    </a:lastRow>
    <a:seCell>
      <a:tcTxStyle b="off" i="off"/>
    </a:seCell>
    <a:swCell>
      <a:tcTxStyle b="off" i="off"/>
    </a:swCell>
    <a:firstRow>
      <a:tcTxStyle b="off" i="off"/>
    </a:firstRow>
    <a:neCell>
      <a:tcTxStyle b="off" i="off"/>
    </a:neCell>
    <a:nwCell>
      <a:tcTxStyle b="off" i="off"/>
    </a:nwCell>
  </a:tblStyle>
</a:tblStyleLst>
</file>

<file path=ppt/_rels/presentation.xml.rels><?xml version='1.0' encoding='UTF-8' standalone='yes'?>
<Relationships xmlns="http://schemas.openxmlformats.org/package/2006/relationships"><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tableStyles" Target="tableStyles.xml"/><Relationship Id="rId4" Type="http://schemas.openxmlformats.org/officeDocument/2006/relationships/slideMaster" Target="slideMasters/slideMaster1.xml"/><Relationship Id="rId5" Type="http://schemas.openxmlformats.org/officeDocument/2006/relationships/notesMaster" Target="notesMasters/notesMaster1.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9" Type="http://schemas.openxmlformats.org/officeDocument/2006/relationships/slide" Target="slides/slide4.xml"/><Relationship Id="rId10" Type="http://schemas.openxmlformats.org/officeDocument/2006/relationships/slide" Target="slides/slide5.xml"/><Relationship Id="rId11"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font" Target="fonts/Inter-regular.fntdata"/><Relationship Id="rId22" Type="http://schemas.openxmlformats.org/officeDocument/2006/relationships/font" Target="fonts/Inter-bold.fntdata"/><Relationship Id="rId23" Type="http://schemas.openxmlformats.org/officeDocument/2006/relationships/font" Target="fonts/Inter-italic.fntdata"/><Relationship Id="rId24" Type="http://schemas.openxmlformats.org/officeDocument/2006/relationships/font" Target="fonts/Inter-boldItalic.fntdata"/><Relationship Id="rId25" Type="http://customschemas.google.com/relationships/presentationmetadata" Target="meta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1pPr>
            <a:lvl2pPr indent="-228600" lvl="1" marL="9144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2pPr>
            <a:lvl3pPr indent="-228600" lvl="2" marL="13716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3pPr>
            <a:lvl4pPr indent="-228600" lvl="3" marL="18288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4pPr>
            <a:lvl5pPr indent="-228600" lvl="4" marL="22860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5pPr>
            <a:lvl6pPr indent="-228600" lvl="5" marL="27432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6pPr>
            <a:lvl7pPr indent="-228600" lvl="6" marL="32004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7pPr>
            <a:lvl8pPr indent="-228600" lvl="7" marL="36576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8pPr>
            <a:lvl9pPr indent="-228600" lvl="8" marL="41148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rgbClr val="000000"/>
              </a:buClr>
              <a:buSzPts val="1200"/>
              <a:buFont typeface="Arial"/>
              <a:buNone/>
            </a:pPr>
            <a:fld id="{00000000-1234-1234-1234-123412341234}" type="slidenum">
              <a:rPr b="0" i="0" lang="en-US"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 name="Shape 11"/>
        <p:cNvGrpSpPr/>
        <p:nvPr/>
      </p:nvGrpSpPr>
      <p:grpSpPr>
        <a:xfrm>
          <a:off x="0" y="0"/>
          <a:ext cx="0" cy="0"/>
          <a:chOff x="0" y="0"/>
          <a:chExt cx="0" cy="0"/>
        </a:xfrm>
      </p:grpSpPr>
      <p:sp>
        <p:nvSpPr>
          <p:cNvPr id="12" name="Google Shape;12;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 name="Google Shape;13;p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4" name="Google Shape;14;p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 name="Shape 21"/>
        <p:cNvGrpSpPr/>
        <p:nvPr/>
      </p:nvGrpSpPr>
      <p:grpSpPr>
        <a:xfrm>
          <a:off x="0" y="0"/>
          <a:ext cx="0" cy="0"/>
          <a:chOff x="0" y="0"/>
          <a:chExt cx="0" cy="0"/>
        </a:xfrm>
      </p:grpSpPr>
      <p:sp>
        <p:nvSpPr>
          <p:cNvPr id="22" name="Google Shape;22;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3" name="Google Shape;23;p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24" name="Google Shape;24;p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9" name="Shape 39"/>
        <p:cNvGrpSpPr/>
        <p:nvPr/>
      </p:nvGrpSpPr>
      <p:grpSpPr>
        <a:xfrm>
          <a:off x="0" y="0"/>
          <a:ext cx="0" cy="0"/>
          <a:chOff x="0" y="0"/>
          <a:chExt cx="0" cy="0"/>
        </a:xfrm>
      </p:grpSpPr>
      <p:sp>
        <p:nvSpPr>
          <p:cNvPr id="40" name="Google Shape;40;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1" name="Google Shape;41;p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42" name="Google Shape;42;p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 name="Shape 52"/>
        <p:cNvGrpSpPr/>
        <p:nvPr/>
      </p:nvGrpSpPr>
      <p:grpSpPr>
        <a:xfrm>
          <a:off x="0" y="0"/>
          <a:ext cx="0" cy="0"/>
          <a:chOff x="0" y="0"/>
          <a:chExt cx="0" cy="0"/>
        </a:xfrm>
      </p:grpSpPr>
      <p:sp>
        <p:nvSpPr>
          <p:cNvPr id="53" name="Google Shape;53;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4" name="Google Shape;54;p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55" name="Google Shape;55;p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400"/>
              <a:buFont typeface="Arial"/>
              <a:buNone/>
            </a:pPr>
            <a:fld id="{00000000-1234-1234-1234-123412341234}" type="slidenum">
              <a:rPr lang="en-US"/>
              <a:t>‹#›</a:t>
            </a:fld>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 name="Shape 60"/>
        <p:cNvGrpSpPr/>
        <p:nvPr/>
      </p:nvGrpSpPr>
      <p:grpSpPr>
        <a:xfrm>
          <a:off x="0" y="0"/>
          <a:ext cx="0" cy="0"/>
          <a:chOff x="0" y="0"/>
          <a:chExt cx="0" cy="0"/>
        </a:xfrm>
      </p:grpSpPr>
      <p:sp>
        <p:nvSpPr>
          <p:cNvPr id="61" name="Google Shape;61;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2" name="Google Shape;62;p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63" name="Google Shape;63;p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9" name="Shape 79"/>
        <p:cNvGrpSpPr/>
        <p:nvPr/>
      </p:nvGrpSpPr>
      <p:grpSpPr>
        <a:xfrm>
          <a:off x="0" y="0"/>
          <a:ext cx="0" cy="0"/>
          <a:chOff x="0" y="0"/>
          <a:chExt cx="0" cy="0"/>
        </a:xfrm>
      </p:grpSpPr>
      <p:sp>
        <p:nvSpPr>
          <p:cNvPr id="80" name="Google Shape;80;g3e03a3b1c68_0_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1" name="Google Shape;81;g3e03a3b1c68_0_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82" name="Google Shape;82;g3e03a3b1c68_0_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6" name="Shape 96"/>
        <p:cNvGrpSpPr/>
        <p:nvPr/>
      </p:nvGrpSpPr>
      <p:grpSpPr>
        <a:xfrm>
          <a:off x="0" y="0"/>
          <a:ext cx="0" cy="0"/>
          <a:chOff x="0" y="0"/>
          <a:chExt cx="0" cy="0"/>
        </a:xfrm>
      </p:grpSpPr>
      <p:sp>
        <p:nvSpPr>
          <p:cNvPr id="97" name="Google Shape;97;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8" name="Google Shape;98;p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99" name="Google Shape;99;p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400"/>
              <a:buFont typeface="Arial"/>
              <a:buNone/>
            </a:pPr>
            <a:fld id="{00000000-1234-1234-1234-123412341234}" type="slidenum">
              <a:rPr lang="en-US"/>
              <a:t>‹#›</a:t>
            </a:fld>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5" name="Shape 105"/>
        <p:cNvGrpSpPr/>
        <p:nvPr/>
      </p:nvGrpSpPr>
      <p:grpSpPr>
        <a:xfrm>
          <a:off x="0" y="0"/>
          <a:ext cx="0" cy="0"/>
          <a:chOff x="0" y="0"/>
          <a:chExt cx="0" cy="0"/>
        </a:xfrm>
      </p:grpSpPr>
      <p:sp>
        <p:nvSpPr>
          <p:cNvPr id="106" name="Google Shape;106;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7" name="Google Shape;107;p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08" name="Google Shape;108;p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1" name="Shape 121"/>
        <p:cNvGrpSpPr/>
        <p:nvPr/>
      </p:nvGrpSpPr>
      <p:grpSpPr>
        <a:xfrm>
          <a:off x="0" y="0"/>
          <a:ext cx="0" cy="0"/>
          <a:chOff x="0" y="0"/>
          <a:chExt cx="0" cy="0"/>
        </a:xfrm>
      </p:grpSpPr>
      <p:sp>
        <p:nvSpPr>
          <p:cNvPr id="122" name="Google Shape;122;g3d836f29ee0_0_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123" name="Google Shape;123;g3d836f29ee0_0_17:notes"/>
          <p:cNvSpPr txBox="1"/>
          <p:nvPr>
            <p:ph idx="1" type="body"/>
          </p:nvPr>
        </p:nvSpPr>
        <p:spPr>
          <a:xfrm>
            <a:off x="685800" y="4400550"/>
            <a:ext cx="5486400" cy="36006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4" name="Google Shape;124;g3d836f29ee0_0_17:notes"/>
          <p:cNvSpPr txBox="1"/>
          <p:nvPr>
            <p:ph idx="12" type="sldNum"/>
          </p:nvPr>
        </p:nvSpPr>
        <p:spPr>
          <a:xfrm>
            <a:off x="3884613" y="8685213"/>
            <a:ext cx="2971800" cy="4587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rgbClr val="000000"/>
              </a:buClr>
              <a:buSzPts val="1200"/>
              <a:buFont typeface="Arial"/>
              <a:buNone/>
            </a:pPr>
            <a:fld id="{00000000-1234-1234-1234-123412341234}" type="slidenum">
              <a:rPr lang="en-US"/>
              <a:t>‹#›</a:t>
            </a:fld>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8" name="Shape 128"/>
        <p:cNvGrpSpPr/>
        <p:nvPr/>
      </p:nvGrpSpPr>
      <p:grpSpPr>
        <a:xfrm>
          <a:off x="0" y="0"/>
          <a:ext cx="0" cy="0"/>
          <a:chOff x="0" y="0"/>
          <a:chExt cx="0" cy="0"/>
        </a:xfrm>
      </p:grpSpPr>
      <p:sp>
        <p:nvSpPr>
          <p:cNvPr id="129" name="Google Shape;129;g3d836f29ee0_0_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0" name="Google Shape;130;g3d836f29ee0_0_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1" name="Google Shape;131;g3d836f29ee0_0_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4" name="Shape 144"/>
        <p:cNvGrpSpPr/>
        <p:nvPr/>
      </p:nvGrpSpPr>
      <p:grpSpPr>
        <a:xfrm>
          <a:off x="0" y="0"/>
          <a:ext cx="0" cy="0"/>
          <a:chOff x="0" y="0"/>
          <a:chExt cx="0" cy="0"/>
        </a:xfrm>
      </p:grpSpPr>
      <p:sp>
        <p:nvSpPr>
          <p:cNvPr id="145" name="Google Shape;145;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6" name="Google Shape;146;p1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47" name="Google Shape;147;p1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400"/>
              <a:buFont typeface="Arial"/>
              <a:buNone/>
            </a:pPr>
            <a:fld id="{00000000-1234-1234-1234-123412341234}" type="slidenum">
              <a:rPr lang="en-US"/>
              <a:t>‹#›</a:t>
            </a:fld>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1" name="Shape 151"/>
        <p:cNvGrpSpPr/>
        <p:nvPr/>
      </p:nvGrpSpPr>
      <p:grpSpPr>
        <a:xfrm>
          <a:off x="0" y="0"/>
          <a:ext cx="0" cy="0"/>
          <a:chOff x="0" y="0"/>
          <a:chExt cx="0" cy="0"/>
        </a:xfrm>
      </p:grpSpPr>
      <p:sp>
        <p:nvSpPr>
          <p:cNvPr id="152" name="Google Shape;152;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3" name="Google Shape;153;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6" name="Shape 166"/>
        <p:cNvGrpSpPr/>
        <p:nvPr/>
      </p:nvGrpSpPr>
      <p:grpSpPr>
        <a:xfrm>
          <a:off x="0" y="0"/>
          <a:ext cx="0" cy="0"/>
          <a:chOff x="0" y="0"/>
          <a:chExt cx="0" cy="0"/>
        </a:xfrm>
      </p:grpSpPr>
      <p:sp>
        <p:nvSpPr>
          <p:cNvPr id="167" name="Google Shape;167;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8" name="Google Shape;168;p1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69" name="Google Shape;169;p1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4" name="Shape 174"/>
        <p:cNvGrpSpPr/>
        <p:nvPr/>
      </p:nvGrpSpPr>
      <p:grpSpPr>
        <a:xfrm>
          <a:off x="0" y="0"/>
          <a:ext cx="0" cy="0"/>
          <a:chOff x="0" y="0"/>
          <a:chExt cx="0" cy="0"/>
        </a:xfrm>
      </p:grpSpPr>
      <p:sp>
        <p:nvSpPr>
          <p:cNvPr id="175" name="Google Shape;175;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76" name="Google Shape;176;p1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77" name="Google Shape;177;p1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DEFAULT">
  <p:cSld name="DEFAULT">
    <p:bg>
      <p:bgPr>
        <a:solidFill>
          <a:schemeClr val="lt1"/>
        </a:solidFill>
      </p:bgPr>
    </p:bg>
    <p:spTree>
      <p:nvGrpSpPr>
        <p:cNvPr id="10" name="Shape 10"/>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 name="Shape 9"/>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49" r:id="rId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hyperlink" Target="https://supersearch.onrender.com/" TargetMode="Externa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1.png"/><Relationship Id="rId4" Type="http://schemas.openxmlformats.org/officeDocument/2006/relationships/image" Target="../media/image3.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2.png"/><Relationship Id="rId4" Type="http://schemas.openxmlformats.org/officeDocument/2006/relationships/image" Target="../media/image4.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hyperlink" Target="https://supersearch.onrender.com/" TargetMode="External"/><Relationship Id="rId4" Type="http://schemas.openxmlformats.org/officeDocument/2006/relationships/hyperlink" Target="mailto:shaliniiitkgp2021@gmail.com" TargetMode="External"/><Relationship Id="rId5" Type="http://schemas.openxmlformats.org/officeDocument/2006/relationships/hyperlink" Target="mailto:aantriksh.pandya1@gmail.com" TargetMode="Externa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5" name="Shape 15"/>
        <p:cNvGrpSpPr/>
        <p:nvPr/>
      </p:nvGrpSpPr>
      <p:grpSpPr>
        <a:xfrm>
          <a:off x="0" y="0"/>
          <a:ext cx="0" cy="0"/>
          <a:chOff x="0" y="0"/>
          <a:chExt cx="0" cy="0"/>
        </a:xfrm>
      </p:grpSpPr>
      <p:sp>
        <p:nvSpPr>
          <p:cNvPr id="16" name="Google Shape;16;p1"/>
          <p:cNvSpPr/>
          <p:nvPr/>
        </p:nvSpPr>
        <p:spPr>
          <a:xfrm>
            <a:off x="0" y="0"/>
            <a:ext cx="9144000" cy="36576"/>
          </a:xfrm>
          <a:prstGeom prst="rect">
            <a:avLst/>
          </a:prstGeom>
          <a:solidFill>
            <a:srgbClr val="2563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 name="Google Shape;17;p1"/>
          <p:cNvSpPr/>
          <p:nvPr/>
        </p:nvSpPr>
        <p:spPr>
          <a:xfrm>
            <a:off x="685800" y="1280160"/>
            <a:ext cx="7772400" cy="8229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11827"/>
              </a:buClr>
              <a:buSzPts val="4400"/>
              <a:buFont typeface="Inter"/>
              <a:buNone/>
            </a:pPr>
            <a:r>
              <a:rPr b="1" i="0" lang="en-US" sz="4400" u="none" cap="none" strike="noStrike">
                <a:solidFill>
                  <a:srgbClr val="111827"/>
                </a:solidFill>
                <a:latin typeface="Inter"/>
                <a:ea typeface="Inter"/>
                <a:cs typeface="Inter"/>
                <a:sym typeface="Inter"/>
              </a:rPr>
              <a:t>SuperSearch</a:t>
            </a:r>
            <a:endParaRPr b="0" i="0" sz="4400" u="none" cap="none" strike="noStrike">
              <a:solidFill>
                <a:schemeClr val="dk1"/>
              </a:solidFill>
              <a:latin typeface="Calibri"/>
              <a:ea typeface="Calibri"/>
              <a:cs typeface="Calibri"/>
              <a:sym typeface="Calibri"/>
            </a:endParaRPr>
          </a:p>
        </p:txBody>
      </p:sp>
      <p:sp>
        <p:nvSpPr>
          <p:cNvPr id="18" name="Google Shape;18;p1"/>
          <p:cNvSpPr/>
          <p:nvPr/>
        </p:nvSpPr>
        <p:spPr>
          <a:xfrm>
            <a:off x="685800" y="2180251"/>
            <a:ext cx="6550500" cy="7548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4B5563"/>
              </a:buClr>
              <a:buSzPts val="1600"/>
              <a:buFont typeface="Inter"/>
              <a:buNone/>
            </a:pPr>
            <a:r>
              <a:rPr b="0" i="0" lang="en-US" sz="1600" u="none" cap="none" strike="noStrike">
                <a:solidFill>
                  <a:srgbClr val="4B5563"/>
                </a:solidFill>
                <a:latin typeface="Inter"/>
                <a:ea typeface="Inter"/>
                <a:cs typeface="Inter"/>
                <a:sym typeface="Inter"/>
              </a:rPr>
              <a:t>Conversational AI shopping assistants for e-commerce websites</a:t>
            </a:r>
            <a:endParaRPr b="0" i="0" sz="16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4B5563"/>
              </a:buClr>
              <a:buSzPts val="1600"/>
              <a:buFont typeface="Inter"/>
              <a:buNone/>
            </a:pPr>
            <a:r>
              <a:t/>
            </a:r>
            <a:endParaRPr b="0" i="0" sz="16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4B5563"/>
              </a:buClr>
              <a:buSzPts val="1600"/>
              <a:buFont typeface="Inter"/>
              <a:buNone/>
            </a:pPr>
            <a:r>
              <a:rPr b="0" i="0" lang="en-US" sz="1600" u="sng" cap="none" strike="noStrike">
                <a:solidFill>
                  <a:schemeClr val="hlink"/>
                </a:solidFill>
                <a:latin typeface="Inter"/>
                <a:ea typeface="Inter"/>
                <a:cs typeface="Inter"/>
                <a:sym typeface="Inter"/>
                <a:hlinkClick r:id="rId3"/>
              </a:rPr>
              <a:t>book a demo</a:t>
            </a:r>
            <a:r>
              <a:rPr b="0" i="0" lang="en-US" sz="1600" u="none" cap="none" strike="noStrike">
                <a:solidFill>
                  <a:srgbClr val="4B5563"/>
                </a:solidFill>
                <a:latin typeface="Inter"/>
                <a:ea typeface="Inter"/>
                <a:cs typeface="Inter"/>
                <a:sym typeface="Inter"/>
              </a:rPr>
              <a:t xml:space="preserve"> </a:t>
            </a:r>
            <a:endParaRPr b="0" i="0" sz="1600" u="none" cap="none" strike="noStrike">
              <a:solidFill>
                <a:srgbClr val="4B5563"/>
              </a:solidFill>
              <a:latin typeface="Inter"/>
              <a:ea typeface="Inter"/>
              <a:cs typeface="Inter"/>
              <a:sym typeface="Inter"/>
            </a:endParaRPr>
          </a:p>
        </p:txBody>
      </p:sp>
      <p:sp>
        <p:nvSpPr>
          <p:cNvPr id="19" name="Google Shape;19;p1"/>
          <p:cNvSpPr/>
          <p:nvPr/>
        </p:nvSpPr>
        <p:spPr>
          <a:xfrm>
            <a:off x="685800" y="3154700"/>
            <a:ext cx="5925300" cy="274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4B5563"/>
              </a:buClr>
              <a:buSzPts val="1300"/>
              <a:buFont typeface="Inter"/>
              <a:buNone/>
            </a:pPr>
            <a:r>
              <a:rPr b="0" i="0" lang="en-US" sz="1300" u="none" cap="none" strike="noStrike">
                <a:solidFill>
                  <a:srgbClr val="4B5563"/>
                </a:solidFill>
                <a:latin typeface="Inter"/>
                <a:ea typeface="Inter"/>
                <a:cs typeface="Inter"/>
                <a:sym typeface="Inter"/>
              </a:rPr>
              <a:t>Aantriksh Pandya . Shalini Mukhopadhyay</a:t>
            </a:r>
            <a:r>
              <a:rPr b="0" i="0" lang="en-US" sz="1300" u="none" cap="none" strike="noStrike">
                <a:solidFill>
                  <a:schemeClr val="dk1"/>
                </a:solidFill>
                <a:latin typeface="Calibri"/>
                <a:ea typeface="Calibri"/>
                <a:cs typeface="Calibri"/>
                <a:sym typeface="Calibri"/>
              </a:rPr>
              <a:t xml:space="preserve">  </a:t>
            </a:r>
            <a:r>
              <a:rPr b="0" i="0" lang="en-US" sz="1300" u="none" cap="none" strike="noStrike">
                <a:solidFill>
                  <a:srgbClr val="4B5563"/>
                </a:solidFill>
                <a:latin typeface="Inter"/>
                <a:ea typeface="Inter"/>
                <a:cs typeface="Inter"/>
                <a:sym typeface="Inter"/>
              </a:rPr>
              <a:t xml:space="preserve"> </a:t>
            </a:r>
            <a:endParaRPr b="0" i="0" sz="1300" u="none" cap="none" strike="noStrike">
              <a:solidFill>
                <a:schemeClr val="dk1"/>
              </a:solidFill>
              <a:latin typeface="Calibri"/>
              <a:ea typeface="Calibri"/>
              <a:cs typeface="Calibri"/>
              <a:sym typeface="Calibri"/>
            </a:endParaRPr>
          </a:p>
        </p:txBody>
      </p:sp>
      <p:sp>
        <p:nvSpPr>
          <p:cNvPr id="20" name="Google Shape;20;p1"/>
          <p:cNvSpPr/>
          <p:nvPr/>
        </p:nvSpPr>
        <p:spPr>
          <a:xfrm>
            <a:off x="685800" y="3520440"/>
            <a:ext cx="5486400" cy="2743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9CA3AF"/>
              </a:buClr>
              <a:buSzPts val="1100"/>
              <a:buFont typeface="Inter"/>
              <a:buNone/>
            </a:pPr>
            <a:r>
              <a:rPr b="0" i="0" lang="en-US" sz="1100" u="none" cap="none" strike="noStrike">
                <a:solidFill>
                  <a:schemeClr val="dk1"/>
                </a:solidFill>
                <a:latin typeface="Inter"/>
                <a:ea typeface="Inter"/>
                <a:cs typeface="Inter"/>
                <a:sym typeface="Inter"/>
              </a:rPr>
              <a:t>Prepared for: {Brand Name}</a:t>
            </a:r>
            <a:endParaRPr b="0" i="0" sz="1100" u="none" cap="none" strike="noStrike">
              <a:solidFill>
                <a:schemeClr val="dk1"/>
              </a:solidFill>
              <a:latin typeface="Calibri"/>
              <a:ea typeface="Calibri"/>
              <a:cs typeface="Calibri"/>
              <a:sym typeface="Calibri"/>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5" name="Shape 25"/>
        <p:cNvGrpSpPr/>
        <p:nvPr/>
      </p:nvGrpSpPr>
      <p:grpSpPr>
        <a:xfrm>
          <a:off x="0" y="0"/>
          <a:ext cx="0" cy="0"/>
          <a:chOff x="0" y="0"/>
          <a:chExt cx="0" cy="0"/>
        </a:xfrm>
      </p:grpSpPr>
      <p:sp>
        <p:nvSpPr>
          <p:cNvPr id="26" name="Google Shape;26;p2"/>
          <p:cNvSpPr/>
          <p:nvPr/>
        </p:nvSpPr>
        <p:spPr>
          <a:xfrm>
            <a:off x="0" y="0"/>
            <a:ext cx="9144000" cy="36576"/>
          </a:xfrm>
          <a:prstGeom prst="rect">
            <a:avLst/>
          </a:prstGeom>
          <a:solidFill>
            <a:srgbClr val="2563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7" name="Google Shape;27;p2"/>
          <p:cNvSpPr/>
          <p:nvPr/>
        </p:nvSpPr>
        <p:spPr>
          <a:xfrm>
            <a:off x="685800" y="365750"/>
            <a:ext cx="8135700" cy="5943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11827"/>
              </a:buClr>
              <a:buSzPts val="2800"/>
              <a:buFont typeface="Inter"/>
              <a:buNone/>
            </a:pPr>
            <a:r>
              <a:rPr b="1" i="0" lang="en-US" sz="2300" u="none" cap="none" strike="noStrike">
                <a:solidFill>
                  <a:srgbClr val="111827"/>
                </a:solidFill>
                <a:latin typeface="Inter"/>
                <a:ea typeface="Inter"/>
                <a:cs typeface="Inter"/>
                <a:sym typeface="Inter"/>
              </a:rPr>
              <a:t>Ecommerce search is changing forever and AI shopping assistants are here to stay — the numbers are clear</a:t>
            </a:r>
            <a:endParaRPr b="0" i="0" sz="2300" u="none" cap="none" strike="noStrike">
              <a:solidFill>
                <a:schemeClr val="dk1"/>
              </a:solidFill>
              <a:latin typeface="Calibri"/>
              <a:ea typeface="Calibri"/>
              <a:cs typeface="Calibri"/>
              <a:sym typeface="Calibri"/>
            </a:endParaRPr>
          </a:p>
        </p:txBody>
      </p:sp>
      <p:sp>
        <p:nvSpPr>
          <p:cNvPr id="28" name="Google Shape;28;p2"/>
          <p:cNvSpPr/>
          <p:nvPr/>
        </p:nvSpPr>
        <p:spPr>
          <a:xfrm>
            <a:off x="685800" y="1143000"/>
            <a:ext cx="2514600" cy="1508760"/>
          </a:xfrm>
          <a:prstGeom prst="rect">
            <a:avLst/>
          </a:prstGeom>
          <a:solidFill>
            <a:srgbClr val="F9FAFB"/>
          </a:solidFill>
          <a:ln>
            <a:noFill/>
          </a:ln>
          <a:effectLst>
            <a:outerShdw blurRad="50800" rotWithShape="0" algn="bl" dir="8100000" dist="25400">
              <a:srgbClr val="000000">
                <a:alpha val="7843"/>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 name="Google Shape;29;p2"/>
          <p:cNvSpPr/>
          <p:nvPr/>
        </p:nvSpPr>
        <p:spPr>
          <a:xfrm>
            <a:off x="868680" y="1234440"/>
            <a:ext cx="2148840" cy="5029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563EB"/>
              </a:buClr>
              <a:buSzPts val="3600"/>
              <a:buFont typeface="Inter"/>
              <a:buNone/>
            </a:pPr>
            <a:r>
              <a:rPr b="1" i="0" lang="en-US" sz="3600" u="none" cap="none" strike="noStrike">
                <a:solidFill>
                  <a:srgbClr val="2563EB"/>
                </a:solidFill>
                <a:latin typeface="Inter"/>
                <a:ea typeface="Inter"/>
                <a:cs typeface="Inter"/>
                <a:sym typeface="Inter"/>
              </a:rPr>
              <a:t>58%</a:t>
            </a:r>
            <a:endParaRPr b="0" i="0" sz="3600" u="none" cap="none" strike="noStrike">
              <a:solidFill>
                <a:schemeClr val="dk1"/>
              </a:solidFill>
              <a:latin typeface="Calibri"/>
              <a:ea typeface="Calibri"/>
              <a:cs typeface="Calibri"/>
              <a:sym typeface="Calibri"/>
            </a:endParaRPr>
          </a:p>
        </p:txBody>
      </p:sp>
      <p:sp>
        <p:nvSpPr>
          <p:cNvPr id="30" name="Google Shape;30;p2"/>
          <p:cNvSpPr/>
          <p:nvPr/>
        </p:nvSpPr>
        <p:spPr>
          <a:xfrm>
            <a:off x="766575" y="1783075"/>
            <a:ext cx="2318400" cy="7773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4B5563"/>
              </a:buClr>
              <a:buSzPts val="1200"/>
              <a:buFont typeface="Inter"/>
              <a:buNone/>
            </a:pPr>
            <a:r>
              <a:rPr b="0" i="0" lang="en-US" sz="1200" u="none" cap="none" strike="noStrike">
                <a:solidFill>
                  <a:srgbClr val="4B5563"/>
                </a:solidFill>
                <a:latin typeface="Inter"/>
                <a:ea typeface="Inter"/>
                <a:cs typeface="Inter"/>
                <a:sym typeface="Inter"/>
              </a:rPr>
              <a:t>of consumers prefer AI shopping assistants</a:t>
            </a:r>
            <a:r>
              <a:rPr b="0" i="0" lang="en-US" sz="1200" u="none" cap="none" strike="noStrike">
                <a:solidFill>
                  <a:schemeClr val="dk1"/>
                </a:solidFill>
                <a:latin typeface="Calibri"/>
                <a:ea typeface="Calibri"/>
                <a:cs typeface="Calibri"/>
                <a:sym typeface="Calibri"/>
              </a:rPr>
              <a:t xml:space="preserve"> </a:t>
            </a:r>
            <a:r>
              <a:rPr b="0" i="0" lang="en-US" sz="1200" u="none" cap="none" strike="noStrike">
                <a:solidFill>
                  <a:srgbClr val="4B5563"/>
                </a:solidFill>
                <a:latin typeface="Inter"/>
                <a:ea typeface="Inter"/>
                <a:cs typeface="Inter"/>
                <a:sym typeface="Inter"/>
              </a:rPr>
              <a:t>over keywords (up from 25%</a:t>
            </a:r>
            <a:r>
              <a:rPr b="0" i="0" lang="en-US" sz="1200" u="none" cap="none" strike="noStrike">
                <a:solidFill>
                  <a:schemeClr val="dk1"/>
                </a:solidFill>
                <a:latin typeface="Calibri"/>
                <a:ea typeface="Calibri"/>
                <a:cs typeface="Calibri"/>
                <a:sym typeface="Calibri"/>
              </a:rPr>
              <a:t xml:space="preserve"> </a:t>
            </a:r>
            <a:r>
              <a:rPr b="0" i="0" lang="en-US" sz="1200" u="none" cap="none" strike="noStrike">
                <a:solidFill>
                  <a:srgbClr val="4B5563"/>
                </a:solidFill>
                <a:latin typeface="Inter"/>
                <a:ea typeface="Inter"/>
                <a:cs typeface="Inter"/>
                <a:sym typeface="Inter"/>
              </a:rPr>
              <a:t>in 2023)</a:t>
            </a:r>
            <a:endParaRPr b="0" i="0" sz="1200" u="none" cap="none" strike="noStrike">
              <a:solidFill>
                <a:schemeClr val="dk1"/>
              </a:solidFill>
              <a:latin typeface="Calibri"/>
              <a:ea typeface="Calibri"/>
              <a:cs typeface="Calibri"/>
              <a:sym typeface="Calibri"/>
            </a:endParaRPr>
          </a:p>
        </p:txBody>
      </p:sp>
      <p:sp>
        <p:nvSpPr>
          <p:cNvPr id="31" name="Google Shape;31;p2"/>
          <p:cNvSpPr/>
          <p:nvPr/>
        </p:nvSpPr>
        <p:spPr>
          <a:xfrm>
            <a:off x="3383280" y="1143000"/>
            <a:ext cx="2514600" cy="1508760"/>
          </a:xfrm>
          <a:prstGeom prst="rect">
            <a:avLst/>
          </a:prstGeom>
          <a:solidFill>
            <a:srgbClr val="F9FAFB"/>
          </a:solidFill>
          <a:ln>
            <a:noFill/>
          </a:ln>
          <a:effectLst>
            <a:outerShdw blurRad="50800" rotWithShape="0" algn="bl" dir="8100000" dist="25400">
              <a:srgbClr val="000000">
                <a:alpha val="7843"/>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 name="Google Shape;32;p2"/>
          <p:cNvSpPr/>
          <p:nvPr/>
        </p:nvSpPr>
        <p:spPr>
          <a:xfrm>
            <a:off x="3566160" y="1234440"/>
            <a:ext cx="2148840" cy="5029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563EB"/>
              </a:buClr>
              <a:buSzPts val="3600"/>
              <a:buFont typeface="Inter"/>
              <a:buNone/>
            </a:pPr>
            <a:r>
              <a:rPr b="1" i="0" lang="en-US" sz="3600" u="none" cap="none" strike="noStrike">
                <a:solidFill>
                  <a:srgbClr val="2563EB"/>
                </a:solidFill>
                <a:latin typeface="Inter"/>
                <a:ea typeface="Inter"/>
                <a:cs typeface="Inter"/>
                <a:sym typeface="Inter"/>
              </a:rPr>
              <a:t>4x</a:t>
            </a:r>
            <a:endParaRPr b="0" i="0" sz="3600" u="none" cap="none" strike="noStrike">
              <a:solidFill>
                <a:schemeClr val="dk1"/>
              </a:solidFill>
              <a:latin typeface="Calibri"/>
              <a:ea typeface="Calibri"/>
              <a:cs typeface="Calibri"/>
              <a:sym typeface="Calibri"/>
            </a:endParaRPr>
          </a:p>
        </p:txBody>
      </p:sp>
      <p:sp>
        <p:nvSpPr>
          <p:cNvPr id="33" name="Google Shape;33;p2"/>
          <p:cNvSpPr/>
          <p:nvPr/>
        </p:nvSpPr>
        <p:spPr>
          <a:xfrm>
            <a:off x="3566160" y="1783080"/>
            <a:ext cx="2148840" cy="77724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4B5563"/>
              </a:buClr>
              <a:buSzPts val="1200"/>
              <a:buFont typeface="Inter"/>
              <a:buNone/>
            </a:pPr>
            <a:r>
              <a:rPr b="0" i="0" lang="en-US" sz="1200" u="none" cap="none" strike="noStrike">
                <a:solidFill>
                  <a:srgbClr val="4B5563"/>
                </a:solidFill>
                <a:latin typeface="Inter"/>
                <a:ea typeface="Inter"/>
                <a:cs typeface="Inter"/>
                <a:sym typeface="Inter"/>
              </a:rPr>
              <a:t>higher conversion rates for</a:t>
            </a:r>
            <a:endParaRPr b="0" i="0" sz="12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4B5563"/>
              </a:buClr>
              <a:buSzPts val="1200"/>
              <a:buFont typeface="Inter"/>
              <a:buNone/>
            </a:pPr>
            <a:r>
              <a:rPr b="0" i="0" lang="en-US" sz="1200" u="none" cap="none" strike="noStrike">
                <a:solidFill>
                  <a:srgbClr val="4B5563"/>
                </a:solidFill>
                <a:latin typeface="Inter"/>
                <a:ea typeface="Inter"/>
                <a:cs typeface="Inter"/>
                <a:sym typeface="Inter"/>
              </a:rPr>
              <a:t>conversational search as compared to keyword search</a:t>
            </a:r>
            <a:endParaRPr b="0" i="0" sz="12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4B5563"/>
              </a:buClr>
              <a:buSzPts val="1200"/>
              <a:buFont typeface="Inter"/>
              <a:buNone/>
            </a:pPr>
            <a:r>
              <a:rPr b="0" i="0" lang="en-US" sz="1200" u="none" cap="none" strike="noStrike">
                <a:solidFill>
                  <a:srgbClr val="4B5563"/>
                </a:solidFill>
                <a:latin typeface="Inter"/>
                <a:ea typeface="Inter"/>
                <a:cs typeface="Inter"/>
                <a:sym typeface="Inter"/>
              </a:rPr>
              <a:t>(12.3% vs 3.1%, Rep AI)</a:t>
            </a:r>
            <a:endParaRPr b="0" i="0" sz="1200" u="none" cap="none" strike="noStrike">
              <a:solidFill>
                <a:schemeClr val="dk1"/>
              </a:solidFill>
              <a:latin typeface="Calibri"/>
              <a:ea typeface="Calibri"/>
              <a:cs typeface="Calibri"/>
              <a:sym typeface="Calibri"/>
            </a:endParaRPr>
          </a:p>
        </p:txBody>
      </p:sp>
      <p:sp>
        <p:nvSpPr>
          <p:cNvPr id="34" name="Google Shape;34;p2"/>
          <p:cNvSpPr/>
          <p:nvPr/>
        </p:nvSpPr>
        <p:spPr>
          <a:xfrm>
            <a:off x="6080760" y="1143000"/>
            <a:ext cx="2514600" cy="1508760"/>
          </a:xfrm>
          <a:prstGeom prst="rect">
            <a:avLst/>
          </a:prstGeom>
          <a:solidFill>
            <a:srgbClr val="F9FAFB"/>
          </a:solidFill>
          <a:ln>
            <a:noFill/>
          </a:ln>
          <a:effectLst>
            <a:outerShdw blurRad="50800" rotWithShape="0" algn="bl" dir="8100000" dist="25400">
              <a:srgbClr val="000000">
                <a:alpha val="7843"/>
              </a:srgbClr>
            </a:outerShdw>
          </a:effectLst>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5" name="Google Shape;35;p2"/>
          <p:cNvSpPr/>
          <p:nvPr/>
        </p:nvSpPr>
        <p:spPr>
          <a:xfrm>
            <a:off x="6263640" y="1234440"/>
            <a:ext cx="2148840" cy="5029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563EB"/>
              </a:buClr>
              <a:buSzPts val="3600"/>
              <a:buFont typeface="Inter"/>
              <a:buNone/>
            </a:pPr>
            <a:r>
              <a:rPr b="1" i="0" lang="en-US" sz="3600" u="none" cap="none" strike="noStrike">
                <a:solidFill>
                  <a:srgbClr val="2563EB"/>
                </a:solidFill>
                <a:latin typeface="Inter"/>
                <a:ea typeface="Inter"/>
                <a:cs typeface="Inter"/>
                <a:sym typeface="Inter"/>
              </a:rPr>
              <a:t>1,300%</a:t>
            </a:r>
            <a:endParaRPr b="0" i="0" sz="3600" u="none" cap="none" strike="noStrike">
              <a:solidFill>
                <a:schemeClr val="dk1"/>
              </a:solidFill>
              <a:latin typeface="Calibri"/>
              <a:ea typeface="Calibri"/>
              <a:cs typeface="Calibri"/>
              <a:sym typeface="Calibri"/>
            </a:endParaRPr>
          </a:p>
        </p:txBody>
      </p:sp>
      <p:sp>
        <p:nvSpPr>
          <p:cNvPr id="36" name="Google Shape;36;p2"/>
          <p:cNvSpPr/>
          <p:nvPr/>
        </p:nvSpPr>
        <p:spPr>
          <a:xfrm>
            <a:off x="6263640" y="1783080"/>
            <a:ext cx="2148840" cy="77724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4B5563"/>
              </a:buClr>
              <a:buSzPts val="1200"/>
              <a:buFont typeface="Inter"/>
              <a:buNone/>
            </a:pPr>
            <a:r>
              <a:rPr b="0" i="0" lang="en-US" sz="1200" u="none" cap="none" strike="noStrike">
                <a:solidFill>
                  <a:srgbClr val="4B5563"/>
                </a:solidFill>
                <a:latin typeface="Inter"/>
                <a:ea typeface="Inter"/>
                <a:cs typeface="Inter"/>
                <a:sym typeface="Inter"/>
              </a:rPr>
              <a:t>YoY growth in AI-referred</a:t>
            </a:r>
            <a:endParaRPr b="0" i="0" sz="12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4B5563"/>
              </a:buClr>
              <a:buSzPts val="1200"/>
              <a:buFont typeface="Inter"/>
              <a:buNone/>
            </a:pPr>
            <a:r>
              <a:rPr b="0" i="0" lang="en-US" sz="1200" u="none" cap="none" strike="noStrike">
                <a:solidFill>
                  <a:srgbClr val="4B5563"/>
                </a:solidFill>
                <a:latin typeface="Inter"/>
                <a:ea typeface="Inter"/>
                <a:cs typeface="Inter"/>
                <a:sym typeface="Inter"/>
              </a:rPr>
              <a:t>retail traffic</a:t>
            </a:r>
            <a:endParaRPr b="0" i="0" sz="12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4B5563"/>
              </a:buClr>
              <a:buSzPts val="1200"/>
              <a:buFont typeface="Inter"/>
              <a:buNone/>
            </a:pPr>
            <a:r>
              <a:rPr b="0" i="0" lang="en-US" sz="1200" u="none" cap="none" strike="noStrike">
                <a:solidFill>
                  <a:srgbClr val="4B5563"/>
                </a:solidFill>
                <a:latin typeface="Inter"/>
                <a:ea typeface="Inter"/>
                <a:cs typeface="Inter"/>
                <a:sym typeface="Inter"/>
              </a:rPr>
              <a:t>(Adobe, Holiday 2024)</a:t>
            </a:r>
            <a:endParaRPr b="0" i="0" sz="1200" u="none" cap="none" strike="noStrike">
              <a:solidFill>
                <a:schemeClr val="dk1"/>
              </a:solidFill>
              <a:latin typeface="Calibri"/>
              <a:ea typeface="Calibri"/>
              <a:cs typeface="Calibri"/>
              <a:sym typeface="Calibri"/>
            </a:endParaRPr>
          </a:p>
        </p:txBody>
      </p:sp>
      <p:sp>
        <p:nvSpPr>
          <p:cNvPr id="37" name="Google Shape;37;p2"/>
          <p:cNvSpPr/>
          <p:nvPr/>
        </p:nvSpPr>
        <p:spPr>
          <a:xfrm>
            <a:off x="685800" y="2814763"/>
            <a:ext cx="7909500" cy="17571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100"/>
              <a:buFont typeface="Arial"/>
              <a:buNone/>
            </a:pPr>
            <a:r>
              <a:t/>
            </a:r>
            <a:endParaRPr b="0" i="0" sz="1100" u="none" cap="none" strike="noStrike">
              <a:solidFill>
                <a:srgbClr val="4B5563"/>
              </a:solidFill>
              <a:latin typeface="Inter"/>
              <a:ea typeface="Inter"/>
              <a:cs typeface="Inter"/>
              <a:sym typeface="Inter"/>
            </a:endParaRPr>
          </a:p>
          <a:p>
            <a:pPr indent="-342900" lvl="0" marL="342900" marR="0" rtl="0" algn="l">
              <a:lnSpc>
                <a:spcPct val="100000"/>
              </a:lnSpc>
              <a:spcBef>
                <a:spcPts val="400"/>
              </a:spcBef>
              <a:spcAft>
                <a:spcPts val="0"/>
              </a:spcAft>
              <a:buClr>
                <a:srgbClr val="4B5563"/>
              </a:buClr>
              <a:buSzPts val="1100"/>
              <a:buFont typeface="Inter"/>
              <a:buChar char="•"/>
            </a:pPr>
            <a:r>
              <a:rPr b="1" i="0" lang="en-US" sz="1100" u="none" cap="none" strike="noStrike">
                <a:solidFill>
                  <a:srgbClr val="4B5563"/>
                </a:solidFill>
                <a:latin typeface="Inter"/>
                <a:ea typeface="Inter"/>
                <a:cs typeface="Inter"/>
                <a:sym typeface="Inter"/>
              </a:rPr>
              <a:t xml:space="preserve">~60% to 64% of online shoppers </a:t>
            </a:r>
            <a:r>
              <a:rPr b="0" i="0" lang="en-US" sz="1100" u="none" cap="none" strike="noStrike">
                <a:solidFill>
                  <a:srgbClr val="4B5563"/>
                </a:solidFill>
                <a:latin typeface="Inter"/>
                <a:ea typeface="Inter"/>
                <a:cs typeface="Inter"/>
                <a:sym typeface="Inter"/>
              </a:rPr>
              <a:t>have used or plan to use AI for shopping in 2026 (~3B AI shoppers)</a:t>
            </a:r>
            <a:r>
              <a:rPr b="1" i="0" lang="en-US" sz="1100" u="none" cap="none" strike="noStrike">
                <a:solidFill>
                  <a:srgbClr val="4B5563"/>
                </a:solidFill>
                <a:latin typeface="Inter"/>
                <a:ea typeface="Inter"/>
                <a:cs typeface="Inter"/>
                <a:sym typeface="Inter"/>
              </a:rPr>
              <a:t xml:space="preserve">. </a:t>
            </a:r>
            <a:endParaRPr b="1" i="0" sz="1100" u="none" cap="none" strike="noStrike">
              <a:solidFill>
                <a:srgbClr val="4B5563"/>
              </a:solidFill>
              <a:latin typeface="Inter"/>
              <a:ea typeface="Inter"/>
              <a:cs typeface="Inter"/>
              <a:sym typeface="Inter"/>
            </a:endParaRPr>
          </a:p>
          <a:p>
            <a:pPr indent="0" lvl="0" marL="457200" marR="0" rtl="0" algn="l">
              <a:lnSpc>
                <a:spcPct val="100000"/>
              </a:lnSpc>
              <a:spcBef>
                <a:spcPts val="400"/>
              </a:spcBef>
              <a:spcAft>
                <a:spcPts val="0"/>
              </a:spcAft>
              <a:buClr>
                <a:srgbClr val="000000"/>
              </a:buClr>
              <a:buSzPts val="1100"/>
              <a:buFont typeface="Arial"/>
              <a:buNone/>
            </a:pPr>
            <a:r>
              <a:t/>
            </a:r>
            <a:endParaRPr b="1" i="0" sz="1100" u="none" cap="none" strike="noStrike">
              <a:solidFill>
                <a:srgbClr val="4B5563"/>
              </a:solidFill>
              <a:latin typeface="Inter"/>
              <a:ea typeface="Inter"/>
              <a:cs typeface="Inter"/>
              <a:sym typeface="Inter"/>
            </a:endParaRPr>
          </a:p>
          <a:p>
            <a:pPr indent="-342900" lvl="0" marL="342900" marR="0" rtl="0" algn="l">
              <a:lnSpc>
                <a:spcPct val="100000"/>
              </a:lnSpc>
              <a:spcBef>
                <a:spcPts val="400"/>
              </a:spcBef>
              <a:spcAft>
                <a:spcPts val="0"/>
              </a:spcAft>
              <a:buClr>
                <a:srgbClr val="4B5563"/>
              </a:buClr>
              <a:buSzPts val="1100"/>
              <a:buFont typeface="Inter"/>
              <a:buChar char="•"/>
            </a:pPr>
            <a:r>
              <a:rPr b="1" i="0" lang="en-US" sz="1100" u="none" cap="none" strike="noStrike">
                <a:solidFill>
                  <a:srgbClr val="4B5563"/>
                </a:solidFill>
                <a:latin typeface="Inter"/>
                <a:ea typeface="Inter"/>
                <a:cs typeface="Inter"/>
                <a:sym typeface="Inter"/>
              </a:rPr>
              <a:t>7-8 word queries nearly doubled since ChatGPT</a:t>
            </a:r>
            <a:r>
              <a:rPr b="0" i="0" lang="en-US" sz="1100" u="none" cap="none" strike="noStrike">
                <a:solidFill>
                  <a:srgbClr val="4B5563"/>
                </a:solidFill>
                <a:latin typeface="Inter"/>
                <a:ea typeface="Inter"/>
                <a:cs typeface="Inter"/>
                <a:sym typeface="Inter"/>
              </a:rPr>
              <a:t xml:space="preserve"> launched (Search Engine Land), 35% of all search queries are now complete sentences, not fragmented keywords. Conversational search is the new norm.</a:t>
            </a:r>
            <a:endParaRPr b="0" i="0" sz="1100" u="none" cap="none" strike="noStrike">
              <a:solidFill>
                <a:srgbClr val="4B5563"/>
              </a:solidFill>
              <a:latin typeface="Inter"/>
              <a:ea typeface="Inter"/>
              <a:cs typeface="Inter"/>
              <a:sym typeface="Inter"/>
            </a:endParaRPr>
          </a:p>
          <a:p>
            <a:pPr indent="0" lvl="0" marL="457200" marR="0" rtl="0" algn="l">
              <a:lnSpc>
                <a:spcPct val="100000"/>
              </a:lnSpc>
              <a:spcBef>
                <a:spcPts val="400"/>
              </a:spcBef>
              <a:spcAft>
                <a:spcPts val="0"/>
              </a:spcAft>
              <a:buClr>
                <a:srgbClr val="000000"/>
              </a:buClr>
              <a:buSzPts val="1100"/>
              <a:buFont typeface="Arial"/>
              <a:buNone/>
            </a:pPr>
            <a:r>
              <a:t/>
            </a:r>
            <a:endParaRPr b="0" i="0" sz="1100" u="none" cap="none" strike="noStrike">
              <a:solidFill>
                <a:srgbClr val="4B5563"/>
              </a:solidFill>
              <a:latin typeface="Inter"/>
              <a:ea typeface="Inter"/>
              <a:cs typeface="Inter"/>
              <a:sym typeface="Inter"/>
            </a:endParaRPr>
          </a:p>
          <a:p>
            <a:pPr indent="-342900" lvl="0" marL="342900" marR="0" rtl="0" algn="l">
              <a:lnSpc>
                <a:spcPct val="100000"/>
              </a:lnSpc>
              <a:spcBef>
                <a:spcPts val="400"/>
              </a:spcBef>
              <a:spcAft>
                <a:spcPts val="0"/>
              </a:spcAft>
              <a:buClr>
                <a:srgbClr val="4B5563"/>
              </a:buClr>
              <a:buSzPts val="1100"/>
              <a:buFont typeface="Inter"/>
              <a:buChar char="•"/>
            </a:pPr>
            <a:r>
              <a:rPr b="0" i="0" lang="en-US" sz="1100" u="none" cap="none" strike="noStrike">
                <a:solidFill>
                  <a:srgbClr val="4B5563"/>
                </a:solidFill>
                <a:latin typeface="Inter"/>
                <a:ea typeface="Inter"/>
                <a:cs typeface="Inter"/>
                <a:sym typeface="Inter"/>
              </a:rPr>
              <a:t>79% of customers say they'd find it helpful if AI understood their specific needs (not just keywords) to recommend products in a chat instead of them having to type keywords into a search bar to discover relevant products.</a:t>
            </a:r>
            <a:endParaRPr b="0" i="0" sz="1100" u="none" cap="none" strike="noStrike">
              <a:solidFill>
                <a:srgbClr val="4B5563"/>
              </a:solidFill>
              <a:latin typeface="Inter"/>
              <a:ea typeface="Inter"/>
              <a:cs typeface="Inter"/>
              <a:sym typeface="Inter"/>
            </a:endParaRPr>
          </a:p>
          <a:p>
            <a:pPr indent="0" lvl="0" marL="457200" marR="0" rtl="0" algn="l">
              <a:lnSpc>
                <a:spcPct val="100000"/>
              </a:lnSpc>
              <a:spcBef>
                <a:spcPts val="400"/>
              </a:spcBef>
              <a:spcAft>
                <a:spcPts val="0"/>
              </a:spcAft>
              <a:buClr>
                <a:srgbClr val="000000"/>
              </a:buClr>
              <a:buSzPts val="1100"/>
              <a:buFont typeface="Arial"/>
              <a:buNone/>
            </a:pPr>
            <a:r>
              <a:t/>
            </a:r>
            <a:endParaRPr b="0" i="0" sz="1100" u="none" cap="none" strike="noStrike">
              <a:solidFill>
                <a:srgbClr val="4B5563"/>
              </a:solidFill>
              <a:latin typeface="Inter"/>
              <a:ea typeface="Inter"/>
              <a:cs typeface="Inter"/>
              <a:sym typeface="Inter"/>
            </a:endParaRPr>
          </a:p>
          <a:p>
            <a:pPr indent="-342900" lvl="0" marL="342900" marR="0" rtl="0" algn="l">
              <a:lnSpc>
                <a:spcPct val="100000"/>
              </a:lnSpc>
              <a:spcBef>
                <a:spcPts val="400"/>
              </a:spcBef>
              <a:spcAft>
                <a:spcPts val="0"/>
              </a:spcAft>
              <a:buClr>
                <a:srgbClr val="4B5563"/>
              </a:buClr>
              <a:buSzPts val="1100"/>
              <a:buFont typeface="Inter"/>
              <a:buChar char="•"/>
            </a:pPr>
            <a:r>
              <a:rPr b="1" i="0" lang="en-US" sz="1100" u="none" cap="none" strike="noStrike">
                <a:solidFill>
                  <a:srgbClr val="4B5563"/>
                </a:solidFill>
                <a:latin typeface="Inter"/>
                <a:ea typeface="Inter"/>
                <a:cs typeface="Inter"/>
                <a:sym typeface="Inter"/>
              </a:rPr>
              <a:t>82% want AI shopping assistants to reduce time</a:t>
            </a:r>
            <a:r>
              <a:rPr b="0" i="0" lang="en-US" sz="1100" u="none" cap="none" strike="noStrike">
                <a:solidFill>
                  <a:srgbClr val="4B5563"/>
                </a:solidFill>
                <a:latin typeface="Inter"/>
                <a:ea typeface="Inter"/>
                <a:cs typeface="Inter"/>
                <a:sym typeface="Inter"/>
              </a:rPr>
              <a:t xml:space="preserve"> spent researching what to buy.</a:t>
            </a:r>
            <a:endParaRPr b="0" i="0" sz="1100" u="none" cap="none" strike="noStrike">
              <a:solidFill>
                <a:schemeClr val="dk1"/>
              </a:solidFill>
              <a:latin typeface="Calibri"/>
              <a:ea typeface="Calibri"/>
              <a:cs typeface="Calibri"/>
              <a:sym typeface="Calibri"/>
            </a:endParaRPr>
          </a:p>
        </p:txBody>
      </p:sp>
      <p:sp>
        <p:nvSpPr>
          <p:cNvPr id="38" name="Google Shape;38;p2"/>
          <p:cNvSpPr/>
          <p:nvPr/>
        </p:nvSpPr>
        <p:spPr>
          <a:xfrm>
            <a:off x="928325" y="4876001"/>
            <a:ext cx="7530000" cy="1788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9CA3AF"/>
              </a:buClr>
              <a:buSzPts val="900"/>
              <a:buFont typeface="Inter"/>
              <a:buNone/>
            </a:pPr>
            <a:r>
              <a:rPr b="0" i="0" lang="en-US" sz="900" u="none" cap="none" strike="noStrike">
                <a:solidFill>
                  <a:srgbClr val="666666"/>
                </a:solidFill>
                <a:latin typeface="Inter"/>
                <a:ea typeface="Inter"/>
                <a:cs typeface="Inter"/>
                <a:sym typeface="Inter"/>
              </a:rPr>
              <a:t>Sources: Rep AI 2025, Adobe Analytics, Search Engine Land, Capgemini, Constructor, Nosto</a:t>
            </a:r>
            <a:endParaRPr b="0" i="0" sz="900" u="none" cap="none" strike="noStrike">
              <a:solidFill>
                <a:srgbClr val="666666"/>
              </a:solidFill>
              <a:latin typeface="Calibri"/>
              <a:ea typeface="Calibri"/>
              <a:cs typeface="Calibri"/>
              <a:sym typeface="Calibri"/>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3" name="Shape 43"/>
        <p:cNvGrpSpPr/>
        <p:nvPr/>
      </p:nvGrpSpPr>
      <p:grpSpPr>
        <a:xfrm>
          <a:off x="0" y="0"/>
          <a:ext cx="0" cy="0"/>
          <a:chOff x="0" y="0"/>
          <a:chExt cx="0" cy="0"/>
        </a:xfrm>
      </p:grpSpPr>
      <p:sp>
        <p:nvSpPr>
          <p:cNvPr id="44" name="Google Shape;44;p3"/>
          <p:cNvSpPr/>
          <p:nvPr/>
        </p:nvSpPr>
        <p:spPr>
          <a:xfrm>
            <a:off x="0" y="0"/>
            <a:ext cx="9144000" cy="36576"/>
          </a:xfrm>
          <a:prstGeom prst="rect">
            <a:avLst/>
          </a:prstGeom>
          <a:solidFill>
            <a:srgbClr val="2563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5" name="Google Shape;45;p3"/>
          <p:cNvSpPr/>
          <p:nvPr/>
        </p:nvSpPr>
        <p:spPr>
          <a:xfrm>
            <a:off x="367600" y="322625"/>
            <a:ext cx="8776500" cy="5943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111827"/>
              </a:buClr>
              <a:buSzPts val="2800"/>
              <a:buFont typeface="Inter"/>
              <a:buNone/>
            </a:pPr>
            <a:r>
              <a:rPr b="1" i="0" lang="en-US" sz="2200" u="none" cap="none" strike="noStrike">
                <a:solidFill>
                  <a:srgbClr val="111827"/>
                </a:solidFill>
                <a:latin typeface="Inter"/>
                <a:ea typeface="Inter"/>
                <a:cs typeface="Inter"/>
                <a:sym typeface="Inter"/>
              </a:rPr>
              <a:t>Competitors are already live with conversational search and seeing massive gains</a:t>
            </a:r>
            <a:endParaRPr b="0" i="0" sz="2200" u="none" cap="none" strike="noStrike">
              <a:solidFill>
                <a:schemeClr val="dk1"/>
              </a:solidFill>
              <a:latin typeface="Calibri"/>
              <a:ea typeface="Calibri"/>
              <a:cs typeface="Calibri"/>
              <a:sym typeface="Calibri"/>
            </a:endParaRPr>
          </a:p>
        </p:txBody>
      </p:sp>
      <p:sp>
        <p:nvSpPr>
          <p:cNvPr id="46" name="Google Shape;46;p3"/>
          <p:cNvSpPr/>
          <p:nvPr/>
        </p:nvSpPr>
        <p:spPr>
          <a:xfrm>
            <a:off x="906749" y="1202975"/>
            <a:ext cx="3517200" cy="274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563EB"/>
              </a:buClr>
              <a:buSzPts val="1600"/>
              <a:buFont typeface="Inter"/>
              <a:buNone/>
            </a:pPr>
            <a:r>
              <a:rPr b="1" i="0" lang="en-US" sz="1600" u="none" cap="none" strike="noStrike">
                <a:solidFill>
                  <a:srgbClr val="2563EB"/>
                </a:solidFill>
                <a:latin typeface="Inter"/>
                <a:ea typeface="Inter"/>
                <a:cs typeface="Inter"/>
                <a:sym typeface="Inter"/>
              </a:rPr>
              <a:t>Global</a:t>
            </a:r>
            <a:endParaRPr b="0" i="0" sz="1600" u="none" cap="none" strike="noStrike">
              <a:solidFill>
                <a:schemeClr val="dk1"/>
              </a:solidFill>
              <a:latin typeface="Calibri"/>
              <a:ea typeface="Calibri"/>
              <a:cs typeface="Calibri"/>
              <a:sym typeface="Calibri"/>
            </a:endParaRPr>
          </a:p>
        </p:txBody>
      </p:sp>
      <p:sp>
        <p:nvSpPr>
          <p:cNvPr id="47" name="Google Shape;47;p3"/>
          <p:cNvSpPr/>
          <p:nvPr/>
        </p:nvSpPr>
        <p:spPr>
          <a:xfrm>
            <a:off x="594050" y="1463050"/>
            <a:ext cx="3978900" cy="2604300"/>
          </a:xfrm>
          <a:prstGeom prst="rect">
            <a:avLst/>
          </a:prstGeom>
          <a:noFill/>
          <a:ln>
            <a:noFill/>
          </a:ln>
        </p:spPr>
        <p:txBody>
          <a:bodyPr anchorCtr="0" anchor="ctr" bIns="0" lIns="0" spcFirstLastPara="1" rIns="0" wrap="square" tIns="0">
            <a:noAutofit/>
          </a:bodyPr>
          <a:lstStyle/>
          <a:p>
            <a:pPr indent="-342900" lvl="0" marL="342900" marR="0" rtl="0" algn="l">
              <a:lnSpc>
                <a:spcPct val="100000"/>
              </a:lnSpc>
              <a:spcBef>
                <a:spcPts val="0"/>
              </a:spcBef>
              <a:spcAft>
                <a:spcPts val="0"/>
              </a:spcAft>
              <a:buClr>
                <a:srgbClr val="4B5563"/>
              </a:buClr>
              <a:buSzPts val="1100"/>
              <a:buFont typeface="Inter"/>
              <a:buChar char="•"/>
            </a:pPr>
            <a:r>
              <a:rPr b="1" i="0" lang="en-US" sz="1100" u="none" cap="none" strike="noStrike">
                <a:solidFill>
                  <a:schemeClr val="dk1"/>
                </a:solidFill>
                <a:latin typeface="Inter"/>
                <a:ea typeface="Inter"/>
                <a:cs typeface="Inter"/>
                <a:sym typeface="Inter"/>
              </a:rPr>
              <a:t>Wayfair Muse</a:t>
            </a:r>
            <a:r>
              <a:rPr b="0" i="0" lang="en-US" sz="1100" u="none" cap="none" strike="noStrike">
                <a:solidFill>
                  <a:srgbClr val="4B5563"/>
                </a:solidFill>
                <a:latin typeface="Inter"/>
                <a:ea typeface="Inter"/>
                <a:cs typeface="Inter"/>
                <a:sym typeface="Inter"/>
              </a:rPr>
              <a:t xml:space="preserve"> — AI visual discovery, type a style and get shoppable AI-generated room designs (Feb 2025).</a:t>
            </a:r>
          </a:p>
          <a:p>
            <a:pPr indent="-342900" lvl="0" marL="342900" marR="0" rtl="0" algn="l">
              <a:lnSpc>
                <a:spcPct val="100000"/>
              </a:lnSpc>
              <a:spcBef>
                <a:spcPts val="0"/>
              </a:spcBef>
              <a:spcAft>
                <a:spcPts val="0"/>
              </a:spcAft>
              <a:buClr>
                <a:srgbClr val="4B5563"/>
              </a:buClr>
              <a:buSzPts val="1100"/>
              <a:buFont typeface="Inter"/>
              <a:buChar char="•"/>
            </a:pPr>
            <a:r>
              <a:rPr b="1" i="0" lang="en-US" sz="1100" u="none" cap="none" strike="noStrike">
                <a:solidFill>
                  <a:schemeClr val="dk1"/>
                </a:solidFill>
                <a:latin typeface="Inter"/>
                <a:ea typeface="Inter"/>
                <a:cs typeface="Inter"/>
                <a:sym typeface="Inter"/>
              </a:rPr>
              <a:t>IKEA Kreativ</a:t>
            </a:r>
            <a:r>
              <a:rPr b="0" i="0" lang="en-US" sz="1100" u="none" cap="none" strike="noStrike">
                <a:solidFill>
                  <a:srgbClr val="4B5563"/>
                </a:solidFill>
                <a:latin typeface="Inter"/>
                <a:ea typeface="Inter"/>
                <a:cs typeface="Inter"/>
                <a:sym typeface="Inter"/>
              </a:rPr>
              <a:t xml:space="preserve"> — mixed-reality design experience, AR room planning with the full catalog.</a:t>
            </a:r>
          </a:p>
          <a:p>
            <a:pPr indent="-342900" lvl="0" marL="342900" marR="0" rtl="0" algn="l">
              <a:lnSpc>
                <a:spcPct val="100000"/>
              </a:lnSpc>
              <a:spcBef>
                <a:spcPts val="0"/>
              </a:spcBef>
              <a:spcAft>
                <a:spcPts val="0"/>
              </a:spcAft>
              <a:buClr>
                <a:srgbClr val="4B5563"/>
              </a:buClr>
              <a:buSzPts val="1100"/>
              <a:buFont typeface="Inter"/>
              <a:buChar char="•"/>
            </a:pPr>
            <a:r>
              <a:rPr b="1" i="0" lang="en-US" sz="1100" u="none" cap="none" strike="noStrike">
                <a:solidFill>
                  <a:schemeClr val="dk1"/>
                </a:solidFill>
                <a:latin typeface="Inter"/>
                <a:ea typeface="Inter"/>
                <a:cs typeface="Inter"/>
                <a:sym typeface="Inter"/>
              </a:rPr>
              <a:t>Lowe’s Mylow</a:t>
            </a:r>
            <a:r>
              <a:rPr b="0" i="0" lang="en-US" sz="1100" u="none" cap="none" strike="noStrike">
                <a:solidFill>
                  <a:srgbClr val="4B5563"/>
                </a:solidFill>
                <a:latin typeface="Inter"/>
                <a:ea typeface="Inter"/>
                <a:cs typeface="Inter"/>
                <a:sym typeface="Inter"/>
              </a:rPr>
              <a:t xml:space="preserve"> — OpenAI-powered home improvement advisor, live since Mar 2025.</a:t>
            </a:r>
          </a:p>
          <a:p>
            <a:pPr indent="-342900" lvl="0" marL="342900" marR="0" rtl="0" algn="l">
              <a:lnSpc>
                <a:spcPct val="100000"/>
              </a:lnSpc>
              <a:spcBef>
                <a:spcPts val="0"/>
              </a:spcBef>
              <a:spcAft>
                <a:spcPts val="0"/>
              </a:spcAft>
              <a:buClr>
                <a:srgbClr val="4B5563"/>
              </a:buClr>
              <a:buSzPts val="1100"/>
              <a:buFont typeface="Inter"/>
              <a:buChar char="•"/>
            </a:pPr>
            <a:r>
              <a:rPr b="1" i="0" lang="en-US" sz="1100" u="none" cap="none" strike="noStrike">
                <a:solidFill>
                  <a:schemeClr val="dk1"/>
                </a:solidFill>
                <a:latin typeface="Inter"/>
                <a:ea typeface="Inter"/>
                <a:cs typeface="Inter"/>
                <a:sym typeface="Inter"/>
              </a:rPr>
              <a:t>Home Depot</a:t>
            </a:r>
            <a:r>
              <a:rPr b="0" i="0" lang="en-US" sz="1100" u="none" cap="none" strike="noStrike">
                <a:solidFill>
                  <a:srgbClr val="4B5563"/>
                </a:solidFill>
                <a:latin typeface="Inter"/>
                <a:ea typeface="Inter"/>
                <a:cs typeface="Inter"/>
                <a:sym typeface="Inter"/>
              </a:rPr>
              <a:t xml:space="preserve"> — AI shopping assistant integrated across the storefront.</a:t>
            </a:r>
          </a:p>
          <a:p>
            <a:pPr indent="-342900" lvl="0" marL="342900" marR="0" rtl="0" algn="l">
              <a:lnSpc>
                <a:spcPct val="100000"/>
              </a:lnSpc>
              <a:spcBef>
                <a:spcPts val="0"/>
              </a:spcBef>
              <a:spcAft>
                <a:spcPts val="0"/>
              </a:spcAft>
              <a:buClr>
                <a:srgbClr val="4B5563"/>
              </a:buClr>
              <a:buSzPts val="1100"/>
              <a:buFont typeface="Inter"/>
              <a:buChar char="•"/>
            </a:pPr>
            <a:r>
              <a:rPr b="1" i="0" lang="en-US" sz="1100" u="none" cap="none" strike="noStrike">
                <a:solidFill>
                  <a:schemeClr val="dk1"/>
                </a:solidFill>
                <a:latin typeface="Inter"/>
                <a:ea typeface="Inter"/>
                <a:cs typeface="Inter"/>
                <a:sym typeface="Inter"/>
              </a:rPr>
              <a:t>Amazon Rufus</a:t>
            </a:r>
            <a:r>
              <a:rPr b="0" i="0" lang="en-US" sz="1100" u="none" cap="none" strike="noStrike">
                <a:solidFill>
                  <a:srgbClr val="4B5563"/>
                </a:solidFill>
                <a:latin typeface="Inter"/>
                <a:ea typeface="Inter"/>
                <a:cs typeface="Inter"/>
                <a:sym typeface="Inter"/>
              </a:rPr>
              <a:t xml:space="preserve"> — live across home and furniture, 60% higher purchase likelihood.</a:t>
            </a:r>
          </a:p>
        </p:txBody>
      </p:sp>
      <p:sp>
        <p:nvSpPr>
          <p:cNvPr id="48" name="Google Shape;48;p3"/>
          <p:cNvSpPr/>
          <p:nvPr/>
        </p:nvSpPr>
        <p:spPr>
          <a:xfrm>
            <a:off x="5025900" y="1202975"/>
            <a:ext cx="3432300" cy="2265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DC2626"/>
              </a:buClr>
              <a:buSzPts val="1600"/>
              <a:buFont typeface="Inter"/>
              <a:buNone/>
            </a:pPr>
            <a:r>
              <a:rPr b="1" i="0" lang="en-US" sz="1600" u="none" cap="none" strike="noStrike">
                <a:solidFill>
                  <a:srgbClr val="DC2626"/>
                </a:solidFill>
                <a:latin typeface="Inter"/>
                <a:ea typeface="Inter"/>
                <a:cs typeface="Inter"/>
                <a:sym typeface="Inter"/>
              </a:rPr>
              <a:t>India (your direct market)</a:t>
            </a:r>
            <a:endParaRPr b="0" i="0" sz="1600" u="none" cap="none" strike="noStrike">
              <a:solidFill>
                <a:schemeClr val="dk1"/>
              </a:solidFill>
              <a:latin typeface="Calibri"/>
              <a:ea typeface="Calibri"/>
              <a:cs typeface="Calibri"/>
              <a:sym typeface="Calibri"/>
            </a:endParaRPr>
          </a:p>
        </p:txBody>
      </p:sp>
      <p:sp>
        <p:nvSpPr>
          <p:cNvPr id="49" name="Google Shape;49;p3"/>
          <p:cNvSpPr/>
          <p:nvPr/>
        </p:nvSpPr>
        <p:spPr>
          <a:xfrm>
            <a:off x="4709150" y="1630300"/>
            <a:ext cx="3749100" cy="2318400"/>
          </a:xfrm>
          <a:prstGeom prst="rect">
            <a:avLst/>
          </a:prstGeom>
          <a:noFill/>
          <a:ln>
            <a:noFill/>
          </a:ln>
        </p:spPr>
        <p:txBody>
          <a:bodyPr anchorCtr="0" anchor="ctr" bIns="0" lIns="0" spcFirstLastPara="1" rIns="0" wrap="square" tIns="0">
            <a:noAutofit/>
          </a:bodyPr>
          <a:lstStyle/>
          <a:p>
            <a:pPr indent="-342900" lvl="0" marL="342900" marR="0" rtl="0" algn="l">
              <a:lnSpc>
                <a:spcPct val="100000"/>
              </a:lnSpc>
              <a:spcBef>
                <a:spcPts val="0"/>
              </a:spcBef>
              <a:spcAft>
                <a:spcPts val="0"/>
              </a:spcAft>
              <a:buClr>
                <a:srgbClr val="4B5563"/>
              </a:buClr>
              <a:buSzPts val="1100"/>
              <a:buFont typeface="Inter"/>
              <a:buChar char="•"/>
            </a:pPr>
            <a:r>
              <a:rPr b="1" i="0" lang="en-US" sz="1100" u="none" cap="none" strike="noStrike">
                <a:solidFill>
                  <a:schemeClr val="dk1"/>
                </a:solidFill>
                <a:latin typeface="Inter"/>
                <a:ea typeface="Inter"/>
                <a:cs typeface="Inter"/>
                <a:sym typeface="Inter"/>
              </a:rPr>
              <a:t xml:space="preserve">Pepperfry</a:t>
            </a:r>
            <a:r>
              <a:rPr i="0" lang="en-US" sz="1100" u="none" cap="none" strike="noStrike">
                <a:solidFill>
                  <a:schemeClr val="dk1"/>
                </a:solidFill>
                <a:latin typeface="Inter"/>
                <a:ea typeface="Inter"/>
                <a:cs typeface="Inter"/>
                <a:sym typeface="Inter"/>
              </a:rPr>
              <a:t xml:space="preserve"> — piloting AI-led visual discovery and AR room planning across offline studios.</a:t>
            </a:r>
          </a:p>
          <a:p>
            <a:pPr indent="-342900" lvl="0" marL="342900" marR="0" rtl="0" algn="l">
              <a:lnSpc>
                <a:spcPct val="100000"/>
              </a:lnSpc>
              <a:spcBef>
                <a:spcPts val="0"/>
              </a:spcBef>
              <a:spcAft>
                <a:spcPts val="0"/>
              </a:spcAft>
              <a:buClr>
                <a:srgbClr val="4B5563"/>
              </a:buClr>
              <a:buSzPts val="1100"/>
              <a:buFont typeface="Inter"/>
              <a:buChar char="•"/>
            </a:pPr>
            <a:r>
              <a:rPr b="1" i="0" lang="en-US" sz="1100" u="none" cap="none" strike="noStrike">
                <a:solidFill>
                  <a:schemeClr val="dk1"/>
                </a:solidFill>
                <a:latin typeface="Inter"/>
                <a:ea typeface="Inter"/>
                <a:cs typeface="Inter"/>
                <a:sym typeface="Inter"/>
              </a:rPr>
              <a:t xml:space="preserve">Livspace</a:t>
            </a:r>
            <a:r>
              <a:rPr i="0" lang="en-US" sz="1100" u="none" cap="none" strike="noStrike">
                <a:solidFill>
                  <a:schemeClr val="dk1"/>
                </a:solidFill>
                <a:latin typeface="Inter"/>
                <a:ea typeface="Inter"/>
                <a:cs typeface="Inter"/>
                <a:sym typeface="Inter"/>
              </a:rPr>
              <a:t xml:space="preserve"> — AI-powered modular design and interior recommendations at scale.</a:t>
            </a:r>
          </a:p>
          <a:p>
            <a:pPr indent="-342900" lvl="0" marL="342900" marR="0" rtl="0" algn="l">
              <a:lnSpc>
                <a:spcPct val="100000"/>
              </a:lnSpc>
              <a:spcBef>
                <a:spcPts val="0"/>
              </a:spcBef>
              <a:spcAft>
                <a:spcPts val="0"/>
              </a:spcAft>
              <a:buClr>
                <a:srgbClr val="4B5563"/>
              </a:buClr>
              <a:buSzPts val="1100"/>
              <a:buFont typeface="Inter"/>
              <a:buChar char="•"/>
            </a:pPr>
            <a:r>
              <a:rPr b="1" i="0" lang="en-US" sz="1100" u="none" cap="none" strike="noStrike">
                <a:solidFill>
                  <a:schemeClr val="dk1"/>
                </a:solidFill>
                <a:latin typeface="Inter"/>
                <a:ea typeface="Inter"/>
                <a:cs typeface="Inter"/>
                <a:sym typeface="Inter"/>
              </a:rPr>
              <a:t xml:space="preserve">IKEA India</a:t>
            </a:r>
            <a:r>
              <a:rPr i="0" lang="en-US" sz="1100" u="none" cap="none" strike="noStrike">
                <a:solidFill>
                  <a:schemeClr val="dk1"/>
                </a:solidFill>
                <a:latin typeface="Inter"/>
                <a:ea typeface="Inter"/>
                <a:cs typeface="Inter"/>
                <a:sym typeface="Inter"/>
              </a:rPr>
              <a:t xml:space="preserve"> — extending Kreativ globally, already live on ikea.com/in.</a:t>
            </a:r>
          </a:p>
          <a:p>
            <a:pPr indent="-342900" lvl="0" marL="342900" marR="0" rtl="0" algn="l">
              <a:lnSpc>
                <a:spcPct val="100000"/>
              </a:lnSpc>
              <a:spcBef>
                <a:spcPts val="0"/>
              </a:spcBef>
              <a:spcAft>
                <a:spcPts val="0"/>
              </a:spcAft>
              <a:buClr>
                <a:srgbClr val="4B5563"/>
              </a:buClr>
              <a:buSzPts val="1100"/>
              <a:buFont typeface="Inter"/>
              <a:buChar char="•"/>
            </a:pPr>
            <a:r>
              <a:rPr b="1" i="0" lang="en-US" sz="1100" u="none" cap="none" strike="noStrike">
                <a:solidFill>
                  <a:schemeClr val="dk1"/>
                </a:solidFill>
                <a:latin typeface="Inter"/>
                <a:ea typeface="Inter"/>
                <a:cs typeface="Inter"/>
                <a:sym typeface="Inter"/>
              </a:rPr>
              <a:t xml:space="preserve">Flipkart</a:t>
            </a:r>
            <a:r>
              <a:rPr i="0" lang="en-US" sz="1100" u="none" cap="none" strike="noStrike">
                <a:solidFill>
                  <a:schemeClr val="dk1"/>
                </a:solidFill>
                <a:latin typeface="Inter"/>
                <a:ea typeface="Inter"/>
                <a:cs typeface="Inter"/>
                <a:sym typeface="Inter"/>
              </a:rPr>
              <a:t xml:space="preserve"> — generative-AI product search integrated into the home and furniture storefront.</a:t>
            </a:r>
          </a:p>
          <a:p>
            <a:pPr indent="-342900" lvl="0" marL="342900" marR="0" rtl="0" algn="l">
              <a:lnSpc>
                <a:spcPct val="100000"/>
              </a:lnSpc>
              <a:spcBef>
                <a:spcPts val="0"/>
              </a:spcBef>
              <a:spcAft>
                <a:spcPts val="0"/>
              </a:spcAft>
              <a:buClr>
                <a:srgbClr val="4B5563"/>
              </a:buClr>
              <a:buSzPts val="1100"/>
              <a:buFont typeface="Inter"/>
              <a:buChar char="•"/>
            </a:pPr>
            <a:r>
              <a:rPr b="1" i="0" lang="en-US" sz="1100" u="none" cap="none" strike="noStrike">
                <a:solidFill>
                  <a:schemeClr val="dk1"/>
                </a:solidFill>
                <a:latin typeface="Inter"/>
                <a:ea typeface="Inter"/>
                <a:cs typeface="Inter"/>
                <a:sym typeface="Inter"/>
              </a:rPr>
              <a:t xml:space="preserve">Nilkamal, Godrej Interio, Wooden Street</a:t>
            </a:r>
            <a:r>
              <a:rPr i="0" lang="en-US" sz="1100" u="none" cap="none" strike="noStrike">
                <a:solidFill>
                  <a:schemeClr val="dk1"/>
                </a:solidFill>
                <a:latin typeface="Inter"/>
                <a:ea typeface="Inter"/>
                <a:cs typeface="Inter"/>
                <a:sym typeface="Inter"/>
              </a:rPr>
              <a:t xml:space="preserve"> — experimenting with conversational discovery in their apps.</a:t>
            </a:r>
          </a:p>
        </p:txBody>
      </p:sp>
      <p:sp>
        <p:nvSpPr>
          <p:cNvPr id="50" name="Google Shape;50;p3"/>
          <p:cNvSpPr/>
          <p:nvPr/>
        </p:nvSpPr>
        <p:spPr>
          <a:xfrm>
            <a:off x="685800" y="4290785"/>
            <a:ext cx="7772400" cy="640200"/>
          </a:xfrm>
          <a:prstGeom prst="rect">
            <a:avLst/>
          </a:prstGeom>
          <a:solidFill>
            <a:srgbClr val="EFF6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 name="Google Shape;51;p3"/>
          <p:cNvSpPr/>
          <p:nvPr/>
        </p:nvSpPr>
        <p:spPr>
          <a:xfrm>
            <a:off x="814750" y="4382275"/>
            <a:ext cx="7510800" cy="457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11827"/>
              </a:buClr>
              <a:buSzPts val="1100"/>
              <a:buFont typeface="Inter"/>
              <a:buNone/>
            </a:pPr>
            <a:r>
              <a:rPr b="1" i="0" lang="en-US" sz="1100" u="none" cap="none" strike="noStrike">
                <a:solidFill>
                  <a:srgbClr val="111827"/>
                </a:solidFill>
                <a:latin typeface="Inter"/>
                <a:ea typeface="Inter"/>
                <a:cs typeface="Inter"/>
                <a:sym typeface="Inter"/>
              </a:rPr>
              <a:t xml:space="preserve">Platform shift: </a:t>
            </a:r>
            <a:r>
              <a:rPr b="0" i="0" lang="en-US" sz="1100" u="none" cap="none" strike="noStrike">
                <a:solidFill>
                  <a:srgbClr val="111827"/>
                </a:solidFill>
                <a:latin typeface="Inter"/>
                <a:ea typeface="Inter"/>
                <a:cs typeface="Inter"/>
                <a:sym typeface="Inter"/>
              </a:rPr>
              <a:t>Walmart, Target, Sephora, Nordstrom, Best Buy, Home Depot, Wayfair, Frasers, Sephora, Etsy, Macy’s all have integrated AI shopping assistants on their websites</a:t>
            </a:r>
            <a:endParaRPr b="0" i="0" sz="1100" u="none" cap="none" strike="noStrike">
              <a:solidFill>
                <a:schemeClr val="dk1"/>
              </a:solidFill>
              <a:latin typeface="Calibri"/>
              <a:ea typeface="Calibri"/>
              <a:cs typeface="Calibri"/>
              <a:sym typeface="Calibri"/>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6" name="Shape 56"/>
        <p:cNvGrpSpPr/>
        <p:nvPr/>
      </p:nvGrpSpPr>
      <p:grpSpPr>
        <a:xfrm>
          <a:off x="0" y="0"/>
          <a:ext cx="0" cy="0"/>
          <a:chOff x="0" y="0"/>
          <a:chExt cx="0" cy="0"/>
        </a:xfrm>
      </p:grpSpPr>
      <p:sp>
        <p:nvSpPr>
          <p:cNvPr id="57" name="Google Shape;57;p4"/>
          <p:cNvSpPr txBox="1"/>
          <p:nvPr/>
        </p:nvSpPr>
        <p:spPr>
          <a:xfrm>
            <a:off x="253350" y="129400"/>
            <a:ext cx="8890500" cy="861900"/>
          </a:xfrm>
          <a:prstGeom prst="rect">
            <a:avLst/>
          </a:prstGeom>
          <a:noFill/>
          <a:ln>
            <a:noFill/>
          </a:ln>
        </p:spPr>
        <p:txBody>
          <a:bodyPr anchorCtr="0" anchor="t" bIns="91425" lIns="91425" spcFirstLastPara="1" rIns="91425" wrap="square" tIns="91425">
            <a:spAutoFit/>
          </a:bodyPr>
          <a:lstStyle/>
          <a:p>
            <a:pPr indent="0" lvl="0" marL="0" marR="0" rtl="0" algn="ctr">
              <a:lnSpc>
                <a:spcPct val="100000"/>
              </a:lnSpc>
              <a:spcBef>
                <a:spcPts val="0"/>
              </a:spcBef>
              <a:spcAft>
                <a:spcPts val="0"/>
              </a:spcAft>
              <a:buClr>
                <a:srgbClr val="000000"/>
              </a:buClr>
              <a:buSzPts val="2200"/>
              <a:buFont typeface="Arial"/>
              <a:buNone/>
            </a:pPr>
            <a:r>
              <a:rPr b="1" i="0" lang="en-US" sz="2200" u="none" cap="none" strike="noStrike">
                <a:solidFill>
                  <a:srgbClr val="111827"/>
                </a:solidFill>
                <a:latin typeface="Inter"/>
                <a:ea typeface="Inter"/>
                <a:cs typeface="Inter"/>
                <a:sym typeface="Inter"/>
              </a:rPr>
              <a:t>The gap in e-comm search today - shoppers think in problems and intents, search engines think in keywords.</a:t>
            </a:r>
            <a:endParaRPr b="0" i="0" sz="2200" u="none" cap="none" strike="noStrike">
              <a:solidFill>
                <a:schemeClr val="dk1"/>
              </a:solidFill>
              <a:latin typeface="Calibri"/>
              <a:ea typeface="Calibri"/>
              <a:cs typeface="Calibri"/>
              <a:sym typeface="Calibri"/>
            </a:endParaRPr>
          </a:p>
        </p:txBody>
      </p:sp>
      <p:sp>
        <p:nvSpPr>
          <p:cNvPr id="58" name="Google Shape;58;p4"/>
          <p:cNvSpPr txBox="1"/>
          <p:nvPr/>
        </p:nvSpPr>
        <p:spPr>
          <a:xfrm>
            <a:off x="217075" y="1052800"/>
            <a:ext cx="8637300" cy="37092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rgbClr val="000000"/>
              </a:buClr>
              <a:buSzPts val="1100"/>
              <a:buFont typeface="Arial"/>
              <a:buNone/>
            </a:pPr>
            <a:r>
              <a:rPr b="0" i="0" lang="en-US" sz="1100" u="none" cap="none" strike="noStrike">
                <a:solidFill>
                  <a:srgbClr val="4B5563"/>
                </a:solidFill>
                <a:latin typeface="Inter"/>
                <a:ea typeface="Inter"/>
                <a:cs typeface="Inter"/>
                <a:sym typeface="Inter"/>
              </a:rPr>
              <a:t xml:space="preserve">The current search bar on your e-commerce website needs the right keywords. It does not understand human language, it cannot match palang and bed, it cannot link “a small 10x12 bedroom” to compact and compact to sofa cum bed.</a:t>
            </a:r>
            <a:endParaRPr b="0" i="0" sz="11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000000"/>
              </a:buClr>
              <a:buSzPts val="1100"/>
              <a:buFont typeface="Arial"/>
              <a:buNone/>
            </a:pPr>
            <a:r>
              <a:t/>
            </a:r>
            <a:endParaRPr b="0" i="0" sz="11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000000"/>
              </a:buClr>
              <a:buSzPts val="1100"/>
              <a:buFont typeface="Arial"/>
              <a:buNone/>
            </a:pPr>
            <a:r>
              <a:rPr b="0" i="0" lang="en-US" sz="1100" u="none" cap="none" strike="noStrike">
                <a:solidFill>
                  <a:srgbClr val="4B5563"/>
                </a:solidFill>
                <a:latin typeface="Inter"/>
                <a:ea typeface="Inter"/>
                <a:cs typeface="Inter"/>
                <a:sym typeface="Inter"/>
              </a:rPr>
              <a:t xml:space="preserve">But shoppers today do not shop using keywords such as “ergonomic office chair” or “queen storage bed”, they shop by intents such as “for a new 2BHK apartment” or “for a home office that doesn’t wreck my back”.  </a:t>
            </a:r>
            <a:endParaRPr b="0" i="0" sz="11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000000"/>
              </a:buClr>
              <a:buSzPts val="1100"/>
              <a:buFont typeface="Arial"/>
              <a:buNone/>
            </a:pPr>
            <a:r>
              <a:t/>
            </a:r>
            <a:endParaRPr b="0" i="0" sz="11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000000"/>
              </a:buClr>
              <a:buSzPts val="1100"/>
              <a:buFont typeface="Arial"/>
              <a:buNone/>
            </a:pPr>
            <a:r>
              <a:rPr b="0" i="0" lang="en-US" sz="1100" u="none" cap="none" strike="noStrike">
                <a:solidFill>
                  <a:srgbClr val="4B5563"/>
                </a:solidFill>
                <a:latin typeface="Inter"/>
                <a:ea typeface="Inter"/>
                <a:cs typeface="Inter"/>
                <a:sym typeface="Inter"/>
              </a:rPr>
              <a:t xml:space="preserve">What is happening is, even if your catalog has all the relevant products, these products are invisible to your buyer.                                                                                                     </a:t>
            </a:r>
            <a:endParaRPr b="0" i="0" sz="11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000000"/>
              </a:buClr>
              <a:buSzPts val="1100"/>
              <a:buFont typeface="Arial"/>
              <a:buNone/>
            </a:pPr>
            <a:r>
              <a:rPr b="0" i="0" lang="en-US" sz="1100" u="none" cap="none" strike="noStrike">
                <a:solidFill>
                  <a:srgbClr val="4B5563"/>
                </a:solidFill>
                <a:latin typeface="Inter"/>
                <a:ea typeface="Inter"/>
                <a:cs typeface="Inter"/>
                <a:sym typeface="Inter"/>
              </a:rPr>
              <a:t xml:space="preserve">                  </a:t>
            </a:r>
            <a:endParaRPr b="0" i="0" sz="11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000000"/>
              </a:buClr>
              <a:buSzPts val="1100"/>
              <a:buFont typeface="Arial"/>
              <a:buNone/>
            </a:pPr>
            <a:r>
              <a:rPr b="0" i="0" lang="en-US" sz="1100" u="none" cap="none" strike="noStrike">
                <a:solidFill>
                  <a:srgbClr val="4B5563"/>
                </a:solidFill>
                <a:latin typeface="Inter"/>
                <a:ea typeface="Inter"/>
                <a:cs typeface="Inter"/>
                <a:sym typeface="Inter"/>
              </a:rPr>
              <a:t xml:space="preserve">                                                                                                                                                                                                                  </a:t>
            </a:r>
            <a:endParaRPr b="0" i="0" sz="11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000000"/>
              </a:buClr>
              <a:buSzPts val="1100"/>
              <a:buFont typeface="Arial"/>
              <a:buNone/>
            </a:pPr>
            <a:r>
              <a:rPr b="0" i="0" lang="en-US" sz="1100" u="none" cap="none" strike="noStrike">
                <a:solidFill>
                  <a:srgbClr val="4B5563"/>
                </a:solidFill>
                <a:latin typeface="Inter"/>
                <a:ea typeface="Inter"/>
                <a:cs typeface="Inter"/>
                <a:sym typeface="Inter"/>
              </a:rPr>
              <a:t xml:space="preserve">      </a:t>
            </a:r>
            <a:endParaRPr b="0" i="0" sz="11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000000"/>
              </a:buClr>
              <a:buSzPts val="1100"/>
              <a:buFont typeface="Arial"/>
              <a:buNone/>
            </a:pPr>
            <a:r>
              <a:t/>
            </a:r>
            <a:endParaRPr b="0" i="0" sz="11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000000"/>
              </a:buClr>
              <a:buSzPts val="1100"/>
              <a:buFont typeface="Arial"/>
              <a:buNone/>
            </a:pPr>
            <a:r>
              <a:t/>
            </a:r>
            <a:endParaRPr b="0" i="0" sz="11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000000"/>
              </a:buClr>
              <a:buSzPts val="1100"/>
              <a:buFont typeface="Arial"/>
              <a:buNone/>
            </a:pPr>
            <a:r>
              <a:rPr b="0" i="0" lang="en-US" sz="1100" u="none" cap="none" strike="noStrike">
                <a:solidFill>
                  <a:srgbClr val="4B5563"/>
                </a:solidFill>
                <a:latin typeface="Inter"/>
                <a:ea typeface="Inter"/>
                <a:cs typeface="Inter"/>
                <a:sym typeface="Inter"/>
              </a:rPr>
              <a:t xml:space="preserve">         </a:t>
            </a:r>
            <a:endParaRPr b="0" i="0" sz="11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000000"/>
              </a:buClr>
              <a:buSzPts val="1100"/>
              <a:buFont typeface="Arial"/>
              <a:buNone/>
            </a:pPr>
            <a:r>
              <a:t/>
            </a:r>
            <a:endParaRPr b="0" i="0" sz="11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000000"/>
              </a:buClr>
              <a:buSzPts val="1100"/>
              <a:buFont typeface="Arial"/>
              <a:buNone/>
            </a:pPr>
            <a:r>
              <a:t/>
            </a:r>
            <a:endParaRPr b="0" i="0" sz="11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000000"/>
              </a:buClr>
              <a:buSzPts val="1100"/>
              <a:buFont typeface="Arial"/>
              <a:buNone/>
            </a:pPr>
            <a:r>
              <a:rPr b="0" i="0" lang="en-US" sz="1100" u="none" cap="none" strike="noStrike">
                <a:solidFill>
                  <a:srgbClr val="4B5563"/>
                </a:solidFill>
                <a:latin typeface="Inter"/>
                <a:ea typeface="Inter"/>
                <a:cs typeface="Inter"/>
                <a:sym typeface="Inter"/>
              </a:rPr>
              <a:t>What an AI Sales Associate changes :  “I need a compact sofa for my 10x12 living room, fabric in earth tones, should double as a guest bed”</a:t>
            </a:r>
            <a:endParaRPr b="0" i="0" sz="11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chemeClr val="dk1"/>
              </a:buClr>
              <a:buSzPts val="1100"/>
              <a:buFont typeface="Arial"/>
              <a:buNone/>
            </a:pPr>
            <a:r>
              <a:rPr b="0" i="0" lang="en-US" sz="1100" u="none" cap="none" strike="noStrike">
                <a:solidFill>
                  <a:srgbClr val="4B5563"/>
                </a:solidFill>
                <a:latin typeface="Inter"/>
                <a:ea typeface="Inter"/>
                <a:cs typeface="Inter"/>
                <a:sym typeface="Inter"/>
              </a:rPr>
              <a:t>An AI sales associate powered by a knowledge graph understands intent + constraints + context, it maps small living room to compact/2-seater, guest bed to sofa cum bed, adds the conditions for price and fabric and returns relevant products from the catalog - exactly what the shopper means and wants, not just what they typed.</a:t>
            </a:r>
            <a:endParaRPr b="0" i="0" sz="11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000000"/>
              </a:buClr>
              <a:buSzPts val="1100"/>
              <a:buFont typeface="Arial"/>
              <a:buNone/>
            </a:pPr>
            <a:r>
              <a:t/>
            </a:r>
            <a:endParaRPr b="0" i="0" sz="11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000000"/>
              </a:buClr>
              <a:buSzPts val="1100"/>
              <a:buFont typeface="Arial"/>
              <a:buNone/>
            </a:pPr>
            <a:r>
              <a:rPr b="0" i="0" lang="en-US" sz="1100" u="none" cap="none" strike="noStrike">
                <a:solidFill>
                  <a:srgbClr val="4B5563"/>
                </a:solidFill>
                <a:latin typeface="Inter"/>
                <a:ea typeface="Inter"/>
                <a:cs typeface="Inter"/>
                <a:sym typeface="Inter"/>
              </a:rPr>
              <a:t xml:space="preserve">                                                                                                                                                                                                                                                                                                                                   </a:t>
            </a:r>
            <a:endParaRPr b="0" i="0" sz="11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000000"/>
              </a:buClr>
              <a:buSzPts val="1100"/>
              <a:buFont typeface="Arial"/>
              <a:buNone/>
            </a:pPr>
            <a:r>
              <a:rPr b="0" i="0" lang="en-US" sz="1100" u="none" cap="none" strike="noStrike">
                <a:solidFill>
                  <a:srgbClr val="4B5563"/>
                </a:solidFill>
                <a:latin typeface="Inter"/>
                <a:ea typeface="Inter"/>
                <a:cs typeface="Inter"/>
                <a:sym typeface="Inter"/>
              </a:rPr>
              <a:t xml:space="preserve">                                                                                                                                                                                                                                                                                                                                                                                                                                      </a:t>
            </a:r>
            <a:endParaRPr b="0" i="0" sz="1100" u="none" cap="none" strike="noStrike">
              <a:solidFill>
                <a:srgbClr val="4B5563"/>
              </a:solidFill>
              <a:latin typeface="Inter"/>
              <a:ea typeface="Inter"/>
              <a:cs typeface="Inter"/>
              <a:sym typeface="Inter"/>
            </a:endParaRPr>
          </a:p>
        </p:txBody>
      </p:sp>
      <p:pic>
        <p:nvPicPr>
          <p:cNvPr id="59" name="Picture 58" descr="furniture_table.png"/>
          <p:cNvPicPr>
            <a:picLocks noChangeAspect="1"/>
          </p:cNvPicPr>
          <p:nvPr/>
        </p:nvPicPr>
        <p:blipFill>
          <a:blip r:embed="rId4"/>
          <a:stretch>
            <a:fillRect/>
          </a:stretch>
        </p:blipFill>
        <p:spPr>
          <a:xfrm>
            <a:off x="2471075" y="2460600"/>
            <a:ext cx="4455051" cy="1031400"/>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4" name="Shape 64"/>
        <p:cNvGrpSpPr/>
        <p:nvPr/>
      </p:nvGrpSpPr>
      <p:grpSpPr>
        <a:xfrm>
          <a:off x="0" y="0"/>
          <a:ext cx="0" cy="0"/>
          <a:chOff x="0" y="0"/>
          <a:chExt cx="0" cy="0"/>
        </a:xfrm>
      </p:grpSpPr>
      <p:sp>
        <p:nvSpPr>
          <p:cNvPr id="65" name="Google Shape;65;p5"/>
          <p:cNvSpPr/>
          <p:nvPr/>
        </p:nvSpPr>
        <p:spPr>
          <a:xfrm>
            <a:off x="0" y="0"/>
            <a:ext cx="9144000" cy="36576"/>
          </a:xfrm>
          <a:prstGeom prst="rect">
            <a:avLst/>
          </a:prstGeom>
          <a:solidFill>
            <a:srgbClr val="2563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6" name="Google Shape;66;p5"/>
          <p:cNvSpPr/>
          <p:nvPr/>
        </p:nvSpPr>
        <p:spPr>
          <a:xfrm>
            <a:off x="488000" y="194225"/>
            <a:ext cx="7860900" cy="5913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11827"/>
              </a:buClr>
              <a:buSzPts val="2800"/>
              <a:buFont typeface="Inter"/>
              <a:buNone/>
            </a:pPr>
            <a:r>
              <a:rPr b="1" i="0" lang="en-US" sz="2200" u="none" cap="none" strike="noStrike">
                <a:solidFill>
                  <a:srgbClr val="111827"/>
                </a:solidFill>
                <a:latin typeface="Inter"/>
                <a:ea typeface="Inter"/>
                <a:cs typeface="Inter"/>
                <a:sym typeface="Inter"/>
              </a:rPr>
              <a:t>Why this gap exists — three structural challenges</a:t>
            </a:r>
            <a:endParaRPr b="0" i="0" sz="2200" u="none" cap="none" strike="noStrike">
              <a:solidFill>
                <a:schemeClr val="dk1"/>
              </a:solidFill>
              <a:latin typeface="Calibri"/>
              <a:ea typeface="Calibri"/>
              <a:cs typeface="Calibri"/>
              <a:sym typeface="Calibri"/>
            </a:endParaRPr>
          </a:p>
        </p:txBody>
      </p:sp>
      <p:sp>
        <p:nvSpPr>
          <p:cNvPr id="67" name="Google Shape;67;p5"/>
          <p:cNvSpPr/>
          <p:nvPr/>
        </p:nvSpPr>
        <p:spPr>
          <a:xfrm>
            <a:off x="267050" y="877085"/>
            <a:ext cx="320100" cy="320100"/>
          </a:xfrm>
          <a:prstGeom prst="ellipse">
            <a:avLst/>
          </a:prstGeom>
          <a:solidFill>
            <a:srgbClr val="2563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 name="Google Shape;68;p5"/>
          <p:cNvSpPr/>
          <p:nvPr/>
        </p:nvSpPr>
        <p:spPr>
          <a:xfrm>
            <a:off x="267050" y="877085"/>
            <a:ext cx="320100" cy="3201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400"/>
              <a:buFont typeface="Inter"/>
              <a:buNone/>
            </a:pPr>
            <a:r>
              <a:rPr b="1" i="0" lang="en-US" sz="1400" u="none" cap="none" strike="noStrike">
                <a:solidFill>
                  <a:srgbClr val="FFFFFF"/>
                </a:solidFill>
                <a:latin typeface="Inter"/>
                <a:ea typeface="Inter"/>
                <a:cs typeface="Inter"/>
                <a:sym typeface="Inter"/>
              </a:rPr>
              <a:t>1</a:t>
            </a:r>
            <a:endParaRPr b="0" i="0" sz="1400" u="none" cap="none" strike="noStrike">
              <a:solidFill>
                <a:schemeClr val="dk1"/>
              </a:solidFill>
              <a:latin typeface="Calibri"/>
              <a:ea typeface="Calibri"/>
              <a:cs typeface="Calibri"/>
              <a:sym typeface="Calibri"/>
            </a:endParaRPr>
          </a:p>
        </p:txBody>
      </p:sp>
      <p:sp>
        <p:nvSpPr>
          <p:cNvPr id="69" name="Google Shape;69;p5"/>
          <p:cNvSpPr/>
          <p:nvPr/>
        </p:nvSpPr>
        <p:spPr>
          <a:xfrm>
            <a:off x="724250" y="867400"/>
            <a:ext cx="7764900" cy="3201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11827"/>
              </a:buClr>
              <a:buSzPts val="1600"/>
              <a:buFont typeface="Inter"/>
              <a:buNone/>
            </a:pPr>
            <a:r>
              <a:rPr b="1" i="0" lang="en-US" sz="1600" u="none" cap="none" strike="noStrike">
                <a:solidFill>
                  <a:srgbClr val="111827"/>
                </a:solidFill>
                <a:latin typeface="Inter"/>
                <a:ea typeface="Inter"/>
                <a:cs typeface="Inter"/>
                <a:sym typeface="Inter"/>
              </a:rPr>
              <a:t>Catalogs need tagging and enrichment to be AI agent readable</a:t>
            </a:r>
            <a:endParaRPr b="0" i="0" sz="1600" u="none" cap="none" strike="noStrike">
              <a:solidFill>
                <a:schemeClr val="dk1"/>
              </a:solidFill>
              <a:latin typeface="Calibri"/>
              <a:ea typeface="Calibri"/>
              <a:cs typeface="Calibri"/>
              <a:sym typeface="Calibri"/>
            </a:endParaRPr>
          </a:p>
        </p:txBody>
      </p:sp>
      <p:sp>
        <p:nvSpPr>
          <p:cNvPr id="70" name="Google Shape;70;p5"/>
          <p:cNvSpPr/>
          <p:nvPr/>
        </p:nvSpPr>
        <p:spPr>
          <a:xfrm>
            <a:off x="326250" y="1354925"/>
            <a:ext cx="8342400" cy="651900"/>
          </a:xfrm>
          <a:prstGeom prst="rect">
            <a:avLst/>
          </a:prstGeom>
          <a:noFill/>
          <a:ln>
            <a:noFill/>
          </a:ln>
        </p:spPr>
        <p:txBody>
          <a:bodyPr anchorCtr="0" anchor="ctr" bIns="0" lIns="0" spcFirstLastPara="1" rIns="0" wrap="square" tIns="0">
            <a:noAutofit/>
          </a:bodyPr>
          <a:lstStyle/>
          <a:p>
            <a:pPr indent="-342900" lvl="0" marL="342900" marR="0" rtl="0" algn="l">
              <a:lnSpc>
                <a:spcPct val="100000"/>
              </a:lnSpc>
              <a:spcBef>
                <a:spcPts val="0"/>
              </a:spcBef>
              <a:spcAft>
                <a:spcPts val="0"/>
              </a:spcAft>
              <a:buClr>
                <a:srgbClr val="4B5563"/>
              </a:buClr>
              <a:buSzPts val="1200"/>
              <a:buFont typeface="Inter"/>
              <a:buChar char="•"/>
            </a:pPr>
            <a:r>
              <a:rPr b="0" i="0" lang="en-US" sz="1200" u="none" cap="none" strike="noStrike">
                <a:solidFill>
                  <a:srgbClr val="4B5563"/>
                </a:solidFill>
                <a:latin typeface="Inter"/>
                <a:ea typeface="Inter"/>
                <a:cs typeface="Inter"/>
                <a:sym typeface="Inter"/>
              </a:rPr>
              <a:t>AI agents waste millions of tokens to understand the actual product in the catalog</a:t>
            </a:r>
            <a:endParaRPr b="0" i="0" sz="1200" u="none" cap="none" strike="noStrike">
              <a:solidFill>
                <a:schemeClr val="dk1"/>
              </a:solidFill>
              <a:latin typeface="Calibri"/>
              <a:ea typeface="Calibri"/>
              <a:cs typeface="Calibri"/>
              <a:sym typeface="Calibri"/>
            </a:endParaRPr>
          </a:p>
          <a:p>
            <a:pPr indent="-342900" lvl="0" marL="342900" marR="0" rtl="0" algn="l">
              <a:lnSpc>
                <a:spcPct val="100000"/>
              </a:lnSpc>
              <a:spcBef>
                <a:spcPts val="300"/>
              </a:spcBef>
              <a:spcAft>
                <a:spcPts val="0"/>
              </a:spcAft>
              <a:buClr>
                <a:srgbClr val="4B5563"/>
              </a:buClr>
              <a:buSzPts val="1200"/>
              <a:buFont typeface="Inter"/>
              <a:buChar char="•"/>
            </a:pPr>
            <a:r>
              <a:rPr b="0" i="0" lang="en-US" sz="1200" u="none" cap="none" strike="noStrike">
                <a:solidFill>
                  <a:srgbClr val="4B5563"/>
                </a:solidFill>
                <a:latin typeface="Inter"/>
                <a:ea typeface="Inter"/>
                <a:cs typeface="Inter"/>
                <a:sym typeface="Inter"/>
              </a:rPr>
              <a:t>Catalogs today don't expose attributes such as material/finish and tags such as “compact” or “sheesham” which an AI agent needs to map intent such as “furniture for a new 2BHK”  to “compact sofa cum bed” or “for a home office setup” to “ergonomic WFH chair”.</a:t>
            </a:r>
            <a:endParaRPr b="0" i="0" sz="1200" u="none" cap="none" strike="noStrike">
              <a:solidFill>
                <a:schemeClr val="dk1"/>
              </a:solidFill>
              <a:latin typeface="Calibri"/>
              <a:ea typeface="Calibri"/>
              <a:cs typeface="Calibri"/>
              <a:sym typeface="Calibri"/>
            </a:endParaRPr>
          </a:p>
        </p:txBody>
      </p:sp>
      <p:sp>
        <p:nvSpPr>
          <p:cNvPr id="71" name="Google Shape;71;p5"/>
          <p:cNvSpPr/>
          <p:nvPr/>
        </p:nvSpPr>
        <p:spPr>
          <a:xfrm>
            <a:off x="267050" y="2312477"/>
            <a:ext cx="320100" cy="320100"/>
          </a:xfrm>
          <a:prstGeom prst="ellipse">
            <a:avLst/>
          </a:prstGeom>
          <a:solidFill>
            <a:srgbClr val="2563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2" name="Google Shape;72;p5"/>
          <p:cNvSpPr/>
          <p:nvPr/>
        </p:nvSpPr>
        <p:spPr>
          <a:xfrm>
            <a:off x="267050" y="2396620"/>
            <a:ext cx="320100" cy="1263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400"/>
              <a:buFont typeface="Inter"/>
              <a:buNone/>
            </a:pPr>
            <a:r>
              <a:rPr b="1" i="0" lang="en-US" sz="1400" u="none" cap="none" strike="noStrike">
                <a:solidFill>
                  <a:srgbClr val="FFFFFF"/>
                </a:solidFill>
                <a:latin typeface="Inter"/>
                <a:ea typeface="Inter"/>
                <a:cs typeface="Inter"/>
                <a:sym typeface="Inter"/>
              </a:rPr>
              <a:t>2</a:t>
            </a:r>
            <a:endParaRPr b="0" i="0" sz="1400" u="none" cap="none" strike="noStrike">
              <a:solidFill>
                <a:schemeClr val="dk1"/>
              </a:solidFill>
              <a:latin typeface="Calibri"/>
              <a:ea typeface="Calibri"/>
              <a:cs typeface="Calibri"/>
              <a:sym typeface="Calibri"/>
            </a:endParaRPr>
          </a:p>
        </p:txBody>
      </p:sp>
      <p:sp>
        <p:nvSpPr>
          <p:cNvPr id="73" name="Google Shape;73;p5"/>
          <p:cNvSpPr/>
          <p:nvPr/>
        </p:nvSpPr>
        <p:spPr>
          <a:xfrm>
            <a:off x="733650" y="2312487"/>
            <a:ext cx="7527600" cy="3201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11827"/>
              </a:buClr>
              <a:buSzPts val="1600"/>
              <a:buFont typeface="Inter"/>
              <a:buNone/>
            </a:pPr>
            <a:r>
              <a:rPr b="1" i="0" lang="en-US" sz="1600" u="none" cap="none" strike="noStrike">
                <a:solidFill>
                  <a:srgbClr val="111827"/>
                </a:solidFill>
                <a:latin typeface="Inter"/>
                <a:ea typeface="Inter"/>
                <a:cs typeface="Inter"/>
                <a:sym typeface="Inter"/>
              </a:rPr>
              <a:t>Conversational search needs a knowledge graph to map intent to keywords</a:t>
            </a:r>
            <a:endParaRPr b="0" i="0" sz="1600" u="none" cap="none" strike="noStrike">
              <a:solidFill>
                <a:schemeClr val="dk1"/>
              </a:solidFill>
              <a:latin typeface="Calibri"/>
              <a:ea typeface="Calibri"/>
              <a:cs typeface="Calibri"/>
              <a:sym typeface="Calibri"/>
            </a:endParaRPr>
          </a:p>
        </p:txBody>
      </p:sp>
      <p:sp>
        <p:nvSpPr>
          <p:cNvPr id="74" name="Google Shape;74;p5"/>
          <p:cNvSpPr/>
          <p:nvPr/>
        </p:nvSpPr>
        <p:spPr>
          <a:xfrm>
            <a:off x="369650" y="2712925"/>
            <a:ext cx="8081700" cy="854700"/>
          </a:xfrm>
          <a:prstGeom prst="rect">
            <a:avLst/>
          </a:prstGeom>
          <a:noFill/>
          <a:ln>
            <a:noFill/>
          </a:ln>
        </p:spPr>
        <p:txBody>
          <a:bodyPr anchorCtr="0" anchor="ctr" bIns="0" lIns="0" spcFirstLastPara="1" rIns="0" wrap="square" tIns="0">
            <a:noAutofit/>
          </a:bodyPr>
          <a:lstStyle/>
          <a:p>
            <a:pPr indent="-342900" lvl="0" marL="342900" marR="0" rtl="0" algn="l">
              <a:lnSpc>
                <a:spcPct val="100000"/>
              </a:lnSpc>
              <a:spcBef>
                <a:spcPts val="0"/>
              </a:spcBef>
              <a:spcAft>
                <a:spcPts val="0"/>
              </a:spcAft>
              <a:buClr>
                <a:srgbClr val="4B5563"/>
              </a:buClr>
              <a:buSzPts val="1200"/>
              <a:buFont typeface="Inter"/>
              <a:buChar char="•"/>
            </a:pPr>
            <a:r>
              <a:rPr b="0" i="0" lang="en-US" sz="1200" u="none" cap="none" strike="noStrike">
                <a:solidFill>
                  <a:srgbClr val="4B5563"/>
                </a:solidFill>
                <a:latin typeface="Inter"/>
                <a:ea typeface="Inter"/>
                <a:cs typeface="Inter"/>
                <a:sym typeface="Inter"/>
              </a:rPr>
              <a:t>Unlike traditional search bars that only cater to keyword matching for direct queries like “queen size bed” or “6-seater dining table”, AI chat assistants need to answer intent based queries like “I want furniture for my new home” or “I want a sofa that fits my 10x12 living room”. They have to map buyer intent to keywords using a knowledge graph and then search the catalog for relevant products using keywords, refer to the diagram on slide 11 for an example</a:t>
            </a:r>
            <a:endParaRPr b="0" i="0" sz="1200" u="none" cap="none" strike="noStrike">
              <a:solidFill>
                <a:schemeClr val="dk1"/>
              </a:solidFill>
              <a:latin typeface="Calibri"/>
              <a:ea typeface="Calibri"/>
              <a:cs typeface="Calibri"/>
              <a:sym typeface="Calibri"/>
            </a:endParaRPr>
          </a:p>
        </p:txBody>
      </p:sp>
      <p:sp>
        <p:nvSpPr>
          <p:cNvPr id="75" name="Google Shape;75;p5"/>
          <p:cNvSpPr/>
          <p:nvPr/>
        </p:nvSpPr>
        <p:spPr>
          <a:xfrm>
            <a:off x="267050" y="3757583"/>
            <a:ext cx="320100" cy="320100"/>
          </a:xfrm>
          <a:prstGeom prst="ellipse">
            <a:avLst/>
          </a:prstGeom>
          <a:solidFill>
            <a:srgbClr val="2563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 name="Google Shape;76;p5"/>
          <p:cNvSpPr/>
          <p:nvPr/>
        </p:nvSpPr>
        <p:spPr>
          <a:xfrm>
            <a:off x="267050" y="3757545"/>
            <a:ext cx="320100" cy="3201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400"/>
              <a:buFont typeface="Inter"/>
              <a:buNone/>
            </a:pPr>
            <a:r>
              <a:rPr b="1" i="0" lang="en-US" sz="1400" u="none" cap="none" strike="noStrike">
                <a:solidFill>
                  <a:srgbClr val="FFFFFF"/>
                </a:solidFill>
                <a:latin typeface="Inter"/>
                <a:ea typeface="Inter"/>
                <a:cs typeface="Inter"/>
                <a:sym typeface="Inter"/>
              </a:rPr>
              <a:t>3</a:t>
            </a:r>
            <a:endParaRPr b="0" i="0" sz="1400" u="none" cap="none" strike="noStrike">
              <a:solidFill>
                <a:schemeClr val="dk1"/>
              </a:solidFill>
              <a:latin typeface="Calibri"/>
              <a:ea typeface="Calibri"/>
              <a:cs typeface="Calibri"/>
              <a:sym typeface="Calibri"/>
            </a:endParaRPr>
          </a:p>
        </p:txBody>
      </p:sp>
      <p:sp>
        <p:nvSpPr>
          <p:cNvPr id="77" name="Google Shape;77;p5"/>
          <p:cNvSpPr/>
          <p:nvPr/>
        </p:nvSpPr>
        <p:spPr>
          <a:xfrm>
            <a:off x="724250" y="3757570"/>
            <a:ext cx="6400800" cy="3201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11827"/>
              </a:buClr>
              <a:buSzPts val="1600"/>
              <a:buFont typeface="Inter"/>
              <a:buNone/>
            </a:pPr>
            <a:r>
              <a:rPr b="1" i="0" lang="en-US" sz="1600" u="none" cap="none" strike="noStrike">
                <a:solidFill>
                  <a:srgbClr val="111827"/>
                </a:solidFill>
                <a:latin typeface="Inter"/>
                <a:ea typeface="Inter"/>
                <a:cs typeface="Inter"/>
                <a:sym typeface="Inter"/>
              </a:rPr>
              <a:t>LLMs alone can't reason over catalogs to answer human queries</a:t>
            </a:r>
            <a:endParaRPr b="0" i="0" sz="1600" u="none" cap="none" strike="noStrike">
              <a:solidFill>
                <a:schemeClr val="dk1"/>
              </a:solidFill>
              <a:latin typeface="Calibri"/>
              <a:ea typeface="Calibri"/>
              <a:cs typeface="Calibri"/>
              <a:sym typeface="Calibri"/>
            </a:endParaRPr>
          </a:p>
        </p:txBody>
      </p:sp>
      <p:sp>
        <p:nvSpPr>
          <p:cNvPr id="78" name="Google Shape;78;p5"/>
          <p:cNvSpPr/>
          <p:nvPr/>
        </p:nvSpPr>
        <p:spPr>
          <a:xfrm>
            <a:off x="407450" y="4077650"/>
            <a:ext cx="8006100" cy="651900"/>
          </a:xfrm>
          <a:prstGeom prst="rect">
            <a:avLst/>
          </a:prstGeom>
          <a:noFill/>
          <a:ln>
            <a:noFill/>
          </a:ln>
        </p:spPr>
        <p:txBody>
          <a:bodyPr anchorCtr="0" anchor="ctr" bIns="0" lIns="0" spcFirstLastPara="1" rIns="0" wrap="square" tIns="0">
            <a:noAutofit/>
          </a:bodyPr>
          <a:lstStyle/>
          <a:p>
            <a:pPr indent="-342900" lvl="0" marL="342900" marR="0" rtl="0" algn="l">
              <a:lnSpc>
                <a:spcPct val="100000"/>
              </a:lnSpc>
              <a:spcBef>
                <a:spcPts val="0"/>
              </a:spcBef>
              <a:spcAft>
                <a:spcPts val="0"/>
              </a:spcAft>
              <a:buClr>
                <a:srgbClr val="4B5563"/>
              </a:buClr>
              <a:buSzPts val="1200"/>
              <a:buFont typeface="Inter"/>
              <a:buChar char="•"/>
            </a:pPr>
            <a:r>
              <a:rPr b="0" i="0" lang="en-US" sz="1200" u="none" cap="none" strike="noStrike">
                <a:solidFill>
                  <a:srgbClr val="4B5563"/>
                </a:solidFill>
                <a:latin typeface="Inter"/>
                <a:ea typeface="Inter"/>
                <a:cs typeface="Inter"/>
                <a:sym typeface="Inter"/>
              </a:rPr>
              <a:t>LLMs give generic answers, they have not been trained on proprietary e-commerce data.They also take time to give answers(100ms-2s latency vs sub-20ms graph traversal)</a:t>
            </a:r>
            <a:endParaRPr b="0" i="0" sz="1200" u="none" cap="none" strike="noStrike">
              <a:solidFill>
                <a:schemeClr val="dk1"/>
              </a:solidFill>
              <a:latin typeface="Calibri"/>
              <a:ea typeface="Calibri"/>
              <a:cs typeface="Calibri"/>
              <a:sym typeface="Calibri"/>
            </a:endParaRPr>
          </a:p>
          <a:p>
            <a:pPr indent="-342900" lvl="0" marL="342900" marR="0" rtl="0" algn="l">
              <a:lnSpc>
                <a:spcPct val="100000"/>
              </a:lnSpc>
              <a:spcBef>
                <a:spcPts val="0"/>
              </a:spcBef>
              <a:spcAft>
                <a:spcPts val="0"/>
              </a:spcAft>
              <a:buClr>
                <a:srgbClr val="4B5563"/>
              </a:buClr>
              <a:buSzPts val="1200"/>
              <a:buFont typeface="Inter"/>
              <a:buChar char="•"/>
            </a:pPr>
            <a:r>
              <a:rPr b="0" i="0" lang="en-US" sz="1200" u="none" cap="none" strike="noStrike">
                <a:solidFill>
                  <a:srgbClr val="4B5563"/>
                </a:solidFill>
                <a:latin typeface="Inter"/>
                <a:ea typeface="Inter"/>
                <a:cs typeface="Inter"/>
                <a:sym typeface="Inter"/>
              </a:rPr>
              <a:t>Knowledge context graph gives LLM the extra data that they need to map intent to keywords like a human</a:t>
            </a:r>
            <a:endParaRPr b="0" i="0" sz="1200" u="none" cap="none" strike="noStrike">
              <a:solidFill>
                <a:schemeClr val="dk1"/>
              </a:solidFill>
              <a:latin typeface="Calibri"/>
              <a:ea typeface="Calibri"/>
              <a:cs typeface="Calibri"/>
              <a:sym typeface="Calibri"/>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3" name="Shape 83"/>
        <p:cNvGrpSpPr/>
        <p:nvPr/>
      </p:nvGrpSpPr>
      <p:grpSpPr>
        <a:xfrm>
          <a:off x="0" y="0"/>
          <a:ext cx="0" cy="0"/>
          <a:chOff x="0" y="0"/>
          <a:chExt cx="0" cy="0"/>
        </a:xfrm>
      </p:grpSpPr>
      <p:sp>
        <p:nvSpPr>
          <p:cNvPr id="84" name="Google Shape;84;p8"/>
          <p:cNvSpPr/>
          <p:nvPr/>
        </p:nvSpPr>
        <p:spPr>
          <a:xfrm>
            <a:off x="0" y="0"/>
            <a:ext cx="9144000" cy="36576"/>
          </a:xfrm>
          <a:prstGeom prst="rect">
            <a:avLst/>
          </a:prstGeom>
          <a:solidFill>
            <a:srgbClr val="2563E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5" name="Google Shape;85;p8"/>
          <p:cNvSpPr/>
          <p:nvPr/>
        </p:nvSpPr>
        <p:spPr>
          <a:xfrm>
            <a:off x="254475" y="290775"/>
            <a:ext cx="8793600" cy="5943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11827"/>
              </a:buClr>
              <a:buSzPts val="2800"/>
              <a:buFont typeface="Inter"/>
              <a:buNone/>
            </a:pPr>
            <a:r>
              <a:rPr b="1" lang="en-US" sz="2300">
                <a:solidFill>
                  <a:srgbClr val="111827"/>
                </a:solidFill>
                <a:latin typeface="Inter"/>
                <a:ea typeface="Inter"/>
                <a:cs typeface="Inter"/>
                <a:sym typeface="Inter"/>
              </a:rPr>
              <a:t>We ran an audit on the &lt;&gt;website to see what fails today</a:t>
            </a:r>
            <a:endParaRPr b="0" i="0" sz="2300" u="none" cap="none" strike="noStrike">
              <a:solidFill>
                <a:schemeClr val="dk1"/>
              </a:solidFill>
              <a:latin typeface="Calibri"/>
              <a:ea typeface="Calibri"/>
              <a:cs typeface="Calibri"/>
              <a:sym typeface="Calibri"/>
            </a:endParaRPr>
          </a:p>
        </p:txBody>
      </p:sp>
      <p:graphicFrame>
        <p:nvGraphicFramePr>
          <p:cNvPr id="86" name="Google Shape;86;p8"/>
          <p:cNvGraphicFramePr/>
          <p:nvPr/>
        </p:nvGraphicFramePr>
        <p:xfrm>
          <a:off x="254475" y="979872"/>
          <a:ext cx="3000000" cy="3000000"/>
        </p:xfrm>
        <a:graphic>
          <a:graphicData uri="http://schemas.openxmlformats.org/drawingml/2006/table">
            <a:tbl>
              <a:tblPr>
                <a:noFill/>
                <a:tableStyleId>{A667869B-1F53-4C99-AD8D-8728D57326FD}</a:tableStyleId>
              </a:tblPr>
              <a:tblGrid>
                <a:gridCol w="2732400"/>
                <a:gridCol w="1377250"/>
                <a:gridCol w="4525400"/>
              </a:tblGrid>
              <a:tr h="368075">
                <a:tc>
                  <a:txBody>
                    <a:bodyPr/>
                    <a:lstStyle/>
                    <a:p>
                      <a:pPr indent="0" lvl="0" marL="0" marR="0" rtl="0" algn="l">
                        <a:spcBef>
                          <a:spcPts val="0"/>
                        </a:spcBef>
                        <a:spcAft>
                          <a:spcPts val="0"/>
                        </a:spcAft>
                        <a:buClr>
                          <a:srgbClr val="FFFFFF"/>
                        </a:buClr>
                        <a:buSzPts val="1000"/>
                        <a:buFont typeface="Inter"/>
                        <a:buNone/>
                      </a:pPr>
                      <a:r>
                        <a:rPr b="1" lang="en-US" sz="1000" u="none" cap="none" strike="noStrike">
                          <a:solidFill>
                            <a:srgbClr val="FFFFFF"/>
                          </a:solidFill>
                          <a:latin typeface="Inter"/>
                          <a:ea typeface="Inter"/>
                          <a:cs typeface="Inter"/>
                          <a:sym typeface="Inter"/>
                        </a:rPr>
                        <a:t>What the shopper searches</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solidFill>
                      <a:srgbClr val="111827"/>
                    </a:solidFill>
                  </a:tcPr>
                </a:tc>
                <a:tc>
                  <a:txBody>
                    <a:bodyPr/>
                    <a:lstStyle/>
                    <a:p>
                      <a:pPr indent="0" lvl="0" marL="0" marR="0" rtl="0" algn="l">
                        <a:spcBef>
                          <a:spcPts val="0"/>
                        </a:spcBef>
                        <a:spcAft>
                          <a:spcPts val="0"/>
                        </a:spcAft>
                        <a:buClr>
                          <a:srgbClr val="FFFFFF"/>
                        </a:buClr>
                        <a:buSzPts val="1000"/>
                        <a:buFont typeface="Inter"/>
                        <a:buNone/>
                      </a:pPr>
                      <a:r>
                        <a:rPr b="1" lang="en-US" sz="1000" u="none" cap="none" strike="noStrike">
                          <a:solidFill>
                            <a:srgbClr val="FFFFFF"/>
                          </a:solidFill>
                          <a:latin typeface="Inter"/>
                          <a:ea typeface="Inter"/>
                          <a:cs typeface="Inter"/>
                          <a:sym typeface="Inter"/>
                        </a:rPr>
                        <a:t>Search returns</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solidFill>
                      <a:srgbClr val="111827"/>
                    </a:solidFill>
                  </a:tcPr>
                </a:tc>
                <a:tc>
                  <a:txBody>
                    <a:bodyPr/>
                    <a:lstStyle/>
                    <a:p>
                      <a:pPr indent="0" lvl="0" marL="0" marR="0" rtl="0" algn="l">
                        <a:spcBef>
                          <a:spcPts val="0"/>
                        </a:spcBef>
                        <a:spcAft>
                          <a:spcPts val="0"/>
                        </a:spcAft>
                        <a:buClr>
                          <a:srgbClr val="FFFFFF"/>
                        </a:buClr>
                        <a:buSzPts val="1000"/>
                        <a:buFont typeface="Inter"/>
                        <a:buNone/>
                      </a:pPr>
                      <a:r>
                        <a:rPr b="1" lang="en-US" sz="1000" u="none" cap="none" strike="noStrike">
                          <a:solidFill>
                            <a:srgbClr val="FFFFFF"/>
                          </a:solidFill>
                          <a:latin typeface="Inter"/>
                          <a:ea typeface="Inter"/>
                          <a:cs typeface="Inter"/>
                          <a:sym typeface="Inter"/>
                        </a:rPr>
                        <a:t>What exists in the catalog</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solidFill>
                      <a:srgbClr val="111827"/>
                    </a:solidFill>
                  </a:tcPr>
                </a:tc>
              </a:tr>
            </a:tbl>
          </a:graphicData>
        </a:graphic>
      </p:graphicFrame>
      <p:sp>
        <p:nvSpPr>
          <p:cNvPr id="87" name="Google Shape;87;p8"/>
          <p:cNvSpPr/>
          <p:nvPr/>
        </p:nvSpPr>
        <p:spPr>
          <a:xfrm>
            <a:off x="254475" y="4552499"/>
            <a:ext cx="8635200" cy="342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CA3AF"/>
              </a:buClr>
              <a:buSzPts val="1100"/>
              <a:buFont typeface="Inter"/>
              <a:buNone/>
            </a:pPr>
            <a:r>
              <a:rPr b="0" i="1" lang="en-US" sz="1100" u="none" cap="none" strike="noStrike">
                <a:solidFill>
                  <a:schemeClr val="dk1"/>
                </a:solidFill>
                <a:latin typeface="Inter"/>
                <a:ea typeface="Inter"/>
                <a:cs typeface="Inter"/>
                <a:sym typeface="Inter"/>
              </a:rPr>
              <a:t xml:space="preserve">Every query is grounded in Google autocomplete — real shoppers type these. The products exist. The search can't connect the two. </a:t>
            </a:r>
            <a:r>
              <a:rPr i="1" lang="en-US" sz="1100">
                <a:solidFill>
                  <a:schemeClr val="dk1"/>
                </a:solidFill>
                <a:latin typeface="Inter"/>
                <a:ea typeface="Inter"/>
                <a:cs typeface="Inter"/>
                <a:sym typeface="Inter"/>
              </a:rPr>
              <a:t>For a more detailed report see the report attached with the email.</a:t>
            </a:r>
            <a:endParaRPr b="0" i="0" sz="1100" u="none" cap="none" strike="noStrike">
              <a:solidFill>
                <a:schemeClr val="dk1"/>
              </a:solidFill>
              <a:latin typeface="Calibri"/>
              <a:ea typeface="Calibri"/>
              <a:cs typeface="Calibri"/>
              <a:sym typeface="Calibri"/>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2" name="Shape 92"/>
        <p:cNvGrpSpPr/>
        <p:nvPr/>
      </p:nvGrpSpPr>
      <p:grpSpPr>
        <a:xfrm>
          <a:off x="0" y="0"/>
          <a:ext cx="0" cy="0"/>
          <a:chOff x="0" y="0"/>
          <a:chExt cx="0" cy="0"/>
        </a:xfrm>
      </p:grpSpPr>
      <p:sp>
        <p:nvSpPr>
          <p:cNvPr id="93" name="Placeholder 1"/>
          <p:cNvSpPr/>
          <p:nvPr/>
        </p:nvSpPr>
        <p:spPr>
          <a:xfrm>
            <a:off x="0" y="0"/>
            <a:ext cx="4175109" cy="2350526"/>
          </a:xfrm>
          <a:prstGeom prst="rect">
            <a:avLst/>
          </a:prstGeom>
          <a:solidFill>
            <a:srgbClr val="F5F5F5"/>
          </a:solidFill>
          <a:ln cap="flat" cmpd="sng" w="12700">
            <a:solidFill>
              <a:srgbClr val="999999"/>
            </a:solidFill>
            <a:prstDash val="dash"/>
            <a:round/>
            <a:headEnd len="sm" w="sm" type="none"/>
            <a:tailEnd len="sm" w="sm" type="none"/>
          </a:ln>
        </p:spPr>
        <p:txBody>
          <a:bodyPr anchor="ctr" anchorCtr="1" wrap="square" rtlCol="0">
            <a:normAutofit/>
          </a:bodyPr>
          <a:lstStyle/>
          <a:p>
            <a:pPr algn="ctr"/>
            <a:r>
              <a:rPr lang="en-US" sz="1400" b="1">
                <a:solidFill>
                  <a:srgbClr val="666666"/>
                </a:solidFill>
                <a:latin typeface="Inter"/>
              </a:rPr>
              <a:t>Screenshot of failing query #1</a:t>
            </a:r>
          </a:p>
          <a:p>
            <a:pPr algn="ctr"/>
            <a:r>
              <a:rPr lang="en-US" sz="1100" i="1">
                <a:solidFill>
                  <a:srgbClr val="999999"/>
                </a:solidFill>
                <a:latin typeface="Inter"/>
              </a:rPr>
              <a:t>paste the search-results screenshot for the most egregious failing query here</a:t>
            </a:r>
          </a:p>
        </p:txBody>
      </p:sp>
      <p:sp>
        <p:nvSpPr>
          <p:cNvPr id="94" name="Placeholder 2"/>
          <p:cNvSpPr/>
          <p:nvPr/>
        </p:nvSpPr>
        <p:spPr>
          <a:xfrm>
            <a:off x="4968925" y="5"/>
            <a:ext cx="4175078" cy="2350520"/>
          </a:xfrm>
          <a:prstGeom prst="rect">
            <a:avLst/>
          </a:prstGeom>
          <a:solidFill>
            <a:srgbClr val="F5F5F5"/>
          </a:solidFill>
          <a:ln cap="flat" cmpd="sng" w="12700">
            <a:solidFill>
              <a:srgbClr val="999999"/>
            </a:solidFill>
            <a:prstDash val="dash"/>
            <a:round/>
            <a:headEnd len="sm" w="sm" type="none"/>
            <a:tailEnd len="sm" w="sm" type="none"/>
          </a:ln>
        </p:spPr>
        <p:txBody>
          <a:bodyPr anchor="ctr" anchorCtr="1" wrap="square" rtlCol="0">
            <a:normAutofit/>
          </a:bodyPr>
          <a:lstStyle/>
          <a:p>
            <a:pPr algn="ctr"/>
            <a:r>
              <a:rPr lang="en-US" sz="1400" b="1">
                <a:solidFill>
                  <a:srgbClr val="666666"/>
                </a:solidFill>
                <a:latin typeface="Inter"/>
              </a:rPr>
              <a:t>Screenshot of failing query #2</a:t>
            </a:r>
          </a:p>
          <a:p>
            <a:pPr algn="ctr"/>
            <a:r>
              <a:rPr lang="en-US" sz="1100" i="1">
                <a:solidFill>
                  <a:srgbClr val="999999"/>
                </a:solidFill>
                <a:latin typeface="Inter"/>
              </a:rPr>
              <a:t>paste the search-results screenshot for the most egregious failing query here</a:t>
            </a:r>
          </a:p>
        </p:txBody>
      </p:sp>
      <p:sp>
        <p:nvSpPr>
          <p:cNvPr id="95" name="Placeholder 3"/>
          <p:cNvSpPr/>
          <p:nvPr/>
        </p:nvSpPr>
        <p:spPr>
          <a:xfrm>
            <a:off x="0" y="2801079"/>
            <a:ext cx="4175099" cy="2350546"/>
          </a:xfrm>
          <a:prstGeom prst="rect">
            <a:avLst/>
          </a:prstGeom>
          <a:solidFill>
            <a:srgbClr val="F5F5F5"/>
          </a:solidFill>
          <a:ln cap="flat" cmpd="sng" w="12700">
            <a:solidFill>
              <a:srgbClr val="999999"/>
            </a:solidFill>
            <a:prstDash val="dash"/>
            <a:round/>
            <a:headEnd len="sm" w="sm" type="none"/>
            <a:tailEnd len="sm" w="sm" type="none"/>
          </a:ln>
        </p:spPr>
        <p:txBody>
          <a:bodyPr anchor="ctr" anchorCtr="1" wrap="square" rtlCol="0">
            <a:normAutofit/>
          </a:bodyPr>
          <a:lstStyle/>
          <a:p>
            <a:pPr algn="ctr"/>
            <a:r>
              <a:rPr lang="en-US" sz="1400" b="1">
                <a:solidFill>
                  <a:srgbClr val="666666"/>
                </a:solidFill>
                <a:latin typeface="Inter"/>
              </a:rPr>
              <a:t>Screenshot of failing query #3</a:t>
            </a:r>
          </a:p>
          <a:p>
            <a:pPr algn="ctr"/>
            <a:r>
              <a:rPr lang="en-US" sz="1100" i="1">
                <a:solidFill>
                  <a:srgbClr val="999999"/>
                </a:solidFill>
                <a:latin typeface="Inter"/>
              </a:rPr>
              <a:t>paste the search-results screenshot for the most egregious failing query here</a:t>
            </a:r>
          </a:p>
        </p:txBody>
      </p:sp>
      <p:sp>
        <p:nvSpPr>
          <p:cNvPr id="96" name="Placeholder 4"/>
          <p:cNvSpPr/>
          <p:nvPr/>
        </p:nvSpPr>
        <p:spPr>
          <a:xfrm>
            <a:off x="4968925" y="2801118"/>
            <a:ext cx="4175073" cy="2350506"/>
          </a:xfrm>
          <a:prstGeom prst="rect">
            <a:avLst/>
          </a:prstGeom>
          <a:solidFill>
            <a:srgbClr val="F5F5F5"/>
          </a:solidFill>
          <a:ln cap="flat" cmpd="sng" w="12700">
            <a:solidFill>
              <a:srgbClr val="999999"/>
            </a:solidFill>
            <a:prstDash val="dash"/>
            <a:round/>
            <a:headEnd len="sm" w="sm" type="none"/>
            <a:tailEnd len="sm" w="sm" type="none"/>
          </a:ln>
        </p:spPr>
        <p:txBody>
          <a:bodyPr anchor="ctr" anchorCtr="1" wrap="square" rtlCol="0">
            <a:normAutofit/>
          </a:bodyPr>
          <a:lstStyle/>
          <a:p>
            <a:pPr algn="ctr"/>
            <a:r>
              <a:rPr lang="en-US" sz="1400" b="1">
                <a:solidFill>
                  <a:srgbClr val="666666"/>
                </a:solidFill>
                <a:latin typeface="Inter"/>
              </a:rPr>
              <a:t>Screenshot of failing query #4</a:t>
            </a:r>
          </a:p>
          <a:p>
            <a:pPr algn="ctr"/>
            <a:r>
              <a:rPr lang="en-US" sz="1100" i="1">
                <a:solidFill>
                  <a:srgbClr val="999999"/>
                </a:solidFill>
                <a:latin typeface="Inter"/>
              </a:rPr>
              <a:t>paste the search-results screenshot for the most egregious failing query here</a:t>
            </a: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09" name="Shape 109"/>
        <p:cNvGrpSpPr/>
        <p:nvPr/>
      </p:nvGrpSpPr>
      <p:grpSpPr>
        <a:xfrm>
          <a:off x="0" y="0"/>
          <a:ext cx="0" cy="0"/>
          <a:chOff x="0" y="0"/>
          <a:chExt cx="0" cy="0"/>
        </a:xfrm>
      </p:grpSpPr>
      <p:sp>
        <p:nvSpPr>
          <p:cNvPr id="110" name="Google Shape;110;p9"/>
          <p:cNvSpPr/>
          <p:nvPr/>
        </p:nvSpPr>
        <p:spPr>
          <a:xfrm>
            <a:off x="0" y="0"/>
            <a:ext cx="9144000" cy="36576"/>
          </a:xfrm>
          <a:prstGeom prst="rect">
            <a:avLst/>
          </a:prstGeom>
          <a:solidFill>
            <a:srgbClr val="2563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1" name="Google Shape;111;p9"/>
          <p:cNvSpPr/>
          <p:nvPr/>
        </p:nvSpPr>
        <p:spPr>
          <a:xfrm>
            <a:off x="685800" y="365750"/>
            <a:ext cx="8155200" cy="5943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11827"/>
              </a:buClr>
              <a:buSzPts val="2800"/>
              <a:buFont typeface="Inter"/>
              <a:buNone/>
            </a:pPr>
            <a:r>
              <a:rPr b="1" i="0" lang="en-US" sz="2500" u="none" cap="none" strike="noStrike">
                <a:solidFill>
                  <a:srgbClr val="111827"/>
                </a:solidFill>
                <a:latin typeface="Inter"/>
                <a:ea typeface="Inter"/>
                <a:cs typeface="Inter"/>
                <a:sym typeface="Inter"/>
              </a:rPr>
              <a:t xml:space="preserve">What SuperSearch builds for you </a:t>
            </a:r>
            <a:r>
              <a:rPr b="1" lang="en-US" sz="2500">
                <a:solidFill>
                  <a:srgbClr val="111827"/>
                </a:solidFill>
                <a:latin typeface="Inter"/>
                <a:ea typeface="Inter"/>
                <a:cs typeface="Inter"/>
                <a:sym typeface="Inter"/>
              </a:rPr>
              <a:t>- current offerings</a:t>
            </a:r>
            <a:endParaRPr b="0" i="0" sz="2500" u="none" cap="none" strike="noStrike">
              <a:solidFill>
                <a:schemeClr val="dk1"/>
              </a:solidFill>
              <a:latin typeface="Calibri"/>
              <a:ea typeface="Calibri"/>
              <a:cs typeface="Calibri"/>
              <a:sym typeface="Calibri"/>
            </a:endParaRPr>
          </a:p>
        </p:txBody>
      </p:sp>
      <p:sp>
        <p:nvSpPr>
          <p:cNvPr id="112" name="Google Shape;112;p9"/>
          <p:cNvSpPr/>
          <p:nvPr/>
        </p:nvSpPr>
        <p:spPr>
          <a:xfrm>
            <a:off x="685800" y="1097280"/>
            <a:ext cx="54864" cy="1051560"/>
          </a:xfrm>
          <a:prstGeom prst="rect">
            <a:avLst/>
          </a:prstGeom>
          <a:solidFill>
            <a:srgbClr val="2563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3" name="Google Shape;113;p9"/>
          <p:cNvSpPr/>
          <p:nvPr/>
        </p:nvSpPr>
        <p:spPr>
          <a:xfrm>
            <a:off x="914400" y="1056126"/>
            <a:ext cx="7315200" cy="2076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11827"/>
              </a:buClr>
              <a:buSzPts val="1600"/>
              <a:buFont typeface="Inter"/>
              <a:buNone/>
            </a:pPr>
            <a:r>
              <a:rPr b="1" i="0" lang="en-US" sz="1600" u="none" cap="none" strike="noStrike">
                <a:solidFill>
                  <a:srgbClr val="111827"/>
                </a:solidFill>
                <a:latin typeface="Inter"/>
                <a:ea typeface="Inter"/>
                <a:cs typeface="Inter"/>
                <a:sym typeface="Inter"/>
              </a:rPr>
              <a:t>AI Sales Associate on your website that guides buyers to the right purchase</a:t>
            </a:r>
            <a:endParaRPr b="0" i="0" sz="1600" u="none" cap="none" strike="noStrike">
              <a:solidFill>
                <a:schemeClr val="dk1"/>
              </a:solidFill>
              <a:latin typeface="Calibri"/>
              <a:ea typeface="Calibri"/>
              <a:cs typeface="Calibri"/>
              <a:sym typeface="Calibri"/>
            </a:endParaRPr>
          </a:p>
        </p:txBody>
      </p:sp>
      <p:sp>
        <p:nvSpPr>
          <p:cNvPr id="114" name="Google Shape;114;p9"/>
          <p:cNvSpPr/>
          <p:nvPr/>
        </p:nvSpPr>
        <p:spPr>
          <a:xfrm>
            <a:off x="914400" y="1490575"/>
            <a:ext cx="7896300" cy="594300"/>
          </a:xfrm>
          <a:prstGeom prst="rect">
            <a:avLst/>
          </a:prstGeom>
          <a:noFill/>
          <a:ln>
            <a:noFill/>
          </a:ln>
        </p:spPr>
        <p:txBody>
          <a:bodyPr anchorCtr="0" anchor="ctr" bIns="0" lIns="0" spcFirstLastPara="1" rIns="0" wrap="square" tIns="0">
            <a:noAutofit/>
          </a:bodyPr>
          <a:lstStyle/>
          <a:p>
            <a:pPr indent="-342900" lvl="0" marL="342900" marR="0" rtl="0" algn="l">
              <a:lnSpc>
                <a:spcPct val="100000"/>
              </a:lnSpc>
              <a:spcBef>
                <a:spcPts val="0"/>
              </a:spcBef>
              <a:spcAft>
                <a:spcPts val="0"/>
              </a:spcAft>
              <a:buClr>
                <a:srgbClr val="4B5563"/>
              </a:buClr>
              <a:buSzPts val="1300"/>
              <a:buFont typeface="Inter"/>
              <a:buChar char="•"/>
            </a:pPr>
            <a:r>
              <a:rPr b="0" i="0" lang="en-US" sz="1300" u="none" cap="none" strike="noStrike">
                <a:solidFill>
                  <a:srgbClr val="4B5563"/>
                </a:solidFill>
                <a:latin typeface="Inter"/>
                <a:ea typeface="Inter"/>
                <a:cs typeface="Inter"/>
                <a:sym typeface="Inter"/>
              </a:rPr>
              <a:t>Acts as a digital sales associate — asks the right questions, understands what the buyer actually needs, and guides them to the right product</a:t>
            </a:r>
            <a:endParaRPr b="0" i="0" sz="1300" u="none" cap="none" strike="noStrike">
              <a:solidFill>
                <a:schemeClr val="dk1"/>
              </a:solidFill>
              <a:latin typeface="Calibri"/>
              <a:ea typeface="Calibri"/>
              <a:cs typeface="Calibri"/>
              <a:sym typeface="Calibri"/>
            </a:endParaRPr>
          </a:p>
          <a:p>
            <a:pPr indent="-342900" lvl="0" marL="342900" marR="0" rtl="0" algn="l">
              <a:lnSpc>
                <a:spcPct val="100000"/>
              </a:lnSpc>
              <a:spcBef>
                <a:spcPts val="400"/>
              </a:spcBef>
              <a:spcAft>
                <a:spcPts val="0"/>
              </a:spcAft>
              <a:buClr>
                <a:srgbClr val="4B5563"/>
              </a:buClr>
              <a:buSzPts val="1300"/>
              <a:buFont typeface="Inter"/>
              <a:buChar char="•"/>
            </a:pPr>
            <a:r>
              <a:rPr b="0" i="0" lang="en-US" sz="1300" u="none" cap="none" strike="noStrike">
                <a:solidFill>
                  <a:srgbClr val="4B5563"/>
                </a:solidFill>
                <a:latin typeface="Inter"/>
                <a:ea typeface="Inter"/>
                <a:cs typeface="Inter"/>
                <a:sym typeface="Inter"/>
              </a:rPr>
              <a:t>Drives revenue, not just answers — every conversation is a guided selling opportunity that converts browsers into buyers</a:t>
            </a:r>
            <a:endParaRPr b="0" i="0" sz="1300" u="none" cap="none" strike="noStrike">
              <a:solidFill>
                <a:schemeClr val="dk1"/>
              </a:solidFill>
              <a:latin typeface="Calibri"/>
              <a:ea typeface="Calibri"/>
              <a:cs typeface="Calibri"/>
              <a:sym typeface="Calibri"/>
            </a:endParaRPr>
          </a:p>
          <a:p>
            <a:pPr indent="-342900" lvl="0" marL="342900" marR="0" rtl="0" algn="l">
              <a:lnSpc>
                <a:spcPct val="100000"/>
              </a:lnSpc>
              <a:spcBef>
                <a:spcPts val="400"/>
              </a:spcBef>
              <a:spcAft>
                <a:spcPts val="0"/>
              </a:spcAft>
              <a:buClr>
                <a:srgbClr val="4B5563"/>
              </a:buClr>
              <a:buSzPts val="1300"/>
              <a:buFont typeface="Inter"/>
              <a:buChar char="•"/>
            </a:pPr>
            <a:r>
              <a:rPr b="0" i="0" lang="en-US" sz="1300" u="none" cap="none" strike="noStrike">
                <a:solidFill>
                  <a:srgbClr val="4B5563"/>
                </a:solidFill>
                <a:latin typeface="Inter"/>
                <a:ea typeface="Inter"/>
                <a:cs typeface="Inter"/>
                <a:sym typeface="Inter"/>
              </a:rPr>
              <a:t>All intent based queries such as “furniture for a new 2BHK”, “office chair for back pain” handled just like in ChatGPT and Amazon Rufus, guiding buyers to a purchase just like your best in-store sales associate would.</a:t>
            </a:r>
            <a:endParaRPr b="0" i="0" sz="1300" u="none" cap="none" strike="noStrike">
              <a:solidFill>
                <a:schemeClr val="dk1"/>
              </a:solidFill>
              <a:latin typeface="Calibri"/>
              <a:ea typeface="Calibri"/>
              <a:cs typeface="Calibri"/>
              <a:sym typeface="Calibri"/>
            </a:endParaRPr>
          </a:p>
        </p:txBody>
      </p:sp>
      <p:sp>
        <p:nvSpPr>
          <p:cNvPr id="115" name="Google Shape;115;p9"/>
          <p:cNvSpPr/>
          <p:nvPr/>
        </p:nvSpPr>
        <p:spPr>
          <a:xfrm>
            <a:off x="685800" y="2377440"/>
            <a:ext cx="54864" cy="1051560"/>
          </a:xfrm>
          <a:prstGeom prst="rect">
            <a:avLst/>
          </a:prstGeom>
          <a:solidFill>
            <a:srgbClr val="05966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6" name="Google Shape;116;p9"/>
          <p:cNvSpPr/>
          <p:nvPr/>
        </p:nvSpPr>
        <p:spPr>
          <a:xfrm>
            <a:off x="914400" y="2377440"/>
            <a:ext cx="7315200" cy="29260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11827"/>
              </a:buClr>
              <a:buSzPts val="1600"/>
              <a:buFont typeface="Inter"/>
              <a:buNone/>
            </a:pPr>
            <a:r>
              <a:rPr b="1" i="0" lang="en-US" sz="1600" u="none" cap="none" strike="noStrike">
                <a:solidFill>
                  <a:srgbClr val="111827"/>
                </a:solidFill>
                <a:latin typeface="Inter"/>
                <a:ea typeface="Inter"/>
                <a:cs typeface="Inter"/>
                <a:sym typeface="Inter"/>
              </a:rPr>
              <a:t>Catalog Tagging + Enrichment</a:t>
            </a:r>
            <a:endParaRPr b="0" i="0" sz="1600" u="none" cap="none" strike="noStrike">
              <a:solidFill>
                <a:schemeClr val="dk1"/>
              </a:solidFill>
              <a:latin typeface="Calibri"/>
              <a:ea typeface="Calibri"/>
              <a:cs typeface="Calibri"/>
              <a:sym typeface="Calibri"/>
            </a:endParaRPr>
          </a:p>
        </p:txBody>
      </p:sp>
      <p:sp>
        <p:nvSpPr>
          <p:cNvPr id="117" name="Google Shape;117;p9"/>
          <p:cNvSpPr/>
          <p:nvPr/>
        </p:nvSpPr>
        <p:spPr>
          <a:xfrm>
            <a:off x="914400" y="2724900"/>
            <a:ext cx="8229600" cy="640200"/>
          </a:xfrm>
          <a:prstGeom prst="rect">
            <a:avLst/>
          </a:prstGeom>
          <a:noFill/>
          <a:ln>
            <a:noFill/>
          </a:ln>
        </p:spPr>
        <p:txBody>
          <a:bodyPr anchorCtr="0" anchor="ctr" bIns="0" lIns="0" spcFirstLastPara="1" rIns="0" wrap="square" tIns="0">
            <a:noAutofit/>
          </a:bodyPr>
          <a:lstStyle/>
          <a:p>
            <a:pPr indent="-342900" lvl="0" marL="342900" marR="0" rtl="0" algn="l">
              <a:lnSpc>
                <a:spcPct val="100000"/>
              </a:lnSpc>
              <a:spcBef>
                <a:spcPts val="0"/>
              </a:spcBef>
              <a:spcAft>
                <a:spcPts val="0"/>
              </a:spcAft>
              <a:buClr>
                <a:srgbClr val="4B5563"/>
              </a:buClr>
              <a:buSzPts val="1300"/>
              <a:buFont typeface="Inter"/>
              <a:buChar char="•"/>
            </a:pPr>
            <a:r>
              <a:rPr b="0" i="0" lang="en-US" sz="1300" u="none" cap="none" strike="noStrike">
                <a:solidFill>
                  <a:srgbClr val="4B5563"/>
                </a:solidFill>
                <a:latin typeface="Inter"/>
                <a:ea typeface="Inter"/>
                <a:cs typeface="Inter"/>
                <a:sym typeface="Inter"/>
              </a:rPr>
              <a:t>All merchant catalogs synced to unified schema that AI agents can read with no token wastage</a:t>
            </a:r>
            <a:endParaRPr b="0" i="0" sz="1300" u="none" cap="none" strike="noStrike">
              <a:solidFill>
                <a:schemeClr val="dk1"/>
              </a:solidFill>
              <a:latin typeface="Calibri"/>
              <a:ea typeface="Calibri"/>
              <a:cs typeface="Calibri"/>
              <a:sym typeface="Calibri"/>
            </a:endParaRPr>
          </a:p>
          <a:p>
            <a:pPr indent="-342900" lvl="0" marL="342900" marR="0" rtl="0" algn="l">
              <a:lnSpc>
                <a:spcPct val="100000"/>
              </a:lnSpc>
              <a:spcBef>
                <a:spcPts val="400"/>
              </a:spcBef>
              <a:spcAft>
                <a:spcPts val="0"/>
              </a:spcAft>
              <a:buClr>
                <a:srgbClr val="4B5563"/>
              </a:buClr>
              <a:buSzPts val="1300"/>
              <a:buFont typeface="Inter"/>
              <a:buChar char="•"/>
            </a:pPr>
            <a:r>
              <a:rPr b="0" i="0" lang="en-US" sz="1300" u="none" cap="none" strike="noStrike">
                <a:solidFill>
                  <a:srgbClr val="4B5563"/>
                </a:solidFill>
                <a:latin typeface="Inter"/>
                <a:ea typeface="Inter"/>
                <a:cs typeface="Inter"/>
                <a:sym typeface="Inter"/>
              </a:rPr>
              <a:t>Synonyms, spell check, use-case tagging, intent mapping, attribute enrichment across your catalog</a:t>
            </a:r>
            <a:endParaRPr b="0" i="0" sz="1300" u="none" cap="none" strike="noStrike">
              <a:solidFill>
                <a:schemeClr val="dk1"/>
              </a:solidFill>
              <a:latin typeface="Calibri"/>
              <a:ea typeface="Calibri"/>
              <a:cs typeface="Calibri"/>
              <a:sym typeface="Calibri"/>
            </a:endParaRPr>
          </a:p>
          <a:p>
            <a:pPr indent="-342900" lvl="0" marL="342900" marR="0" rtl="0" algn="l">
              <a:lnSpc>
                <a:spcPct val="100000"/>
              </a:lnSpc>
              <a:spcBef>
                <a:spcPts val="400"/>
              </a:spcBef>
              <a:spcAft>
                <a:spcPts val="0"/>
              </a:spcAft>
              <a:buClr>
                <a:srgbClr val="4B5563"/>
              </a:buClr>
              <a:buSzPts val="1300"/>
              <a:buFont typeface="Inter"/>
              <a:buChar char="•"/>
            </a:pPr>
            <a:r>
              <a:rPr b="0" i="0" lang="en-US" sz="1300" u="none" cap="none" strike="noStrike">
                <a:solidFill>
                  <a:srgbClr val="4B5563"/>
                </a:solidFill>
                <a:latin typeface="Inter"/>
                <a:ea typeface="Inter"/>
                <a:cs typeface="Inter"/>
                <a:sym typeface="Inter"/>
              </a:rPr>
              <a:t>AI agents can directly search the catalog to answer user queries</a:t>
            </a:r>
            <a:endParaRPr b="0" i="0" sz="1300" u="none" cap="none" strike="noStrike">
              <a:solidFill>
                <a:schemeClr val="dk1"/>
              </a:solidFill>
              <a:latin typeface="Calibri"/>
              <a:ea typeface="Calibri"/>
              <a:cs typeface="Calibri"/>
              <a:sym typeface="Calibri"/>
            </a:endParaRPr>
          </a:p>
        </p:txBody>
      </p:sp>
      <p:sp>
        <p:nvSpPr>
          <p:cNvPr id="118" name="Google Shape;118;p9"/>
          <p:cNvSpPr/>
          <p:nvPr/>
        </p:nvSpPr>
        <p:spPr>
          <a:xfrm>
            <a:off x="685800" y="3657600"/>
            <a:ext cx="54864" cy="1051560"/>
          </a:xfrm>
          <a:prstGeom prst="rect">
            <a:avLst/>
          </a:prstGeom>
          <a:solidFill>
            <a:srgbClr val="7C3A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9" name="Google Shape;119;p9"/>
          <p:cNvSpPr/>
          <p:nvPr/>
        </p:nvSpPr>
        <p:spPr>
          <a:xfrm>
            <a:off x="914400" y="3657600"/>
            <a:ext cx="7315200" cy="29260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11827"/>
              </a:buClr>
              <a:buSzPts val="1600"/>
              <a:buFont typeface="Inter"/>
              <a:buNone/>
            </a:pPr>
            <a:r>
              <a:rPr b="1" i="0" lang="en-US" sz="1600" u="none" cap="none" strike="noStrike">
                <a:solidFill>
                  <a:srgbClr val="111827"/>
                </a:solidFill>
                <a:latin typeface="Inter"/>
                <a:ea typeface="Inter"/>
                <a:cs typeface="Inter"/>
                <a:sym typeface="Inter"/>
              </a:rPr>
              <a:t>Intent-Aware Knowledge Graph</a:t>
            </a:r>
            <a:endParaRPr b="0" i="0" sz="1600" u="none" cap="none" strike="noStrike">
              <a:solidFill>
                <a:schemeClr val="dk1"/>
              </a:solidFill>
              <a:latin typeface="Calibri"/>
              <a:ea typeface="Calibri"/>
              <a:cs typeface="Calibri"/>
              <a:sym typeface="Calibri"/>
            </a:endParaRPr>
          </a:p>
        </p:txBody>
      </p:sp>
      <p:sp>
        <p:nvSpPr>
          <p:cNvPr id="120" name="Google Shape;120;p9"/>
          <p:cNvSpPr/>
          <p:nvPr/>
        </p:nvSpPr>
        <p:spPr>
          <a:xfrm>
            <a:off x="914400" y="4087375"/>
            <a:ext cx="8155200" cy="749700"/>
          </a:xfrm>
          <a:prstGeom prst="rect">
            <a:avLst/>
          </a:prstGeom>
          <a:noFill/>
          <a:ln>
            <a:noFill/>
          </a:ln>
        </p:spPr>
        <p:txBody>
          <a:bodyPr anchorCtr="0" anchor="ctr" bIns="0" lIns="0" spcFirstLastPara="1" rIns="0" wrap="square" tIns="0">
            <a:noAutofit/>
          </a:bodyPr>
          <a:lstStyle/>
          <a:p>
            <a:pPr indent="-342900" lvl="0" marL="342900" marR="0" rtl="0" algn="l">
              <a:lnSpc>
                <a:spcPct val="100000"/>
              </a:lnSpc>
              <a:spcBef>
                <a:spcPts val="0"/>
              </a:spcBef>
              <a:spcAft>
                <a:spcPts val="0"/>
              </a:spcAft>
              <a:buClr>
                <a:srgbClr val="4B5563"/>
              </a:buClr>
              <a:buSzPts val="1300"/>
              <a:buFont typeface="Inter"/>
              <a:buChar char="•"/>
            </a:pPr>
            <a:r>
              <a:rPr b="0" i="0" lang="en-US" sz="1300" u="none" cap="none" strike="noStrike">
                <a:solidFill>
                  <a:srgbClr val="4B5563"/>
                </a:solidFill>
                <a:latin typeface="Inter"/>
                <a:ea typeface="Inter"/>
                <a:cs typeface="Inter"/>
                <a:sym typeface="Inter"/>
              </a:rPr>
              <a:t>Maps user intent to keywords in PDP’s without spending millions of dollars in LLM tokens</a:t>
            </a:r>
            <a:endParaRPr b="0" i="0" sz="1300" u="none" cap="none" strike="noStrike">
              <a:solidFill>
                <a:schemeClr val="dk1"/>
              </a:solidFill>
              <a:latin typeface="Calibri"/>
              <a:ea typeface="Calibri"/>
              <a:cs typeface="Calibri"/>
              <a:sym typeface="Calibri"/>
            </a:endParaRPr>
          </a:p>
          <a:p>
            <a:pPr indent="-342900" lvl="0" marL="342900" marR="0" rtl="0" algn="l">
              <a:lnSpc>
                <a:spcPct val="100000"/>
              </a:lnSpc>
              <a:spcBef>
                <a:spcPts val="400"/>
              </a:spcBef>
              <a:spcAft>
                <a:spcPts val="0"/>
              </a:spcAft>
              <a:buClr>
                <a:srgbClr val="4B5563"/>
              </a:buClr>
              <a:buSzPts val="1300"/>
              <a:buFont typeface="Inter"/>
              <a:buChar char="•"/>
            </a:pPr>
            <a:r>
              <a:rPr b="0" i="0" lang="en-US" sz="1300" u="none" cap="none" strike="noStrike">
                <a:solidFill>
                  <a:srgbClr val="4B5563"/>
                </a:solidFill>
                <a:latin typeface="Inter"/>
                <a:ea typeface="Inter"/>
                <a:cs typeface="Inter"/>
                <a:sym typeface="Inter"/>
              </a:rPr>
              <a:t>Sub-20ms graph traversal vs 100ms-2s for LLM inference</a:t>
            </a:r>
            <a:r>
              <a:rPr b="0" i="0" lang="en-US" sz="1300" u="none" cap="none" strike="noStrike">
                <a:solidFill>
                  <a:schemeClr val="dk1"/>
                </a:solidFill>
                <a:latin typeface="Calibri"/>
                <a:ea typeface="Calibri"/>
                <a:cs typeface="Calibri"/>
                <a:sym typeface="Calibri"/>
              </a:rPr>
              <a:t>, w</a:t>
            </a:r>
            <a:r>
              <a:rPr b="0" i="0" lang="en-US" sz="1300" u="none" cap="none" strike="noStrike">
                <a:solidFill>
                  <a:srgbClr val="4B5563"/>
                </a:solidFill>
                <a:latin typeface="Inter"/>
                <a:ea typeface="Inter"/>
                <a:cs typeface="Inter"/>
                <a:sym typeface="Inter"/>
              </a:rPr>
              <a:t>orks for 5K-50K+ SKU catalogs</a:t>
            </a:r>
            <a:endParaRPr b="0" i="0" sz="1300" u="none" cap="none" strike="noStrike">
              <a:solidFill>
                <a:srgbClr val="4B5563"/>
              </a:solidFill>
              <a:latin typeface="Inter"/>
              <a:ea typeface="Inter"/>
              <a:cs typeface="Inter"/>
              <a:sym typeface="Inter"/>
            </a:endParaRPr>
          </a:p>
          <a:p>
            <a:pPr indent="-342900" lvl="0" marL="342900" marR="0" rtl="0" algn="l">
              <a:lnSpc>
                <a:spcPct val="100000"/>
              </a:lnSpc>
              <a:spcBef>
                <a:spcPts val="400"/>
              </a:spcBef>
              <a:spcAft>
                <a:spcPts val="0"/>
              </a:spcAft>
              <a:buClr>
                <a:srgbClr val="4B5563"/>
              </a:buClr>
              <a:buSzPts val="1300"/>
              <a:buFont typeface="Inter"/>
              <a:buChar char="•"/>
            </a:pPr>
            <a:r>
              <a:rPr b="0" i="0" lang="en-US" sz="1300" u="none" cap="none" strike="noStrike">
                <a:solidFill>
                  <a:srgbClr val="4B5563"/>
                </a:solidFill>
                <a:latin typeface="Inter"/>
                <a:ea typeface="Inter"/>
                <a:cs typeface="Inter"/>
                <a:sym typeface="Inter"/>
              </a:rPr>
              <a:t>Enables AI shopping assistant to answer all intent/event/activity based queries asked by a buyer facilitating a truly realistic online shopping experience and boosting conversion</a:t>
            </a:r>
            <a:endParaRPr b="0" i="0" sz="1300" u="none" cap="none" strike="noStrike">
              <a:solidFill>
                <a:srgbClr val="4B5563"/>
              </a:solidFill>
              <a:latin typeface="Inter"/>
              <a:ea typeface="Inter"/>
              <a:cs typeface="Inter"/>
              <a:sym typeface="Inter"/>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5" name="Shape 125"/>
        <p:cNvGrpSpPr/>
        <p:nvPr/>
      </p:nvGrpSpPr>
      <p:grpSpPr>
        <a:xfrm>
          <a:off x="0" y="0"/>
          <a:ext cx="0" cy="0"/>
          <a:chOff x="0" y="0"/>
          <a:chExt cx="0" cy="0"/>
        </a:xfrm>
      </p:grpSpPr>
      <p:sp>
        <p:nvSpPr>
          <p:cNvPr id="126" name="Google Shape;126;g3d836f29ee0_0_17"/>
          <p:cNvSpPr txBox="1"/>
          <p:nvPr/>
        </p:nvSpPr>
        <p:spPr>
          <a:xfrm>
            <a:off x="410725" y="260850"/>
            <a:ext cx="8475600" cy="7872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b="1" lang="en-US" sz="2000"/>
              <a:t>The future of e-commerce - shopping assistants, AR room visualization, multilingual queries and discovery through apps on LLM platforms.</a:t>
            </a:r>
            <a:endParaRPr b="1" sz="2000"/>
          </a:p>
        </p:txBody>
      </p:sp>
      <p:sp>
        <p:nvSpPr>
          <p:cNvPr id="127" name="Google Shape;127;g3d836f29ee0_0_17"/>
          <p:cNvSpPr txBox="1"/>
          <p:nvPr/>
        </p:nvSpPr>
        <p:spPr>
          <a:xfrm>
            <a:off x="345025" y="1274475"/>
            <a:ext cx="8238300" cy="34290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US"/>
              <a:t xml:space="preserve">Buyers today are increasingly looking for AR room visualization to make more informed decisions.</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More and more numbers of queries are being asked in multilingual languages as e-commerce spreads to tier 2 and 3 cities.</a:t>
            </a:r>
            <a:endParaRPr/>
          </a:p>
          <a:p>
            <a:pPr indent="0" lvl="0" marL="0" rtl="0" algn="l">
              <a:spcBef>
                <a:spcPts val="0"/>
              </a:spcBef>
              <a:spcAft>
                <a:spcPts val="0"/>
              </a:spcAft>
              <a:buNone/>
            </a:pPr>
            <a:r>
              <a:t/>
            </a:r>
            <a:endParaRPr/>
          </a:p>
          <a:p>
            <a:pPr indent="0" lvl="0" marL="0" rtl="0" algn="l">
              <a:spcBef>
                <a:spcPts val="0"/>
              </a:spcBef>
              <a:spcAft>
                <a:spcPts val="0"/>
              </a:spcAft>
              <a:buNone/>
            </a:pPr>
            <a:r>
              <a:rPr b="1" lang="en-US"/>
              <a:t xml:space="preserve">40% of shoppers now start their discovery journey on some AI chat agent </a:t>
            </a:r>
            <a:r>
              <a:rPr lang="en-US"/>
              <a:t xml:space="preserve">such as Gemini/ChatGPT/Perplexity. </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Before reaching a brand’s website, buyers first discover brand</a:t>
            </a:r>
            <a:r>
              <a:rPr lang="en-US"/>
              <a:t>s</a:t>
            </a:r>
            <a:r>
              <a:rPr lang="en-US"/>
              <a:t xml:space="preserve"> through LLMs. While AEO/GEO ensures that a brand comes up in the LLM’s suggestions, that is just the first part. Brands have to also ensure that buyers can </a:t>
            </a:r>
            <a:r>
              <a:rPr lang="en-US"/>
              <a:t>interact</a:t>
            </a:r>
            <a:r>
              <a:rPr lang="en-US"/>
              <a:t xml:space="preserve"> </a:t>
            </a:r>
            <a:r>
              <a:rPr lang="en-US"/>
              <a:t>with</a:t>
            </a:r>
            <a:r>
              <a:rPr lang="en-US"/>
              <a:t xml:space="preserve"> their catalogs within the LLM chat interface itself so they come to their website and buy.</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 xml:space="preserve">As a result </a:t>
            </a:r>
            <a:r>
              <a:rPr b="1" lang="en-US"/>
              <a:t>Walmart, Sephora, Instacart, Doordash</a:t>
            </a:r>
            <a:r>
              <a:rPr lang="en-US"/>
              <a:t xml:space="preserve"> have already created apps on top of ChatGPT to capture buyers upfront.</a:t>
            </a:r>
            <a:endParaRPr/>
          </a:p>
          <a:p>
            <a:pPr indent="0" lvl="0" marL="0" rtl="0" algn="l">
              <a:spcBef>
                <a:spcPts val="0"/>
              </a:spcBef>
              <a:spcAft>
                <a:spcPts val="0"/>
              </a:spcAft>
              <a:buNone/>
            </a:pPr>
            <a:r>
              <a:t/>
            </a:r>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32" name="Shape 132"/>
        <p:cNvGrpSpPr/>
        <p:nvPr/>
      </p:nvGrpSpPr>
      <p:grpSpPr>
        <a:xfrm>
          <a:off x="0" y="0"/>
          <a:ext cx="0" cy="0"/>
          <a:chOff x="0" y="0"/>
          <a:chExt cx="0" cy="0"/>
        </a:xfrm>
      </p:grpSpPr>
      <p:sp>
        <p:nvSpPr>
          <p:cNvPr id="133" name="Google Shape;133;g3d836f29ee0_0_0"/>
          <p:cNvSpPr/>
          <p:nvPr/>
        </p:nvSpPr>
        <p:spPr>
          <a:xfrm>
            <a:off x="0" y="0"/>
            <a:ext cx="9144000" cy="36600"/>
          </a:xfrm>
          <a:prstGeom prst="rect">
            <a:avLst/>
          </a:prstGeom>
          <a:solidFill>
            <a:srgbClr val="2563E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4" name="Google Shape;134;g3d836f29ee0_0_0"/>
          <p:cNvSpPr/>
          <p:nvPr/>
        </p:nvSpPr>
        <p:spPr>
          <a:xfrm>
            <a:off x="685800" y="365750"/>
            <a:ext cx="8308200" cy="5943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11827"/>
              </a:buClr>
              <a:buSzPts val="2800"/>
              <a:buFont typeface="Inter"/>
              <a:buNone/>
            </a:pPr>
            <a:r>
              <a:rPr b="1" i="0" lang="en-US" sz="2400" u="none" cap="none" strike="noStrike">
                <a:solidFill>
                  <a:srgbClr val="111827"/>
                </a:solidFill>
                <a:latin typeface="Inter"/>
                <a:ea typeface="Inter"/>
                <a:cs typeface="Inter"/>
                <a:sym typeface="Inter"/>
              </a:rPr>
              <a:t xml:space="preserve">What SuperSearch builds for you - </a:t>
            </a:r>
            <a:r>
              <a:rPr b="1" lang="en-US" sz="2400">
                <a:solidFill>
                  <a:srgbClr val="111827"/>
                </a:solidFill>
                <a:latin typeface="Inter"/>
                <a:ea typeface="Inter"/>
                <a:cs typeface="Inter"/>
                <a:sym typeface="Inter"/>
              </a:rPr>
              <a:t>upcoming offerings</a:t>
            </a:r>
            <a:endParaRPr b="0" i="0" sz="2400" u="none" cap="none" strike="noStrike">
              <a:solidFill>
                <a:schemeClr val="dk1"/>
              </a:solidFill>
              <a:latin typeface="Calibri"/>
              <a:ea typeface="Calibri"/>
              <a:cs typeface="Calibri"/>
              <a:sym typeface="Calibri"/>
            </a:endParaRPr>
          </a:p>
        </p:txBody>
      </p:sp>
      <p:sp>
        <p:nvSpPr>
          <p:cNvPr id="135" name="Google Shape;135;g3d836f29ee0_0_0"/>
          <p:cNvSpPr/>
          <p:nvPr/>
        </p:nvSpPr>
        <p:spPr>
          <a:xfrm>
            <a:off x="685800" y="1097280"/>
            <a:ext cx="54900" cy="1051500"/>
          </a:xfrm>
          <a:prstGeom prst="rect">
            <a:avLst/>
          </a:prstGeom>
          <a:solidFill>
            <a:srgbClr val="2563E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6" name="Google Shape;136;g3d836f29ee0_0_0"/>
          <p:cNvSpPr/>
          <p:nvPr/>
        </p:nvSpPr>
        <p:spPr>
          <a:xfrm>
            <a:off x="914400" y="1056126"/>
            <a:ext cx="7315200" cy="207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11827"/>
              </a:buClr>
              <a:buSzPts val="1600"/>
              <a:buFont typeface="Inter"/>
              <a:buNone/>
            </a:pPr>
            <a:r>
              <a:rPr b="1" lang="en-US" sz="1600">
                <a:solidFill>
                  <a:srgbClr val="111827"/>
                </a:solidFill>
                <a:latin typeface="Inter"/>
                <a:ea typeface="Inter"/>
                <a:cs typeface="Inter"/>
                <a:sym typeface="Inter"/>
              </a:rPr>
              <a:t>AR Room Visualization</a:t>
            </a:r>
            <a:endParaRPr b="0" i="0" sz="1600" u="none" cap="none" strike="noStrike">
              <a:solidFill>
                <a:schemeClr val="dk1"/>
              </a:solidFill>
              <a:latin typeface="Calibri"/>
              <a:ea typeface="Calibri"/>
              <a:cs typeface="Calibri"/>
              <a:sym typeface="Calibri"/>
            </a:endParaRPr>
          </a:p>
        </p:txBody>
      </p:sp>
      <p:sp>
        <p:nvSpPr>
          <p:cNvPr id="137" name="Google Shape;137;g3d836f29ee0_0_0"/>
          <p:cNvSpPr/>
          <p:nvPr/>
        </p:nvSpPr>
        <p:spPr>
          <a:xfrm>
            <a:off x="914400" y="1490575"/>
            <a:ext cx="7896300" cy="594300"/>
          </a:xfrm>
          <a:prstGeom prst="rect">
            <a:avLst/>
          </a:prstGeom>
          <a:noFill/>
          <a:ln>
            <a:noFill/>
          </a:ln>
        </p:spPr>
        <p:txBody>
          <a:bodyPr anchorCtr="0" anchor="ctr" bIns="0" lIns="0" spcFirstLastPara="1" rIns="0" wrap="square" tIns="0">
            <a:noAutofit/>
          </a:bodyPr>
          <a:lstStyle/>
          <a:p>
            <a:pPr indent="-342900" lvl="0" marL="342900" marR="0" rtl="0" algn="l">
              <a:spcBef>
                <a:spcPts val="0"/>
              </a:spcBef>
              <a:spcAft>
                <a:spcPts val="0"/>
              </a:spcAft>
              <a:buClr>
                <a:srgbClr val="4B5563"/>
              </a:buClr>
              <a:buSzPts val="1300"/>
              <a:buFont typeface="Inter"/>
              <a:buChar char="•"/>
            </a:pPr>
            <a:r>
              <a:rPr lang="en-US" sz="1300">
                <a:solidFill>
                  <a:srgbClr val="4B5563"/>
                </a:solidFill>
                <a:latin typeface="Inter"/>
                <a:ea typeface="Inter"/>
                <a:cs typeface="Inter"/>
                <a:sym typeface="Inter"/>
              </a:rPr>
              <a:t>Let buyers place a sofa, bed, or wardrobe in their actual room via AR before they commit.</a:t>
            </a:r>
            <a:endParaRPr sz="1300">
              <a:solidFill>
                <a:srgbClr val="4B5563"/>
              </a:solidFill>
              <a:latin typeface="Inter"/>
              <a:ea typeface="Inter"/>
              <a:cs typeface="Inter"/>
              <a:sym typeface="Inter"/>
            </a:endParaRPr>
          </a:p>
          <a:p>
            <a:pPr indent="-342900" lvl="0" marL="342900" marR="0" rtl="0" algn="l">
              <a:spcBef>
                <a:spcPts val="0"/>
              </a:spcBef>
              <a:spcAft>
                <a:spcPts val="0"/>
              </a:spcAft>
              <a:buClr>
                <a:srgbClr val="4B5563"/>
              </a:buClr>
              <a:buSzPts val="1300"/>
              <a:buFont typeface="Inter"/>
              <a:buChar char="•"/>
            </a:pPr>
            <a:r>
              <a:rPr lang="en-US" sz="1300">
                <a:solidFill>
                  <a:srgbClr val="4B5563"/>
                </a:solidFill>
                <a:latin typeface="Inter"/>
                <a:ea typeface="Inter"/>
                <a:cs typeface="Inter"/>
                <a:sym typeface="Inter"/>
              </a:rPr>
              <a:t>Furniture’s biggest return reason is “doesn’t fit the space” — IKEA Place and Wayfair View in Room 3D have cut this by up to 35%.</a:t>
            </a:r>
            <a:endParaRPr sz="1300">
              <a:solidFill>
                <a:srgbClr val="4B5563"/>
              </a:solidFill>
              <a:latin typeface="Inter"/>
              <a:ea typeface="Inter"/>
              <a:cs typeface="Inter"/>
              <a:sym typeface="Inter"/>
            </a:endParaRPr>
          </a:p>
          <a:p>
            <a:pPr indent="-342900" lvl="0" marL="342900" marR="0" rtl="0" algn="l">
              <a:spcBef>
                <a:spcPts val="0"/>
              </a:spcBef>
              <a:spcAft>
                <a:spcPts val="0"/>
              </a:spcAft>
              <a:buClr>
                <a:srgbClr val="4B5563"/>
              </a:buClr>
              <a:buSzPts val="1300"/>
              <a:buFont typeface="Inter"/>
              <a:buChar char="•"/>
            </a:pPr>
            <a:r>
              <a:rPr lang="en-US" sz="1300">
                <a:solidFill>
                  <a:srgbClr val="4B5563"/>
                </a:solidFill>
                <a:latin typeface="Inter"/>
                <a:ea typeface="Inter"/>
                <a:cs typeface="Inter"/>
                <a:sym typeface="Inter"/>
              </a:rPr>
              <a:t>Higher conversion, fewer returns, fewer costly reverse-logistics hits.</a:t>
            </a:r>
            <a:endParaRPr sz="1300">
              <a:solidFill>
                <a:srgbClr val="4B5563"/>
              </a:solidFill>
              <a:latin typeface="Inter"/>
              <a:ea typeface="Inter"/>
              <a:cs typeface="Inter"/>
              <a:sym typeface="Inter"/>
            </a:endParaRPr>
          </a:p>
        </p:txBody>
      </p:sp>
      <p:sp>
        <p:nvSpPr>
          <p:cNvPr id="138" name="Google Shape;138;g3d836f29ee0_0_0"/>
          <p:cNvSpPr/>
          <p:nvPr/>
        </p:nvSpPr>
        <p:spPr>
          <a:xfrm>
            <a:off x="685800" y="2377440"/>
            <a:ext cx="54900" cy="1051500"/>
          </a:xfrm>
          <a:prstGeom prst="rect">
            <a:avLst/>
          </a:prstGeom>
          <a:solidFill>
            <a:srgbClr val="05966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9" name="Google Shape;139;g3d836f29ee0_0_0"/>
          <p:cNvSpPr/>
          <p:nvPr/>
        </p:nvSpPr>
        <p:spPr>
          <a:xfrm>
            <a:off x="914400" y="2377440"/>
            <a:ext cx="7315200" cy="292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11827"/>
              </a:buClr>
              <a:buSzPts val="1600"/>
              <a:buFont typeface="Inter"/>
              <a:buNone/>
            </a:pPr>
            <a:r>
              <a:rPr b="1" lang="en-US" sz="1600">
                <a:solidFill>
                  <a:srgbClr val="111827"/>
                </a:solidFill>
                <a:latin typeface="Inter"/>
                <a:ea typeface="Inter"/>
                <a:cs typeface="Inter"/>
                <a:sym typeface="Inter"/>
              </a:rPr>
              <a:t>Vernacular + natural-language queries</a:t>
            </a:r>
            <a:endParaRPr b="0" i="0" sz="1600" u="none" cap="none" strike="noStrike">
              <a:solidFill>
                <a:schemeClr val="dk1"/>
              </a:solidFill>
              <a:latin typeface="Calibri"/>
              <a:ea typeface="Calibri"/>
              <a:cs typeface="Calibri"/>
              <a:sym typeface="Calibri"/>
            </a:endParaRPr>
          </a:p>
        </p:txBody>
      </p:sp>
      <p:sp>
        <p:nvSpPr>
          <p:cNvPr id="140" name="Google Shape;140;g3d836f29ee0_0_0"/>
          <p:cNvSpPr/>
          <p:nvPr/>
        </p:nvSpPr>
        <p:spPr>
          <a:xfrm>
            <a:off x="914400" y="2724900"/>
            <a:ext cx="8229600" cy="640200"/>
          </a:xfrm>
          <a:prstGeom prst="rect">
            <a:avLst/>
          </a:prstGeom>
          <a:noFill/>
          <a:ln>
            <a:noFill/>
          </a:ln>
        </p:spPr>
        <p:txBody>
          <a:bodyPr anchorCtr="0" anchor="ctr" bIns="0" lIns="0" spcFirstLastPara="1" rIns="0" wrap="square" tIns="0">
            <a:noAutofit/>
          </a:bodyPr>
          <a:lstStyle/>
          <a:p>
            <a:pPr indent="-342900" lvl="0" marL="342900" marR="0" rtl="0" algn="l">
              <a:spcBef>
                <a:spcPts val="400"/>
              </a:spcBef>
              <a:spcAft>
                <a:spcPts val="0"/>
              </a:spcAft>
              <a:buClr>
                <a:srgbClr val="4B5563"/>
              </a:buClr>
              <a:buSzPts val="1300"/>
              <a:buFont typeface="Inter"/>
              <a:buChar char="•"/>
            </a:pPr>
            <a:r>
              <a:rPr lang="en-US" sz="1300">
                <a:solidFill>
                  <a:srgbClr val="4B5563"/>
                </a:solidFill>
                <a:latin typeface="Inter"/>
                <a:ea typeface="Inter"/>
                <a:cs typeface="Inter"/>
                <a:sym typeface="Inter"/>
              </a:rPr>
              <a:t>Hindi, Tamil, Telugu and Bengali queries mapped correctly to the English catalog — palang → bed, almirah → wardrobe, diwan → daybed, mandir → pooja unit.</a:t>
            </a:r>
            <a:endParaRPr sz="1300">
              <a:solidFill>
                <a:srgbClr val="4B5563"/>
              </a:solidFill>
              <a:latin typeface="Inter"/>
              <a:ea typeface="Inter"/>
              <a:cs typeface="Inter"/>
              <a:sym typeface="Inter"/>
            </a:endParaRPr>
          </a:p>
          <a:p>
            <a:pPr indent="-342900" lvl="0" marL="342900" marR="0" rtl="0" algn="l">
              <a:spcBef>
                <a:spcPts val="400"/>
              </a:spcBef>
              <a:spcAft>
                <a:spcPts val="0"/>
              </a:spcAft>
              <a:buClr>
                <a:srgbClr val="4B5563"/>
              </a:buClr>
              <a:buSzPts val="1300"/>
              <a:buFont typeface="Inter"/>
              <a:buChar char="•"/>
            </a:pPr>
            <a:r>
              <a:rPr lang="en-US" sz="1300">
                <a:solidFill>
                  <a:srgbClr val="4B5563"/>
                </a:solidFill>
                <a:latin typeface="Inter"/>
                <a:ea typeface="Inter"/>
                <a:cs typeface="Inter"/>
                <a:sym typeface="Inter"/>
              </a:rPr>
              <a:t>Natural-language queries like “just moved into a new 2BHK, what do I need” resolve to a curated shortlist instead of 0 results.</a:t>
            </a:r>
            <a:endParaRPr sz="1300">
              <a:solidFill>
                <a:srgbClr val="4B5563"/>
              </a:solidFill>
              <a:latin typeface="Inter"/>
              <a:ea typeface="Inter"/>
              <a:cs typeface="Inter"/>
              <a:sym typeface="Inter"/>
            </a:endParaRPr>
          </a:p>
          <a:p>
            <a:pPr indent="-342900" lvl="0" marL="342900" marR="0" rtl="0" algn="l">
              <a:spcBef>
                <a:spcPts val="400"/>
              </a:spcBef>
              <a:spcAft>
                <a:spcPts val="0"/>
              </a:spcAft>
              <a:buClr>
                <a:srgbClr val="4B5563"/>
              </a:buClr>
              <a:buSzPts val="1300"/>
              <a:buFont typeface="Inter"/>
              <a:buChar char="•"/>
            </a:pPr>
            <a:r>
              <a:rPr lang="en-US" sz="1300">
                <a:solidFill>
                  <a:srgbClr val="4B5563"/>
                </a:solidFill>
                <a:latin typeface="Inter"/>
                <a:ea typeface="Inter"/>
                <a:cs typeface="Inter"/>
                <a:sym typeface="Inter"/>
              </a:rPr>
              <a:t>Unlocks tier-2 and tier-3 cities where vernacular and conversational phrasing are the first language of search.</a:t>
            </a:r>
            <a:endParaRPr sz="1300">
              <a:solidFill>
                <a:srgbClr val="4B5563"/>
              </a:solidFill>
              <a:latin typeface="Inter"/>
              <a:ea typeface="Inter"/>
              <a:cs typeface="Inter"/>
              <a:sym typeface="Inter"/>
            </a:endParaRPr>
          </a:p>
        </p:txBody>
      </p:sp>
      <p:sp>
        <p:nvSpPr>
          <p:cNvPr id="141" name="Google Shape;141;g3d836f29ee0_0_0"/>
          <p:cNvSpPr/>
          <p:nvPr/>
        </p:nvSpPr>
        <p:spPr>
          <a:xfrm>
            <a:off x="685800" y="3657600"/>
            <a:ext cx="54900" cy="1051500"/>
          </a:xfrm>
          <a:prstGeom prst="rect">
            <a:avLst/>
          </a:prstGeom>
          <a:solidFill>
            <a:srgbClr val="7C3AE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2" name="Google Shape;142;g3d836f29ee0_0_0"/>
          <p:cNvSpPr/>
          <p:nvPr/>
        </p:nvSpPr>
        <p:spPr>
          <a:xfrm>
            <a:off x="914400" y="3783675"/>
            <a:ext cx="7315200" cy="1665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11827"/>
              </a:buClr>
              <a:buSzPts val="1600"/>
              <a:buFont typeface="Inter"/>
              <a:buNone/>
            </a:pPr>
            <a:r>
              <a:rPr b="1" lang="en-US" sz="1600">
                <a:solidFill>
                  <a:srgbClr val="111827"/>
                </a:solidFill>
                <a:latin typeface="Inter"/>
                <a:ea typeface="Inter"/>
                <a:cs typeface="Inter"/>
                <a:sym typeface="Inter"/>
              </a:rPr>
              <a:t>App Storefront on ChatGPT</a:t>
            </a:r>
            <a:endParaRPr b="1" sz="1600">
              <a:solidFill>
                <a:srgbClr val="111827"/>
              </a:solidFill>
              <a:latin typeface="Inter"/>
              <a:ea typeface="Inter"/>
              <a:cs typeface="Inter"/>
              <a:sym typeface="Inter"/>
            </a:endParaRPr>
          </a:p>
        </p:txBody>
      </p:sp>
      <p:sp>
        <p:nvSpPr>
          <p:cNvPr id="143" name="Google Shape;143;g3d836f29ee0_0_0"/>
          <p:cNvSpPr/>
          <p:nvPr/>
        </p:nvSpPr>
        <p:spPr>
          <a:xfrm>
            <a:off x="914400" y="3905525"/>
            <a:ext cx="8155200" cy="931500"/>
          </a:xfrm>
          <a:prstGeom prst="rect">
            <a:avLst/>
          </a:prstGeom>
          <a:noFill/>
          <a:ln>
            <a:noFill/>
          </a:ln>
        </p:spPr>
        <p:txBody>
          <a:bodyPr anchorCtr="0" anchor="ctr" bIns="0" lIns="0" spcFirstLastPara="1" rIns="0" wrap="square" tIns="0">
            <a:noAutofit/>
          </a:bodyPr>
          <a:lstStyle/>
          <a:p>
            <a:pPr indent="-342900" lvl="0" marL="342900" marR="0" rtl="0" algn="l">
              <a:spcBef>
                <a:spcPts val="400"/>
              </a:spcBef>
              <a:spcAft>
                <a:spcPts val="0"/>
              </a:spcAft>
              <a:buClr>
                <a:srgbClr val="4B5563"/>
              </a:buClr>
              <a:buSzPts val="1300"/>
              <a:buFont typeface="Inter"/>
              <a:buChar char="•"/>
            </a:pPr>
            <a:r>
              <a:rPr lang="en-US" sz="1300">
                <a:solidFill>
                  <a:srgbClr val="4B5563"/>
                </a:solidFill>
                <a:latin typeface="Inter"/>
                <a:ea typeface="Inter"/>
                <a:cs typeface="Inter"/>
                <a:sym typeface="Inter"/>
              </a:rPr>
              <a:t>40% of buyers now start their furniture research on ChatGPT / Gemini / Perplexity before visiting a brand site.</a:t>
            </a:r>
            <a:endParaRPr sz="1300">
              <a:solidFill>
                <a:srgbClr val="4B5563"/>
              </a:solidFill>
              <a:latin typeface="Inter"/>
              <a:ea typeface="Inter"/>
              <a:cs typeface="Inter"/>
              <a:sym typeface="Inter"/>
            </a:endParaRPr>
          </a:p>
          <a:p>
            <a:pPr indent="-342900" lvl="0" marL="342900" marR="0" rtl="0" algn="l">
              <a:spcBef>
                <a:spcPts val="400"/>
              </a:spcBef>
              <a:spcAft>
                <a:spcPts val="0"/>
              </a:spcAft>
              <a:buClr>
                <a:srgbClr val="4B5563"/>
              </a:buClr>
              <a:buSzPts val="1300"/>
              <a:buFont typeface="Inter"/>
              <a:buChar char="•"/>
            </a:pPr>
            <a:r>
              <a:rPr lang="en-US" sz="1300">
                <a:solidFill>
                  <a:srgbClr val="4B5563"/>
                </a:solidFill>
                <a:latin typeface="Inter"/>
                <a:ea typeface="Inter"/>
                <a:cs typeface="Inter"/>
                <a:sym typeface="Inter"/>
              </a:rPr>
              <a:t>Your catalog becomes shoppable inside the AI conversation — product imagery, dimensions, finishes, and lifestyle context surfaced natively.</a:t>
            </a:r>
            <a:endParaRPr sz="1300">
              <a:solidFill>
                <a:srgbClr val="4B5563"/>
              </a:solidFill>
              <a:latin typeface="Inter"/>
              <a:ea typeface="Inter"/>
              <a:cs typeface="Inter"/>
              <a:sym typeface="Inter"/>
            </a:endParaRPr>
          </a:p>
          <a:p>
            <a:pPr indent="-342900" lvl="0" marL="342900" marR="0" rtl="0" algn="l">
              <a:spcBef>
                <a:spcPts val="400"/>
              </a:spcBef>
              <a:spcAft>
                <a:spcPts val="0"/>
              </a:spcAft>
              <a:buClr>
                <a:srgbClr val="4B5563"/>
              </a:buClr>
              <a:buSzPts val="1300"/>
              <a:buFont typeface="Inter"/>
              <a:buChar char="•"/>
            </a:pPr>
            <a:r>
              <a:rPr lang="en-US" sz="1300">
                <a:solidFill>
                  <a:srgbClr val="4B5563"/>
                </a:solidFill>
                <a:latin typeface="Inter"/>
                <a:ea typeface="Inter"/>
                <a:cs typeface="Inter"/>
                <a:sym typeface="Inter"/>
              </a:rPr>
              <a:t>Wayfair, Home Depot, Lowe’s and IKEA are already exposing catalogs to AI agents. Works across every platform, not just one.</a:t>
            </a:r>
            <a:endParaRPr sz="1300">
              <a:solidFill>
                <a:srgbClr val="4B5563"/>
              </a:solidFill>
              <a:latin typeface="Inter"/>
              <a:ea typeface="Inter"/>
              <a:cs typeface="Inter"/>
              <a:sym typeface="Inter"/>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8" name="Shape 148"/>
        <p:cNvGrpSpPr/>
        <p:nvPr/>
      </p:nvGrpSpPr>
      <p:grpSpPr>
        <a:xfrm>
          <a:off x="0" y="0"/>
          <a:ext cx="0" cy="0"/>
          <a:chOff x="0" y="0"/>
          <a:chExt cx="0" cy="0"/>
        </a:xfrm>
      </p:grpSpPr>
      <p:sp>
        <p:nvSpPr>
          <p:cNvPr id="149" name="Google Shape;149;p11"/>
          <p:cNvSpPr txBox="1"/>
          <p:nvPr/>
        </p:nvSpPr>
        <p:spPr>
          <a:xfrm>
            <a:off x="378375" y="239300"/>
            <a:ext cx="8572500" cy="4206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rgbClr val="000000"/>
              </a:buClr>
              <a:buSzPts val="1500"/>
              <a:buFont typeface="Arial"/>
              <a:buNone/>
            </a:pPr>
            <a:r>
              <a:rPr b="1" i="0" lang="en-US" sz="1500" u="none" cap="none" strike="noStrike">
                <a:solidFill>
                  <a:srgbClr val="000000"/>
                </a:solidFill>
                <a:latin typeface="Arial"/>
                <a:ea typeface="Arial"/>
                <a:cs typeface="Arial"/>
                <a:sym typeface="Arial"/>
              </a:rPr>
              <a:t>Examples of queries with intent being mapped to keywords using knowledge context graph</a:t>
            </a:r>
            <a:endParaRPr b="1" i="0" sz="1500" u="none" cap="none" strike="noStrike">
              <a:solidFill>
                <a:srgbClr val="000000"/>
              </a:solidFill>
              <a:latin typeface="Arial"/>
              <a:ea typeface="Arial"/>
              <a:cs typeface="Arial"/>
              <a:sym typeface="Arial"/>
            </a:endParaRPr>
          </a:p>
        </p:txBody>
      </p:sp>
      <p:pic>
        <p:nvPicPr>
          <p:cNvPr id="150" name="Picture 149" descr="furniture_graph.png"/>
          <p:cNvPicPr>
            <a:picLocks noChangeAspect="1"/>
          </p:cNvPicPr>
          <p:nvPr/>
        </p:nvPicPr>
        <p:blipFill>
          <a:blip r:embed="rId4"/>
          <a:stretch>
            <a:fillRect/>
          </a:stretch>
        </p:blipFill>
        <p:spPr>
          <a:xfrm>
            <a:off x="152400" y="812300"/>
            <a:ext cx="8839197" cy="4080397"/>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4" name="Shape 154"/>
        <p:cNvGrpSpPr/>
        <p:nvPr/>
      </p:nvGrpSpPr>
      <p:grpSpPr>
        <a:xfrm>
          <a:off x="0" y="0"/>
          <a:ext cx="0" cy="0"/>
          <a:chOff x="0" y="0"/>
          <a:chExt cx="0" cy="0"/>
        </a:xfrm>
      </p:grpSpPr>
      <p:sp>
        <p:nvSpPr>
          <p:cNvPr id="155" name="Google Shape;155;p12"/>
          <p:cNvSpPr/>
          <p:nvPr/>
        </p:nvSpPr>
        <p:spPr>
          <a:xfrm>
            <a:off x="0" y="0"/>
            <a:ext cx="9144000" cy="36576"/>
          </a:xfrm>
          <a:prstGeom prst="rect">
            <a:avLst/>
          </a:prstGeom>
          <a:solidFill>
            <a:srgbClr val="2563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6" name="Google Shape;156;p12"/>
          <p:cNvSpPr/>
          <p:nvPr/>
        </p:nvSpPr>
        <p:spPr>
          <a:xfrm>
            <a:off x="308950" y="177335"/>
            <a:ext cx="7772400" cy="5943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11827"/>
              </a:buClr>
              <a:buSzPts val="2800"/>
              <a:buFont typeface="Inter"/>
              <a:buNone/>
            </a:pPr>
            <a:r>
              <a:rPr b="1" i="0" lang="en-US" sz="2300" u="none" cap="none" strike="noStrike">
                <a:solidFill>
                  <a:srgbClr val="111827"/>
                </a:solidFill>
                <a:latin typeface="Inter"/>
                <a:ea typeface="Inter"/>
                <a:cs typeface="Inter"/>
                <a:sym typeface="Inter"/>
              </a:rPr>
              <a:t>Your AI sales associate doesn't just search — it sells</a:t>
            </a:r>
            <a:endParaRPr b="0" i="0" sz="2300" u="none" cap="none" strike="noStrike">
              <a:solidFill>
                <a:schemeClr val="dk1"/>
              </a:solidFill>
              <a:latin typeface="Calibri"/>
              <a:ea typeface="Calibri"/>
              <a:cs typeface="Calibri"/>
              <a:sym typeface="Calibri"/>
            </a:endParaRPr>
          </a:p>
        </p:txBody>
      </p:sp>
      <p:sp>
        <p:nvSpPr>
          <p:cNvPr id="157" name="Google Shape;157;p12"/>
          <p:cNvSpPr/>
          <p:nvPr/>
        </p:nvSpPr>
        <p:spPr>
          <a:xfrm>
            <a:off x="308950" y="908855"/>
            <a:ext cx="54900" cy="1051500"/>
          </a:xfrm>
          <a:prstGeom prst="rect">
            <a:avLst/>
          </a:prstGeom>
          <a:solidFill>
            <a:srgbClr val="2563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200" u="none" cap="none" strike="noStrike">
              <a:solidFill>
                <a:srgbClr val="000000"/>
              </a:solidFill>
              <a:latin typeface="Arial"/>
              <a:ea typeface="Arial"/>
              <a:cs typeface="Arial"/>
              <a:sym typeface="Arial"/>
            </a:endParaRPr>
          </a:p>
        </p:txBody>
      </p:sp>
      <p:sp>
        <p:nvSpPr>
          <p:cNvPr id="158" name="Google Shape;158;p12"/>
          <p:cNvSpPr/>
          <p:nvPr/>
        </p:nvSpPr>
        <p:spPr>
          <a:xfrm>
            <a:off x="537550" y="867701"/>
            <a:ext cx="7315200" cy="2076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11827"/>
              </a:buClr>
              <a:buSzPts val="1600"/>
              <a:buFont typeface="Inter"/>
              <a:buNone/>
            </a:pPr>
            <a:r>
              <a:rPr b="1" i="0" lang="en-US" u="none" cap="none" strike="noStrike">
                <a:solidFill>
                  <a:srgbClr val="111827"/>
                </a:solidFill>
                <a:latin typeface="Inter"/>
                <a:ea typeface="Inter"/>
                <a:cs typeface="Inter"/>
                <a:sym typeface="Inter"/>
              </a:rPr>
              <a:t>Guided discovery → conversion lift</a:t>
            </a:r>
            <a:endParaRPr b="0" i="0" u="none" cap="none" strike="noStrike">
              <a:solidFill>
                <a:schemeClr val="dk1"/>
              </a:solidFill>
              <a:latin typeface="Calibri"/>
              <a:ea typeface="Calibri"/>
              <a:cs typeface="Calibri"/>
              <a:sym typeface="Calibri"/>
            </a:endParaRPr>
          </a:p>
        </p:txBody>
      </p:sp>
      <p:sp>
        <p:nvSpPr>
          <p:cNvPr id="159" name="Google Shape;159;p12"/>
          <p:cNvSpPr/>
          <p:nvPr/>
        </p:nvSpPr>
        <p:spPr>
          <a:xfrm>
            <a:off x="537550" y="1302150"/>
            <a:ext cx="7896300" cy="594300"/>
          </a:xfrm>
          <a:prstGeom prst="rect">
            <a:avLst/>
          </a:prstGeom>
          <a:noFill/>
          <a:ln>
            <a:noFill/>
          </a:ln>
        </p:spPr>
        <p:txBody>
          <a:bodyPr anchorCtr="0" anchor="ctr" bIns="0" lIns="0" spcFirstLastPara="1" rIns="0" wrap="square" tIns="0">
            <a:noAutofit/>
          </a:bodyPr>
          <a:lstStyle/>
          <a:p>
            <a:pPr indent="-330200" lvl="0" marL="342900" marR="0" rtl="0" algn="l">
              <a:lnSpc>
                <a:spcPct val="100000"/>
              </a:lnSpc>
              <a:spcBef>
                <a:spcPts val="0"/>
              </a:spcBef>
              <a:spcAft>
                <a:spcPts val="0"/>
              </a:spcAft>
              <a:buClr>
                <a:srgbClr val="4B5563"/>
              </a:buClr>
              <a:buSzPts val="1100"/>
              <a:buFont typeface="Inter"/>
              <a:buChar char="•"/>
            </a:pPr>
            <a:r>
              <a:rPr b="0" i="0" lang="en-US" sz="1100" u="none" cap="none" strike="noStrike">
                <a:solidFill>
                  <a:srgbClr val="4B5563"/>
                </a:solidFill>
                <a:latin typeface="Inter"/>
                <a:ea typeface="Inter"/>
                <a:cs typeface="Inter"/>
                <a:sym typeface="Inter"/>
              </a:rPr>
              <a:t>Like your best sales associate, it clarifies intent instead of dumping a catalog — asks the right follow-up questions (occasion, budget, use-case, room dimensions/style) before suggesting anything.</a:t>
            </a:r>
            <a:endParaRPr b="0" i="0" sz="1100" u="none" cap="none" strike="noStrike">
              <a:solidFill>
                <a:schemeClr val="dk1"/>
              </a:solidFill>
              <a:latin typeface="Calibri"/>
              <a:ea typeface="Calibri"/>
              <a:cs typeface="Calibri"/>
              <a:sym typeface="Calibri"/>
            </a:endParaRPr>
          </a:p>
          <a:p>
            <a:pPr indent="-330200" lvl="0" marL="342900" marR="0" rtl="0" algn="l">
              <a:lnSpc>
                <a:spcPct val="100000"/>
              </a:lnSpc>
              <a:spcBef>
                <a:spcPts val="400"/>
              </a:spcBef>
              <a:spcAft>
                <a:spcPts val="0"/>
              </a:spcAft>
              <a:buClr>
                <a:srgbClr val="4B5563"/>
              </a:buClr>
              <a:buSzPts val="1100"/>
              <a:buFont typeface="Inter"/>
              <a:buChar char="•"/>
            </a:pPr>
            <a:r>
              <a:rPr b="0" i="0" lang="en-US" sz="1100" u="none" cap="none" strike="noStrike">
                <a:solidFill>
                  <a:srgbClr val="4B5563"/>
                </a:solidFill>
                <a:latin typeface="Inter"/>
                <a:ea typeface="Inter"/>
                <a:cs typeface="Inter"/>
                <a:sym typeface="Inter"/>
              </a:rPr>
              <a:t>4x conversion uplift for conversational vs keyword — 12.3% vs 3.1% (Rep AI 2025 Ecommerce Shopper Behavior Report).</a:t>
            </a:r>
            <a:endParaRPr b="0" i="0" sz="1100" u="none" cap="none" strike="noStrike">
              <a:solidFill>
                <a:schemeClr val="dk1"/>
              </a:solidFill>
              <a:latin typeface="Calibri"/>
              <a:ea typeface="Calibri"/>
              <a:cs typeface="Calibri"/>
              <a:sym typeface="Calibri"/>
            </a:endParaRPr>
          </a:p>
          <a:p>
            <a:pPr indent="-330200" lvl="0" marL="342900" marR="0" rtl="0" algn="l">
              <a:lnSpc>
                <a:spcPct val="100000"/>
              </a:lnSpc>
              <a:spcBef>
                <a:spcPts val="400"/>
              </a:spcBef>
              <a:spcAft>
                <a:spcPts val="0"/>
              </a:spcAft>
              <a:buClr>
                <a:srgbClr val="4B5563"/>
              </a:buClr>
              <a:buSzPts val="1100"/>
              <a:buFont typeface="Inter"/>
              <a:buChar char="•"/>
            </a:pPr>
            <a:r>
              <a:rPr b="0" i="0" lang="en-US" sz="1100" u="none" cap="none" strike="noStrike">
                <a:solidFill>
                  <a:srgbClr val="4B5563"/>
                </a:solidFill>
                <a:latin typeface="Inter"/>
                <a:ea typeface="Inter"/>
                <a:cs typeface="Inter"/>
                <a:sym typeface="Inter"/>
              </a:rPr>
              <a:t>Zalando's AI assistant rollout tied to 18% YoY profitability lift — proof the impact shows up in the P&amp;L.</a:t>
            </a:r>
            <a:endParaRPr b="0" i="0" sz="1100" u="none" cap="none" strike="noStrike">
              <a:solidFill>
                <a:schemeClr val="dk1"/>
              </a:solidFill>
              <a:latin typeface="Calibri"/>
              <a:ea typeface="Calibri"/>
              <a:cs typeface="Calibri"/>
              <a:sym typeface="Calibri"/>
            </a:endParaRPr>
          </a:p>
        </p:txBody>
      </p:sp>
      <p:sp>
        <p:nvSpPr>
          <p:cNvPr id="160" name="Google Shape;160;p12"/>
          <p:cNvSpPr/>
          <p:nvPr/>
        </p:nvSpPr>
        <p:spPr>
          <a:xfrm>
            <a:off x="308950" y="2189015"/>
            <a:ext cx="54900" cy="1051500"/>
          </a:xfrm>
          <a:prstGeom prst="rect">
            <a:avLst/>
          </a:prstGeom>
          <a:solidFill>
            <a:srgbClr val="059669"/>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200" u="none" cap="none" strike="noStrike">
              <a:solidFill>
                <a:srgbClr val="000000"/>
              </a:solidFill>
              <a:latin typeface="Arial"/>
              <a:ea typeface="Arial"/>
              <a:cs typeface="Arial"/>
              <a:sym typeface="Arial"/>
            </a:endParaRPr>
          </a:p>
        </p:txBody>
      </p:sp>
      <p:sp>
        <p:nvSpPr>
          <p:cNvPr id="161" name="Google Shape;161;p12"/>
          <p:cNvSpPr/>
          <p:nvPr/>
        </p:nvSpPr>
        <p:spPr>
          <a:xfrm>
            <a:off x="537550" y="2189015"/>
            <a:ext cx="7315200" cy="2925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11827"/>
              </a:buClr>
              <a:buSzPts val="1600"/>
              <a:buFont typeface="Inter"/>
              <a:buNone/>
            </a:pPr>
            <a:r>
              <a:rPr b="1" i="0" lang="en-US" u="none" cap="none" strike="noStrike">
                <a:solidFill>
                  <a:srgbClr val="111827"/>
                </a:solidFill>
                <a:latin typeface="Inter"/>
                <a:ea typeface="Inter"/>
                <a:cs typeface="Inter"/>
                <a:sym typeface="Inter"/>
              </a:rPr>
              <a:t>Room-grade cross-sell → AOV lift</a:t>
            </a:r>
            <a:endParaRPr b="0" i="0" u="none" cap="none" strike="noStrike">
              <a:solidFill>
                <a:schemeClr val="dk1"/>
              </a:solidFill>
              <a:latin typeface="Calibri"/>
              <a:ea typeface="Calibri"/>
              <a:cs typeface="Calibri"/>
              <a:sym typeface="Calibri"/>
            </a:endParaRPr>
          </a:p>
        </p:txBody>
      </p:sp>
      <p:sp>
        <p:nvSpPr>
          <p:cNvPr id="162" name="Google Shape;162;p12"/>
          <p:cNvSpPr/>
          <p:nvPr/>
        </p:nvSpPr>
        <p:spPr>
          <a:xfrm>
            <a:off x="537550" y="2536475"/>
            <a:ext cx="8229600" cy="640200"/>
          </a:xfrm>
          <a:prstGeom prst="rect">
            <a:avLst/>
          </a:prstGeom>
          <a:noFill/>
          <a:ln>
            <a:noFill/>
          </a:ln>
        </p:spPr>
        <p:txBody>
          <a:bodyPr anchorCtr="0" anchor="ctr" bIns="0" lIns="0" spcFirstLastPara="1" rIns="0" wrap="square" tIns="0">
            <a:noAutofit/>
          </a:bodyPr>
          <a:lstStyle/>
          <a:p>
            <a:pPr indent="-330200" lvl="0" marL="342900" marR="0" rtl="0" algn="l">
              <a:lnSpc>
                <a:spcPct val="100000"/>
              </a:lnSpc>
              <a:spcBef>
                <a:spcPts val="0"/>
              </a:spcBef>
              <a:spcAft>
                <a:spcPts val="0"/>
              </a:spcAft>
              <a:buClr>
                <a:srgbClr val="4B5563"/>
              </a:buClr>
              <a:buSzPts val="1100"/>
              <a:buFont typeface="Inter"/>
              <a:buChar char="•"/>
            </a:pPr>
            <a:r>
              <a:rPr b="0" i="0" lang="en-US" sz="1100" u="none" cap="none" strike="noStrike">
                <a:solidFill>
                  <a:srgbClr val="4B5563"/>
                </a:solidFill>
                <a:latin typeface="Inter"/>
                <a:ea typeface="Inter"/>
                <a:cs typeface="Inter"/>
                <a:sym typeface="Inter"/>
              </a:rPr>
              <a:t>Assistant knows what pairs with what — matching accessories, complementary items, a complete bedroom or living room instead of a single SKU.</a:t>
            </a:r>
            <a:endParaRPr b="0" i="0" sz="1100" u="none" cap="none" strike="noStrike">
              <a:solidFill>
                <a:schemeClr val="dk1"/>
              </a:solidFill>
              <a:latin typeface="Calibri"/>
              <a:ea typeface="Calibri"/>
              <a:cs typeface="Calibri"/>
              <a:sym typeface="Calibri"/>
            </a:endParaRPr>
          </a:p>
          <a:p>
            <a:pPr indent="-330200" lvl="0" marL="342900" marR="0" rtl="0" algn="l">
              <a:lnSpc>
                <a:spcPct val="100000"/>
              </a:lnSpc>
              <a:spcBef>
                <a:spcPts val="400"/>
              </a:spcBef>
              <a:spcAft>
                <a:spcPts val="0"/>
              </a:spcAft>
              <a:buClr>
                <a:srgbClr val="4B5563"/>
              </a:buClr>
              <a:buSzPts val="1100"/>
              <a:buFont typeface="Inter"/>
              <a:buChar char="•"/>
            </a:pPr>
            <a:r>
              <a:rPr b="0" i="0" lang="en-US" sz="1100" u="none" cap="none" strike="noStrike">
                <a:solidFill>
                  <a:srgbClr val="4B5563"/>
                </a:solidFill>
                <a:latin typeface="Inter"/>
                <a:ea typeface="Inter"/>
                <a:cs typeface="Inter"/>
                <a:sym typeface="Inter"/>
              </a:rPr>
              <a:t>Single-item sessions become full room sets — every add-to-cart becomes an opening for a second, third, fourth item.</a:t>
            </a:r>
            <a:endParaRPr b="0" i="0" sz="1100" u="none" cap="none" strike="noStrike">
              <a:solidFill>
                <a:schemeClr val="dk1"/>
              </a:solidFill>
              <a:latin typeface="Calibri"/>
              <a:ea typeface="Calibri"/>
              <a:cs typeface="Calibri"/>
              <a:sym typeface="Calibri"/>
            </a:endParaRPr>
          </a:p>
          <a:p>
            <a:pPr indent="-330200" lvl="0" marL="342900" marR="0" rtl="0" algn="l">
              <a:lnSpc>
                <a:spcPct val="100000"/>
              </a:lnSpc>
              <a:spcBef>
                <a:spcPts val="400"/>
              </a:spcBef>
              <a:spcAft>
                <a:spcPts val="0"/>
              </a:spcAft>
              <a:buClr>
                <a:srgbClr val="4B5563"/>
              </a:buClr>
              <a:buSzPts val="1100"/>
              <a:buFont typeface="Inter"/>
              <a:buChar char="•"/>
            </a:pPr>
            <a:r>
              <a:rPr b="0" i="0" lang="en-US" sz="1100" u="none" cap="none" strike="noStrike">
                <a:solidFill>
                  <a:srgbClr val="4B5563"/>
                </a:solidFill>
                <a:latin typeface="Inter"/>
                <a:ea typeface="Inter"/>
                <a:cs typeface="Inter"/>
                <a:sym typeface="Inter"/>
              </a:rPr>
              <a:t>Nosto: when search works, 78% of shoppers also buy an additional item — the assistant is the conversion engine for that second buy.</a:t>
            </a:r>
            <a:endParaRPr b="0" i="0" sz="1100" u="none" cap="none" strike="noStrike">
              <a:solidFill>
                <a:schemeClr val="dk1"/>
              </a:solidFill>
              <a:latin typeface="Calibri"/>
              <a:ea typeface="Calibri"/>
              <a:cs typeface="Calibri"/>
              <a:sym typeface="Calibri"/>
            </a:endParaRPr>
          </a:p>
        </p:txBody>
      </p:sp>
      <p:sp>
        <p:nvSpPr>
          <p:cNvPr id="163" name="Google Shape;163;p12"/>
          <p:cNvSpPr/>
          <p:nvPr/>
        </p:nvSpPr>
        <p:spPr>
          <a:xfrm>
            <a:off x="308950" y="3469175"/>
            <a:ext cx="54900" cy="1051500"/>
          </a:xfrm>
          <a:prstGeom prst="rect">
            <a:avLst/>
          </a:prstGeom>
          <a:solidFill>
            <a:srgbClr val="7C3A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200" u="none" cap="none" strike="noStrike">
              <a:solidFill>
                <a:srgbClr val="000000"/>
              </a:solidFill>
              <a:latin typeface="Arial"/>
              <a:ea typeface="Arial"/>
              <a:cs typeface="Arial"/>
              <a:sym typeface="Arial"/>
            </a:endParaRPr>
          </a:p>
        </p:txBody>
      </p:sp>
      <p:sp>
        <p:nvSpPr>
          <p:cNvPr id="164" name="Google Shape;164;p12"/>
          <p:cNvSpPr/>
          <p:nvPr/>
        </p:nvSpPr>
        <p:spPr>
          <a:xfrm>
            <a:off x="537550" y="3469175"/>
            <a:ext cx="7315200" cy="2925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11827"/>
              </a:buClr>
              <a:buSzPts val="1600"/>
              <a:buFont typeface="Inter"/>
              <a:buNone/>
            </a:pPr>
            <a:r>
              <a:rPr b="1" i="0" lang="en-US" u="none" cap="none" strike="noStrike">
                <a:solidFill>
                  <a:srgbClr val="111827"/>
                </a:solidFill>
                <a:latin typeface="Inter"/>
                <a:ea typeface="Inter"/>
                <a:cs typeface="Inter"/>
                <a:sym typeface="Inter"/>
              </a:rPr>
              <a:t>Intent rescue → keep shoppers on site</a:t>
            </a:r>
            <a:endParaRPr b="0" i="0" u="none" cap="none" strike="noStrike">
              <a:solidFill>
                <a:schemeClr val="dk1"/>
              </a:solidFill>
              <a:latin typeface="Calibri"/>
              <a:ea typeface="Calibri"/>
              <a:cs typeface="Calibri"/>
              <a:sym typeface="Calibri"/>
            </a:endParaRPr>
          </a:p>
        </p:txBody>
      </p:sp>
      <p:sp>
        <p:nvSpPr>
          <p:cNvPr id="165" name="Google Shape;165;p12"/>
          <p:cNvSpPr/>
          <p:nvPr/>
        </p:nvSpPr>
        <p:spPr>
          <a:xfrm>
            <a:off x="537550" y="3898950"/>
            <a:ext cx="8155200" cy="749700"/>
          </a:xfrm>
          <a:prstGeom prst="rect">
            <a:avLst/>
          </a:prstGeom>
          <a:noFill/>
          <a:ln>
            <a:noFill/>
          </a:ln>
        </p:spPr>
        <p:txBody>
          <a:bodyPr anchorCtr="0" anchor="ctr" bIns="0" lIns="0" spcFirstLastPara="1" rIns="0" wrap="square" tIns="0">
            <a:noAutofit/>
          </a:bodyPr>
          <a:lstStyle/>
          <a:p>
            <a:pPr indent="-330200" lvl="0" marL="342900" marR="0" rtl="0" algn="l">
              <a:lnSpc>
                <a:spcPct val="100000"/>
              </a:lnSpc>
              <a:spcBef>
                <a:spcPts val="0"/>
              </a:spcBef>
              <a:spcAft>
                <a:spcPts val="0"/>
              </a:spcAft>
              <a:buClr>
                <a:srgbClr val="4B5563"/>
              </a:buClr>
              <a:buSzPts val="1100"/>
              <a:buFont typeface="Inter"/>
              <a:buChar char="•"/>
            </a:pPr>
            <a:r>
              <a:rPr b="0" i="0" lang="en-US" sz="1100" u="none" cap="none" strike="noStrike">
                <a:solidFill>
                  <a:srgbClr val="4B5563"/>
                </a:solidFill>
                <a:latin typeface="Inter"/>
                <a:ea typeface="Inter"/>
                <a:cs typeface="Inter"/>
                <a:sym typeface="Inter"/>
              </a:rPr>
              <a:t>Vague, intent-shaped queries become a curated shortlist instead of thousands of random results.</a:t>
            </a:r>
            <a:endParaRPr b="0" i="0" sz="1100" u="none" cap="none" strike="noStrike">
              <a:solidFill>
                <a:schemeClr val="dk1"/>
              </a:solidFill>
              <a:latin typeface="Calibri"/>
              <a:ea typeface="Calibri"/>
              <a:cs typeface="Calibri"/>
              <a:sym typeface="Calibri"/>
            </a:endParaRPr>
          </a:p>
          <a:p>
            <a:pPr indent="-330200" lvl="0" marL="342900" marR="0" rtl="0" algn="l">
              <a:lnSpc>
                <a:spcPct val="100000"/>
              </a:lnSpc>
              <a:spcBef>
                <a:spcPts val="400"/>
              </a:spcBef>
              <a:spcAft>
                <a:spcPts val="0"/>
              </a:spcAft>
              <a:buClr>
                <a:srgbClr val="4B5563"/>
              </a:buClr>
              <a:buSzPts val="1100"/>
              <a:buFont typeface="Inter"/>
              <a:buChar char="•"/>
            </a:pPr>
            <a:r>
              <a:rPr b="0" i="0" lang="en-US" sz="1100" u="none" cap="none" strike="noStrike">
                <a:solidFill>
                  <a:srgbClr val="4B5563"/>
                </a:solidFill>
                <a:latin typeface="Inter"/>
                <a:ea typeface="Inter"/>
                <a:cs typeface="Inter"/>
                <a:sym typeface="Inter"/>
              </a:rPr>
              <a:t>80% of shoppers leave a site due to poor search — the assistant plugs that leak before the session bounces (Nosto).</a:t>
            </a:r>
            <a:endParaRPr b="0" i="0" sz="1100" u="none" cap="none" strike="noStrike">
              <a:solidFill>
                <a:srgbClr val="4B5563"/>
              </a:solidFill>
              <a:latin typeface="Inter"/>
              <a:ea typeface="Inter"/>
              <a:cs typeface="Inter"/>
              <a:sym typeface="Inter"/>
            </a:endParaRPr>
          </a:p>
          <a:p>
            <a:pPr indent="-330200" lvl="0" marL="342900" marR="0" rtl="0" algn="l">
              <a:lnSpc>
                <a:spcPct val="100000"/>
              </a:lnSpc>
              <a:spcBef>
                <a:spcPts val="400"/>
              </a:spcBef>
              <a:spcAft>
                <a:spcPts val="0"/>
              </a:spcAft>
              <a:buClr>
                <a:srgbClr val="4B5563"/>
              </a:buClr>
              <a:buSzPts val="1100"/>
              <a:buFont typeface="Inter"/>
              <a:buChar char="•"/>
            </a:pPr>
            <a:r>
              <a:rPr b="0" i="0" lang="en-US" sz="1100" u="none" cap="none" strike="noStrike">
                <a:solidFill>
                  <a:srgbClr val="4B5563"/>
                </a:solidFill>
                <a:latin typeface="Inter"/>
                <a:ea typeface="Inter"/>
                <a:cs typeface="Inter"/>
                <a:sym typeface="Inter"/>
              </a:rPr>
              <a:t>Myntra's MyFashionGPT: users 3x more likely to purchase through the assistant than through keyword search.</a:t>
            </a:r>
            <a:endParaRPr b="0" i="0" sz="1100" u="none" cap="none" strike="noStrike">
              <a:solidFill>
                <a:srgbClr val="4B5563"/>
              </a:solidFill>
              <a:latin typeface="Inter"/>
              <a:ea typeface="Inter"/>
              <a:cs typeface="Inter"/>
              <a:sym typeface="Inter"/>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70" name="Shape 170"/>
        <p:cNvGrpSpPr/>
        <p:nvPr/>
      </p:nvGrpSpPr>
      <p:grpSpPr>
        <a:xfrm>
          <a:off x="0" y="0"/>
          <a:ext cx="0" cy="0"/>
          <a:chOff x="0" y="0"/>
          <a:chExt cx="0" cy="0"/>
        </a:xfrm>
      </p:grpSpPr>
      <p:sp>
        <p:nvSpPr>
          <p:cNvPr id="171" name="Google Shape;171;p13"/>
          <p:cNvSpPr/>
          <p:nvPr/>
        </p:nvSpPr>
        <p:spPr>
          <a:xfrm>
            <a:off x="0" y="0"/>
            <a:ext cx="9144000" cy="36576"/>
          </a:xfrm>
          <a:prstGeom prst="rect">
            <a:avLst/>
          </a:prstGeom>
          <a:solidFill>
            <a:srgbClr val="2563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2" name="Google Shape;172;p13"/>
          <p:cNvSpPr/>
          <p:nvPr/>
        </p:nvSpPr>
        <p:spPr>
          <a:xfrm>
            <a:off x="685800" y="365760"/>
            <a:ext cx="7772400" cy="5943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11827"/>
              </a:buClr>
              <a:buSzPts val="2800"/>
              <a:buFont typeface="Inter"/>
              <a:buNone/>
            </a:pPr>
            <a:r>
              <a:rPr b="1" i="0" lang="en-US" sz="2800" u="none" cap="none" strike="noStrike">
                <a:solidFill>
                  <a:srgbClr val="111827"/>
                </a:solidFill>
                <a:latin typeface="Inter"/>
                <a:ea typeface="Inter"/>
                <a:cs typeface="Inter"/>
                <a:sym typeface="Inter"/>
              </a:rPr>
              <a:t>How SuperSearch is different</a:t>
            </a:r>
            <a:endParaRPr b="0" i="0" sz="2800" u="none" cap="none" strike="noStrike">
              <a:solidFill>
                <a:schemeClr val="dk1"/>
              </a:solidFill>
              <a:latin typeface="Calibri"/>
              <a:ea typeface="Calibri"/>
              <a:cs typeface="Calibri"/>
              <a:sym typeface="Calibri"/>
            </a:endParaRPr>
          </a:p>
        </p:txBody>
      </p:sp>
      <p:graphicFrame>
        <p:nvGraphicFramePr>
          <p:cNvPr id="173" name="Google Shape;173;p13"/>
          <p:cNvGraphicFramePr/>
          <p:nvPr/>
        </p:nvGraphicFramePr>
        <p:xfrm>
          <a:off x="685800" y="1097280"/>
          <a:ext cx="3000000" cy="3000000"/>
        </p:xfrm>
        <a:graphic>
          <a:graphicData uri="http://schemas.openxmlformats.org/drawingml/2006/table">
            <a:tbl>
              <a:tblPr>
                <a:noFill/>
                <a:tableStyleId>{A667869B-1F53-4C99-AD8D-8728D57326FD}</a:tableStyleId>
              </a:tblPr>
              <a:tblGrid>
                <a:gridCol w="2011675"/>
                <a:gridCol w="1828800"/>
                <a:gridCol w="1920250"/>
                <a:gridCol w="2011675"/>
              </a:tblGrid>
              <a:tr h="365750">
                <a:tc>
                  <a:txBody>
                    <a:bodyPr/>
                    <a:lstStyle/>
                    <a:p>
                      <a:pPr indent="0" lvl="0" marL="0" marR="0" rtl="0" algn="l">
                        <a:lnSpc>
                          <a:spcPct val="100000"/>
                        </a:lnSpc>
                        <a:spcBef>
                          <a:spcPts val="0"/>
                        </a:spcBef>
                        <a:spcAft>
                          <a:spcPts val="0"/>
                        </a:spcAft>
                        <a:buClr>
                          <a:schemeClr val="dk1"/>
                        </a:buClr>
                        <a:buSzPts val="1000"/>
                        <a:buFont typeface="Calibri"/>
                        <a:buNone/>
                      </a:pPr>
                      <a:r>
                        <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solidFill>
                      <a:srgbClr val="111827"/>
                    </a:solidFill>
                  </a:tcPr>
                </a:tc>
                <a:tc>
                  <a:txBody>
                    <a:bodyPr/>
                    <a:lstStyle/>
                    <a:p>
                      <a:pPr indent="0" lvl="0" marL="0" marR="0" rtl="0" algn="l">
                        <a:lnSpc>
                          <a:spcPct val="100000"/>
                        </a:lnSpc>
                        <a:spcBef>
                          <a:spcPts val="0"/>
                        </a:spcBef>
                        <a:spcAft>
                          <a:spcPts val="0"/>
                        </a:spcAft>
                        <a:buClr>
                          <a:srgbClr val="FFFFFF"/>
                        </a:buClr>
                        <a:buSzPts val="1000"/>
                        <a:buFont typeface="Inter"/>
                        <a:buNone/>
                      </a:pPr>
                      <a:r>
                        <a:rPr b="1" lang="en-US" sz="1000" u="none" cap="none" strike="noStrike">
                          <a:solidFill>
                            <a:srgbClr val="FFFFFF"/>
                          </a:solidFill>
                          <a:latin typeface="Inter"/>
                          <a:ea typeface="Inter"/>
                          <a:cs typeface="Inter"/>
                          <a:sym typeface="Inter"/>
                        </a:rPr>
                        <a:t>Keyword Search</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solidFill>
                      <a:srgbClr val="111827"/>
                    </a:solidFill>
                  </a:tcPr>
                </a:tc>
                <a:tc>
                  <a:txBody>
                    <a:bodyPr/>
                    <a:lstStyle/>
                    <a:p>
                      <a:pPr indent="0" lvl="0" marL="0" marR="0" rtl="0" algn="l">
                        <a:lnSpc>
                          <a:spcPct val="100000"/>
                        </a:lnSpc>
                        <a:spcBef>
                          <a:spcPts val="0"/>
                        </a:spcBef>
                        <a:spcAft>
                          <a:spcPts val="0"/>
                        </a:spcAft>
                        <a:buClr>
                          <a:srgbClr val="FFFFFF"/>
                        </a:buClr>
                        <a:buSzPts val="1000"/>
                        <a:buFont typeface="Inter"/>
                        <a:buNone/>
                      </a:pPr>
                      <a:r>
                        <a:rPr b="1" lang="en-US" sz="1000" u="none" cap="none" strike="noStrike">
                          <a:solidFill>
                            <a:srgbClr val="FFFFFF"/>
                          </a:solidFill>
                          <a:latin typeface="Inter"/>
                          <a:ea typeface="Inter"/>
                          <a:cs typeface="Inter"/>
                          <a:sym typeface="Inter"/>
                        </a:rPr>
                        <a:t>Pure LLM</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solidFill>
                      <a:srgbClr val="111827"/>
                    </a:solidFill>
                  </a:tcPr>
                </a:tc>
                <a:tc>
                  <a:txBody>
                    <a:bodyPr/>
                    <a:lstStyle/>
                    <a:p>
                      <a:pPr indent="0" lvl="0" marL="0" marR="0" rtl="0" algn="l">
                        <a:lnSpc>
                          <a:spcPct val="100000"/>
                        </a:lnSpc>
                        <a:spcBef>
                          <a:spcPts val="0"/>
                        </a:spcBef>
                        <a:spcAft>
                          <a:spcPts val="0"/>
                        </a:spcAft>
                        <a:buClr>
                          <a:srgbClr val="FFFFFF"/>
                        </a:buClr>
                        <a:buSzPts val="1000"/>
                        <a:buFont typeface="Inter"/>
                        <a:buNone/>
                      </a:pPr>
                      <a:r>
                        <a:rPr b="1" lang="en-US" sz="1000" u="none" cap="none" strike="noStrike">
                          <a:solidFill>
                            <a:srgbClr val="FFFFFF"/>
                          </a:solidFill>
                          <a:latin typeface="Inter"/>
                          <a:ea typeface="Inter"/>
                          <a:cs typeface="Inter"/>
                          <a:sym typeface="Inter"/>
                        </a:rPr>
                        <a:t>SuperSearch</a:t>
                      </a:r>
                      <a:endParaRPr sz="1000" u="none" cap="none" strike="noStrike">
                        <a:latin typeface="Inter"/>
                        <a:ea typeface="Inter"/>
                        <a:cs typeface="Inter"/>
                        <a:sym typeface="Inter"/>
                      </a:endParaRPr>
                    </a:p>
                    <a:p>
                      <a:pPr indent="0" lvl="0" marL="0" marR="0" rtl="0" algn="l">
                        <a:lnSpc>
                          <a:spcPct val="100000"/>
                        </a:lnSpc>
                        <a:spcBef>
                          <a:spcPts val="0"/>
                        </a:spcBef>
                        <a:spcAft>
                          <a:spcPts val="0"/>
                        </a:spcAft>
                        <a:buClr>
                          <a:srgbClr val="FFFFFF"/>
                        </a:buClr>
                        <a:buSzPts val="1000"/>
                        <a:buFont typeface="Inter"/>
                        <a:buNone/>
                      </a:pPr>
                      <a:r>
                        <a:rPr b="1" lang="en-US" sz="1000" u="none" cap="none" strike="noStrike">
                          <a:solidFill>
                            <a:srgbClr val="FFFFFF"/>
                          </a:solidFill>
                          <a:latin typeface="Inter"/>
                          <a:ea typeface="Inter"/>
                          <a:cs typeface="Inter"/>
                          <a:sym typeface="Inter"/>
                        </a:rPr>
                        <a:t>(Graph + LLM)</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solidFill>
                      <a:srgbClr val="111827"/>
                    </a:solidFill>
                  </a:tcPr>
                </a:tc>
              </a:tr>
              <a:tr h="365750">
                <a:tc>
                  <a:txBody>
                    <a:bodyPr/>
                    <a:lstStyle/>
                    <a:p>
                      <a:pPr indent="0" lvl="0" marL="0" marR="0" rtl="0" algn="l">
                        <a:lnSpc>
                          <a:spcPct val="100000"/>
                        </a:lnSpc>
                        <a:spcBef>
                          <a:spcPts val="0"/>
                        </a:spcBef>
                        <a:spcAft>
                          <a:spcPts val="0"/>
                        </a:spcAft>
                        <a:buClr>
                          <a:srgbClr val="111827"/>
                        </a:buClr>
                        <a:buSzPts val="1000"/>
                        <a:buFont typeface="Inter"/>
                        <a:buNone/>
                      </a:pPr>
                      <a:r>
                        <a:rPr b="1" lang="en-US" sz="1000" u="none" cap="none" strike="noStrike">
                          <a:solidFill>
                            <a:srgbClr val="111827"/>
                          </a:solidFill>
                          <a:latin typeface="Inter"/>
                          <a:ea typeface="Inter"/>
                          <a:cs typeface="Inter"/>
                          <a:sym typeface="Inter"/>
                        </a:rPr>
                        <a:t>Simple query</a:t>
                      </a:r>
                      <a:endParaRPr sz="1000" u="none" cap="none" strike="noStrike">
                        <a:latin typeface="Inter"/>
                        <a:ea typeface="Inter"/>
                        <a:cs typeface="Inter"/>
                        <a:sym typeface="Inter"/>
                      </a:endParaRPr>
                    </a:p>
                    <a:p>
                      <a:pPr indent="0" lvl="0" marL="0" marR="0" rtl="0" algn="l">
                        <a:lnSpc>
                          <a:spcPct val="100000"/>
                        </a:lnSpc>
                        <a:spcBef>
                          <a:spcPts val="0"/>
                        </a:spcBef>
                        <a:spcAft>
                          <a:spcPts val="0"/>
                        </a:spcAft>
                        <a:buClr>
                          <a:srgbClr val="111827"/>
                        </a:buClr>
                        <a:buSzPts val="1000"/>
                        <a:buFont typeface="Inter"/>
                        <a:buNone/>
                      </a:pPr>
                      <a:r>
                        <a:rPr b="1" lang="en-US" sz="1000" u="none" cap="none" strike="noStrike">
                          <a:solidFill>
                            <a:srgbClr val="111827"/>
                          </a:solidFill>
                          <a:latin typeface="Inter"/>
                          <a:ea typeface="Inter"/>
                          <a:cs typeface="Inter"/>
                          <a:sym typeface="Inter"/>
                        </a:rPr>
                        <a:t>queen size bed</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059669"/>
                        </a:buClr>
                        <a:buSzPts val="1000"/>
                        <a:buFont typeface="Inter"/>
                        <a:buNone/>
                      </a:pPr>
                      <a:r>
                        <a:rPr lang="en-US" sz="1000" u="none" cap="none" strike="noStrike">
                          <a:solidFill>
                            <a:srgbClr val="059669"/>
                          </a:solidFill>
                          <a:latin typeface="Inter"/>
                          <a:ea typeface="Inter"/>
                          <a:cs typeface="Inter"/>
                          <a:sym typeface="Inter"/>
                        </a:rPr>
                        <a:t>Handles well</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059669"/>
                        </a:buClr>
                        <a:buSzPts val="1000"/>
                        <a:buFont typeface="Inter"/>
                        <a:buNone/>
                      </a:pPr>
                      <a:r>
                        <a:rPr lang="en-US" sz="1000" u="none" cap="none" strike="noStrike">
                          <a:solidFill>
                            <a:srgbClr val="059669"/>
                          </a:solidFill>
                          <a:latin typeface="Inter"/>
                          <a:ea typeface="Inter"/>
                          <a:cs typeface="Inter"/>
                          <a:sym typeface="Inter"/>
                        </a:rPr>
                        <a:t>Handles well</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059669"/>
                        </a:buClr>
                        <a:buSzPts val="1000"/>
                        <a:buFont typeface="Inter"/>
                        <a:buNone/>
                      </a:pPr>
                      <a:r>
                        <a:rPr lang="en-US" sz="1000" u="none" cap="none" strike="noStrike">
                          <a:solidFill>
                            <a:srgbClr val="059669"/>
                          </a:solidFill>
                          <a:latin typeface="Inter"/>
                          <a:ea typeface="Inter"/>
                          <a:cs typeface="Inter"/>
                          <a:sym typeface="Inter"/>
                        </a:rPr>
                        <a:t>Handles well</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r>
              <a:tr h="411475">
                <a:tc>
                  <a:txBody>
                    <a:bodyPr/>
                    <a:lstStyle/>
                    <a:p>
                      <a:pPr indent="0" lvl="0" marL="0" marR="0" rtl="0" algn="l">
                        <a:lnSpc>
                          <a:spcPct val="100000"/>
                        </a:lnSpc>
                        <a:spcBef>
                          <a:spcPts val="0"/>
                        </a:spcBef>
                        <a:spcAft>
                          <a:spcPts val="0"/>
                        </a:spcAft>
                        <a:buClr>
                          <a:srgbClr val="111827"/>
                        </a:buClr>
                        <a:buSzPts val="1000"/>
                        <a:buFont typeface="Inter"/>
                        <a:buNone/>
                      </a:pPr>
                      <a:r>
                        <a:rPr b="1" lang="en-US" sz="1000" u="none" cap="none" strike="noStrike">
                          <a:solidFill>
                            <a:srgbClr val="111827"/>
                          </a:solidFill>
                          <a:latin typeface="Inter"/>
                          <a:ea typeface="Inter"/>
                          <a:cs typeface="Inter"/>
                          <a:sym typeface="Inter"/>
                        </a:rPr>
                        <a:t>Synonym query</a:t>
                      </a:r>
                      <a:endParaRPr sz="1000" u="none" cap="none" strike="noStrike">
                        <a:latin typeface="Inter"/>
                        <a:ea typeface="Inter"/>
                        <a:cs typeface="Inter"/>
                        <a:sym typeface="Inter"/>
                      </a:endParaRPr>
                    </a:p>
                    <a:p>
                      <a:pPr indent="0" lvl="0" marL="0" marR="0" rtl="0" algn="l">
                        <a:lnSpc>
                          <a:spcPct val="100000"/>
                        </a:lnSpc>
                        <a:spcBef>
                          <a:spcPts val="0"/>
                        </a:spcBef>
                        <a:spcAft>
                          <a:spcPts val="0"/>
                        </a:spcAft>
                        <a:buClr>
                          <a:srgbClr val="111827"/>
                        </a:buClr>
                        <a:buSzPts val="1000"/>
                        <a:buFont typeface="Inter"/>
                        <a:buNone/>
                      </a:pPr>
                      <a:r>
                        <a:rPr b="1" lang="en-US" sz="1000" u="none" cap="none" strike="noStrike">
                          <a:solidFill>
                            <a:srgbClr val="111827"/>
                          </a:solidFill>
                          <a:latin typeface="Inter"/>
                          <a:ea typeface="Inter"/>
                          <a:cs typeface="Inter"/>
                          <a:sym typeface="Inter"/>
                        </a:rPr>
                        <a:t>almirah / sofa cum bed</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DC2626"/>
                        </a:buClr>
                        <a:buSzPts val="1000"/>
                        <a:buFont typeface="Inter"/>
                        <a:buNone/>
                      </a:pPr>
                      <a:r>
                        <a:rPr lang="en-US" sz="1000" u="none" cap="none" strike="noStrike">
                          <a:solidFill>
                            <a:srgbClr val="DC2626"/>
                          </a:solidFill>
                          <a:latin typeface="Inter"/>
                          <a:ea typeface="Inter"/>
                          <a:cs typeface="Inter"/>
                          <a:sym typeface="Inter"/>
                        </a:rPr>
                        <a:t>Not supported</a:t>
                      </a:r>
                      <a:endParaRPr sz="1000" u="none" cap="none" strike="noStrike">
                        <a:latin typeface="Inter"/>
                        <a:ea typeface="Inter"/>
                        <a:cs typeface="Inter"/>
                        <a:sym typeface="Inter"/>
                      </a:endParaRPr>
                    </a:p>
                    <a:p>
                      <a:pPr indent="0" lvl="0" marL="0" marR="0" rtl="0" algn="l">
                        <a:lnSpc>
                          <a:spcPct val="100000"/>
                        </a:lnSpc>
                        <a:spcBef>
                          <a:spcPts val="0"/>
                        </a:spcBef>
                        <a:spcAft>
                          <a:spcPts val="0"/>
                        </a:spcAft>
                        <a:buClr>
                          <a:srgbClr val="DC2626"/>
                        </a:buClr>
                        <a:buSzPts val="1000"/>
                        <a:buFont typeface="Inter"/>
                        <a:buNone/>
                      </a:pPr>
                      <a:r>
                        <a:rPr lang="en-US" sz="1000" u="none" cap="none" strike="noStrike">
                          <a:solidFill>
                            <a:srgbClr val="DC2626"/>
                          </a:solidFill>
                          <a:latin typeface="Inter"/>
                          <a:ea typeface="Inter"/>
                          <a:cs typeface="Inter"/>
                          <a:sym typeface="Inter"/>
                        </a:rPr>
                        <a:t>(no synonym bridging)</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D97706"/>
                        </a:buClr>
                        <a:buSzPts val="1000"/>
                        <a:buFont typeface="Inter"/>
                        <a:buNone/>
                      </a:pPr>
                      <a:r>
                        <a:rPr lang="en-US" sz="1000" u="none" cap="none" strike="noStrike">
                          <a:solidFill>
                            <a:srgbClr val="D97706"/>
                          </a:solidFill>
                          <a:latin typeface="Inter"/>
                          <a:ea typeface="Inter"/>
                          <a:cs typeface="Inter"/>
                          <a:sym typeface="Inter"/>
                        </a:rPr>
                        <a:t>May work</a:t>
                      </a:r>
                      <a:endParaRPr sz="1000" u="none" cap="none" strike="noStrike">
                        <a:latin typeface="Inter"/>
                        <a:ea typeface="Inter"/>
                        <a:cs typeface="Inter"/>
                        <a:sym typeface="Inter"/>
                      </a:endParaRPr>
                    </a:p>
                    <a:p>
                      <a:pPr indent="0" lvl="0" marL="0" marR="0" rtl="0" algn="l">
                        <a:lnSpc>
                          <a:spcPct val="100000"/>
                        </a:lnSpc>
                        <a:spcBef>
                          <a:spcPts val="0"/>
                        </a:spcBef>
                        <a:spcAft>
                          <a:spcPts val="0"/>
                        </a:spcAft>
                        <a:buClr>
                          <a:srgbClr val="D97706"/>
                        </a:buClr>
                        <a:buSzPts val="1000"/>
                        <a:buFont typeface="Inter"/>
                        <a:buNone/>
                      </a:pPr>
                      <a:r>
                        <a:rPr lang="en-US" sz="1000" u="none" cap="none" strike="noStrike">
                          <a:solidFill>
                            <a:srgbClr val="D97706"/>
                          </a:solidFill>
                          <a:latin typeface="Inter"/>
                          <a:ea typeface="Inter"/>
                          <a:cs typeface="Inter"/>
                          <a:sym typeface="Inter"/>
                        </a:rPr>
                        <a:t>(depends on training data)</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059669"/>
                        </a:buClr>
                        <a:buSzPts val="1000"/>
                        <a:buFont typeface="Inter"/>
                        <a:buNone/>
                      </a:pPr>
                      <a:r>
                        <a:rPr lang="en-US" sz="1000" u="none" cap="none" strike="noStrike">
                          <a:solidFill>
                            <a:srgbClr val="059669"/>
                          </a:solidFill>
                          <a:latin typeface="Inter"/>
                          <a:ea typeface="Inter"/>
                          <a:cs typeface="Inter"/>
                          <a:sym typeface="Inter"/>
                        </a:rPr>
                        <a:t>Handles via</a:t>
                      </a:r>
                      <a:endParaRPr sz="1000" u="none" cap="none" strike="noStrike">
                        <a:latin typeface="Inter"/>
                        <a:ea typeface="Inter"/>
                        <a:cs typeface="Inter"/>
                        <a:sym typeface="Inter"/>
                      </a:endParaRPr>
                    </a:p>
                    <a:p>
                      <a:pPr indent="0" lvl="0" marL="0" marR="0" rtl="0" algn="l">
                        <a:lnSpc>
                          <a:spcPct val="100000"/>
                        </a:lnSpc>
                        <a:spcBef>
                          <a:spcPts val="0"/>
                        </a:spcBef>
                        <a:spcAft>
                          <a:spcPts val="0"/>
                        </a:spcAft>
                        <a:buClr>
                          <a:srgbClr val="059669"/>
                        </a:buClr>
                        <a:buSzPts val="1000"/>
                        <a:buFont typeface="Inter"/>
                        <a:buNone/>
                      </a:pPr>
                      <a:r>
                        <a:rPr lang="en-US" sz="1000" u="none" cap="none" strike="noStrike">
                          <a:solidFill>
                            <a:srgbClr val="059669"/>
                          </a:solidFill>
                          <a:latin typeface="Inter"/>
                          <a:ea typeface="Inter"/>
                          <a:cs typeface="Inter"/>
                          <a:sym typeface="Inter"/>
                        </a:rPr>
                        <a:t>vocabulary graph</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r>
              <a:tr h="411475">
                <a:tc>
                  <a:txBody>
                    <a:bodyPr/>
                    <a:lstStyle/>
                    <a:p>
                      <a:pPr indent="0" lvl="0" marL="0" marR="0" rtl="0" algn="l">
                        <a:lnSpc>
                          <a:spcPct val="100000"/>
                        </a:lnSpc>
                        <a:spcBef>
                          <a:spcPts val="0"/>
                        </a:spcBef>
                        <a:spcAft>
                          <a:spcPts val="0"/>
                        </a:spcAft>
                        <a:buClr>
                          <a:srgbClr val="111827"/>
                        </a:buClr>
                        <a:buSzPts val="1000"/>
                        <a:buFont typeface="Inter"/>
                        <a:buNone/>
                      </a:pPr>
                      <a:r>
                        <a:rPr b="1" lang="en-US" sz="1000" u="none" cap="none" strike="noStrike">
                          <a:solidFill>
                            <a:srgbClr val="111827"/>
                          </a:solidFill>
                          <a:latin typeface="Inter"/>
                          <a:ea typeface="Inter"/>
                          <a:cs typeface="Inter"/>
                          <a:sym typeface="Inter"/>
                        </a:rPr>
                        <a:t>Occasion query</a:t>
                      </a:r>
                      <a:endParaRPr sz="1000" u="none" cap="none" strike="noStrike">
                        <a:latin typeface="Inter"/>
                        <a:ea typeface="Inter"/>
                        <a:cs typeface="Inter"/>
                        <a:sym typeface="Inter"/>
                      </a:endParaRPr>
                    </a:p>
                    <a:p>
                      <a:pPr indent="0" lvl="0" marL="0" marR="0" rtl="0" algn="l">
                        <a:lnSpc>
                          <a:spcPct val="100000"/>
                        </a:lnSpc>
                        <a:spcBef>
                          <a:spcPts val="0"/>
                        </a:spcBef>
                        <a:spcAft>
                          <a:spcPts val="0"/>
                        </a:spcAft>
                        <a:buClr>
                          <a:srgbClr val="111827"/>
                        </a:buClr>
                        <a:buSzPts val="1000"/>
                        <a:buFont typeface="Inter"/>
                        <a:buNone/>
                      </a:pPr>
                      <a:r>
                        <a:rPr b="1" lang="en-US" sz="1000" u="none" cap="none" strike="noStrike">
                          <a:solidFill>
                            <a:srgbClr val="111827"/>
                          </a:solidFill>
                          <a:latin typeface="Inter"/>
                          <a:ea typeface="Inter"/>
                          <a:cs typeface="Inter"/>
                          <a:sym typeface="Inter"/>
                        </a:rPr>
                        <a:t>furniture for new 2bhk apartment</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DC2626"/>
                        </a:buClr>
                        <a:buSzPts val="1000"/>
                        <a:buFont typeface="Inter"/>
                        <a:buNone/>
                      </a:pPr>
                      <a:r>
                        <a:rPr lang="en-US" sz="1000" u="none" cap="none" strike="noStrike">
                          <a:solidFill>
                            <a:srgbClr val="DC2626"/>
                          </a:solidFill>
                          <a:latin typeface="Inter"/>
                          <a:ea typeface="Inter"/>
                          <a:cs typeface="Inter"/>
                          <a:sym typeface="Inter"/>
                        </a:rPr>
                        <a:t>Not supported</a:t>
                      </a:r>
                      <a:endParaRPr sz="1000" u="none" cap="none" strike="noStrike">
                        <a:latin typeface="Inter"/>
                        <a:ea typeface="Inter"/>
                        <a:cs typeface="Inter"/>
                        <a:sym typeface="Inter"/>
                      </a:endParaRPr>
                    </a:p>
                    <a:p>
                      <a:pPr indent="0" lvl="0" marL="0" marR="0" rtl="0" algn="l">
                        <a:lnSpc>
                          <a:spcPct val="100000"/>
                        </a:lnSpc>
                        <a:spcBef>
                          <a:spcPts val="0"/>
                        </a:spcBef>
                        <a:spcAft>
                          <a:spcPts val="0"/>
                        </a:spcAft>
                        <a:buClr>
                          <a:srgbClr val="DC2626"/>
                        </a:buClr>
                        <a:buSzPts val="1000"/>
                        <a:buFont typeface="Inter"/>
                        <a:buNone/>
                      </a:pPr>
                      <a:r>
                        <a:rPr lang="en-US" sz="1000" u="none" cap="none" strike="noStrike">
                          <a:solidFill>
                            <a:srgbClr val="DC2626"/>
                          </a:solidFill>
                          <a:latin typeface="Inter"/>
                          <a:ea typeface="Inter"/>
                          <a:cs typeface="Inter"/>
                          <a:sym typeface="Inter"/>
                        </a:rPr>
                        <a:t>(no intent mapping)</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D97706"/>
                        </a:buClr>
                        <a:buSzPts val="1000"/>
                        <a:buFont typeface="Inter"/>
                        <a:buNone/>
                      </a:pPr>
                      <a:r>
                        <a:rPr lang="en-US" sz="1000" u="none" cap="none" strike="noStrike">
                          <a:solidFill>
                            <a:srgbClr val="D97706"/>
                          </a:solidFill>
                          <a:latin typeface="Inter"/>
                          <a:ea typeface="Inter"/>
                          <a:cs typeface="Inter"/>
                          <a:sym typeface="Inter"/>
                        </a:rPr>
                        <a:t>Generic suggestions</a:t>
                      </a:r>
                      <a:endParaRPr sz="1000" u="none" cap="none" strike="noStrike">
                        <a:latin typeface="Inter"/>
                        <a:ea typeface="Inter"/>
                        <a:cs typeface="Inter"/>
                        <a:sym typeface="Inter"/>
                      </a:endParaRPr>
                    </a:p>
                    <a:p>
                      <a:pPr indent="0" lvl="0" marL="0" marR="0" rtl="0" algn="l">
                        <a:lnSpc>
                          <a:spcPct val="100000"/>
                        </a:lnSpc>
                        <a:spcBef>
                          <a:spcPts val="0"/>
                        </a:spcBef>
                        <a:spcAft>
                          <a:spcPts val="0"/>
                        </a:spcAft>
                        <a:buClr>
                          <a:srgbClr val="D97706"/>
                        </a:buClr>
                        <a:buSzPts val="1000"/>
                        <a:buFont typeface="Inter"/>
                        <a:buNone/>
                      </a:pPr>
                      <a:r>
                        <a:rPr lang="en-US" sz="1000" u="none" cap="none" strike="noStrike">
                          <a:solidFill>
                            <a:srgbClr val="D97706"/>
                          </a:solidFill>
                          <a:latin typeface="Inter"/>
                          <a:ea typeface="Inter"/>
                          <a:cs typeface="Inter"/>
                          <a:sym typeface="Inter"/>
                        </a:rPr>
                        <a:t>(not catalog-aware)</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059669"/>
                        </a:buClr>
                        <a:buSzPts val="1000"/>
                        <a:buFont typeface="Inter"/>
                        <a:buNone/>
                      </a:pPr>
                      <a:r>
                        <a:rPr lang="en-US" sz="1000" u="none" cap="none" strike="noStrike">
                          <a:solidFill>
                            <a:srgbClr val="059669"/>
                          </a:solidFill>
                          <a:latin typeface="Inter"/>
                          <a:ea typeface="Inter"/>
                          <a:cs typeface="Inter"/>
                          <a:sym typeface="Inter"/>
                        </a:rPr>
                        <a:t>Maps to your</a:t>
                      </a:r>
                      <a:endParaRPr sz="1000" u="none" cap="none" strike="noStrike">
                        <a:latin typeface="Inter"/>
                        <a:ea typeface="Inter"/>
                        <a:cs typeface="Inter"/>
                        <a:sym typeface="Inter"/>
                      </a:endParaRPr>
                    </a:p>
                    <a:p>
                      <a:pPr indent="0" lvl="0" marL="0" marR="0" rtl="0" algn="l">
                        <a:lnSpc>
                          <a:spcPct val="100000"/>
                        </a:lnSpc>
                        <a:spcBef>
                          <a:spcPts val="0"/>
                        </a:spcBef>
                        <a:spcAft>
                          <a:spcPts val="0"/>
                        </a:spcAft>
                        <a:buClr>
                          <a:srgbClr val="059669"/>
                        </a:buClr>
                        <a:buSzPts val="1000"/>
                        <a:buFont typeface="Inter"/>
                        <a:buNone/>
                      </a:pPr>
                      <a:r>
                        <a:rPr lang="en-US" sz="1000" u="none" cap="none" strike="noStrike">
                          <a:solidFill>
                            <a:srgbClr val="059669"/>
                          </a:solidFill>
                          <a:latin typeface="Inter"/>
                          <a:ea typeface="Inter"/>
                          <a:cs typeface="Inter"/>
                          <a:sym typeface="Inter"/>
                        </a:rPr>
                        <a:t>actual products</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r>
              <a:tr h="411475">
                <a:tc>
                  <a:txBody>
                    <a:bodyPr/>
                    <a:lstStyle/>
                    <a:p>
                      <a:pPr indent="0" lvl="0" marL="0" marR="0" rtl="0" algn="l">
                        <a:lnSpc>
                          <a:spcPct val="100000"/>
                        </a:lnSpc>
                        <a:spcBef>
                          <a:spcPts val="0"/>
                        </a:spcBef>
                        <a:spcAft>
                          <a:spcPts val="0"/>
                        </a:spcAft>
                        <a:buClr>
                          <a:srgbClr val="111827"/>
                        </a:buClr>
                        <a:buSzPts val="1000"/>
                        <a:buFont typeface="Inter"/>
                        <a:buNone/>
                      </a:pPr>
                      <a:r>
                        <a:rPr b="1" lang="en-US" sz="1000" u="none" cap="none" strike="noStrike">
                          <a:solidFill>
                            <a:srgbClr val="111827"/>
                          </a:solidFill>
                          <a:latin typeface="Inter"/>
                          <a:ea typeface="Inter"/>
                          <a:cs typeface="Inter"/>
                          <a:sym typeface="Inter"/>
                        </a:rPr>
                        <a:t>Conversational query</a:t>
                      </a:r>
                      <a:endParaRPr sz="1000" u="none" cap="none" strike="noStrike">
                        <a:latin typeface="Inter"/>
                        <a:ea typeface="Inter"/>
                        <a:cs typeface="Inter"/>
                        <a:sym typeface="Inter"/>
                      </a:endParaRPr>
                    </a:p>
                    <a:p>
                      <a:pPr indent="0" lvl="0" marL="0" marR="0" rtl="0" algn="l">
                        <a:lnSpc>
                          <a:spcPct val="100000"/>
                        </a:lnSpc>
                        <a:spcBef>
                          <a:spcPts val="0"/>
                        </a:spcBef>
                        <a:spcAft>
                          <a:spcPts val="0"/>
                        </a:spcAft>
                        <a:buClr>
                          <a:srgbClr val="111827"/>
                        </a:buClr>
                        <a:buSzPts val="1000"/>
                        <a:buFont typeface="Inter"/>
                        <a:buNone/>
                      </a:pPr>
                      <a:r>
                        <a:rPr b="1" lang="en-US" sz="1000" u="none" cap="none" strike="noStrike">
                          <a:solidFill>
                            <a:srgbClr val="111827"/>
                          </a:solidFill>
                          <a:latin typeface="Inter"/>
                          <a:ea typeface="Inter"/>
                          <a:cs typeface="Inter"/>
                          <a:sym typeface="Inter"/>
                        </a:rPr>
                        <a:t>office chair for back pain while WFH</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DC2626"/>
                        </a:buClr>
                        <a:buSzPts val="1000"/>
                        <a:buFont typeface="Inter"/>
                        <a:buNone/>
                      </a:pPr>
                      <a:r>
                        <a:rPr lang="en-US" sz="1000" u="none" cap="none" strike="noStrike">
                          <a:solidFill>
                            <a:srgbClr val="DC2626"/>
                          </a:solidFill>
                          <a:latin typeface="Inter"/>
                          <a:ea typeface="Inter"/>
                          <a:cs typeface="Inter"/>
                          <a:sym typeface="Inter"/>
                        </a:rPr>
                        <a:t>Not supported</a:t>
                      </a:r>
                      <a:endParaRPr sz="1000" u="none" cap="none" strike="noStrike">
                        <a:latin typeface="Inter"/>
                        <a:ea typeface="Inter"/>
                        <a:cs typeface="Inter"/>
                        <a:sym typeface="Inter"/>
                      </a:endParaRPr>
                    </a:p>
                    <a:p>
                      <a:pPr indent="0" lvl="0" marL="0" marR="0" rtl="0" algn="l">
                        <a:lnSpc>
                          <a:spcPct val="100000"/>
                        </a:lnSpc>
                        <a:spcBef>
                          <a:spcPts val="0"/>
                        </a:spcBef>
                        <a:spcAft>
                          <a:spcPts val="0"/>
                        </a:spcAft>
                        <a:buClr>
                          <a:srgbClr val="DC2626"/>
                        </a:buClr>
                        <a:buSzPts val="1000"/>
                        <a:buFont typeface="Inter"/>
                        <a:buNone/>
                      </a:pPr>
                      <a:r>
                        <a:rPr lang="en-US" sz="1000" u="none" cap="none" strike="noStrike">
                          <a:solidFill>
                            <a:srgbClr val="DC2626"/>
                          </a:solidFill>
                          <a:latin typeface="Inter"/>
                          <a:ea typeface="Inter"/>
                          <a:cs typeface="Inter"/>
                          <a:sym typeface="Inter"/>
                        </a:rPr>
                        <a:t>(not designed for this)</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D97706"/>
                        </a:buClr>
                        <a:buSzPts val="1000"/>
                        <a:buFont typeface="Inter"/>
                        <a:buNone/>
                      </a:pPr>
                      <a:r>
                        <a:rPr lang="en-US" sz="1000" u="none" cap="none" strike="noStrike">
                          <a:solidFill>
                            <a:srgbClr val="D97706"/>
                          </a:solidFill>
                          <a:latin typeface="Inter"/>
                          <a:ea typeface="Inter"/>
                          <a:cs typeface="Inter"/>
                          <a:sym typeface="Inter"/>
                        </a:rPr>
                        <a:t>Generic answers</a:t>
                      </a:r>
                      <a:endParaRPr sz="1000" u="none" cap="none" strike="noStrike">
                        <a:latin typeface="Inter"/>
                        <a:ea typeface="Inter"/>
                        <a:cs typeface="Inter"/>
                        <a:sym typeface="Inter"/>
                      </a:endParaRPr>
                    </a:p>
                    <a:p>
                      <a:pPr indent="0" lvl="0" marL="0" marR="0" rtl="0" algn="l">
                        <a:lnSpc>
                          <a:spcPct val="100000"/>
                        </a:lnSpc>
                        <a:spcBef>
                          <a:spcPts val="0"/>
                        </a:spcBef>
                        <a:spcAft>
                          <a:spcPts val="0"/>
                        </a:spcAft>
                        <a:buClr>
                          <a:srgbClr val="D97706"/>
                        </a:buClr>
                        <a:buSzPts val="1000"/>
                        <a:buFont typeface="Inter"/>
                        <a:buNone/>
                      </a:pPr>
                      <a:r>
                        <a:rPr lang="en-US" sz="1000" u="none" cap="none" strike="noStrike">
                          <a:solidFill>
                            <a:srgbClr val="D97706"/>
                          </a:solidFill>
                          <a:latin typeface="Inter"/>
                          <a:ea typeface="Inter"/>
                          <a:cs typeface="Inter"/>
                          <a:sym typeface="Inter"/>
                        </a:rPr>
                        <a:t>(not your catalog)</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059669"/>
                        </a:buClr>
                        <a:buSzPts val="1000"/>
                        <a:buFont typeface="Inter"/>
                        <a:buNone/>
                      </a:pPr>
                      <a:r>
                        <a:rPr lang="en-US" sz="1000" u="none" cap="none" strike="noStrike">
                          <a:solidFill>
                            <a:srgbClr val="059669"/>
                          </a:solidFill>
                          <a:latin typeface="Inter"/>
                          <a:ea typeface="Inter"/>
                          <a:cs typeface="Inter"/>
                          <a:sym typeface="Inter"/>
                        </a:rPr>
                        <a:t>Returns your</a:t>
                      </a:r>
                      <a:endParaRPr sz="1000" u="none" cap="none" strike="noStrike">
                        <a:latin typeface="Inter"/>
                        <a:ea typeface="Inter"/>
                        <a:cs typeface="Inter"/>
                        <a:sym typeface="Inter"/>
                      </a:endParaRPr>
                    </a:p>
                    <a:p>
                      <a:pPr indent="0" lvl="0" marL="0" marR="0" rtl="0" algn="l">
                        <a:lnSpc>
                          <a:spcPct val="100000"/>
                        </a:lnSpc>
                        <a:spcBef>
                          <a:spcPts val="0"/>
                        </a:spcBef>
                        <a:spcAft>
                          <a:spcPts val="0"/>
                        </a:spcAft>
                        <a:buClr>
                          <a:srgbClr val="059669"/>
                        </a:buClr>
                        <a:buSzPts val="1000"/>
                        <a:buFont typeface="Inter"/>
                        <a:buNone/>
                      </a:pPr>
                      <a:r>
                        <a:rPr lang="en-US" sz="1000" u="none" cap="none" strike="noStrike">
                          <a:solidFill>
                            <a:srgbClr val="059669"/>
                          </a:solidFill>
                          <a:latin typeface="Inter"/>
                          <a:ea typeface="Inter"/>
                          <a:cs typeface="Inter"/>
                          <a:sym typeface="Inter"/>
                        </a:rPr>
                        <a:t>actual inventory</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r>
              <a:tr h="365750">
                <a:tc>
                  <a:txBody>
                    <a:bodyPr/>
                    <a:lstStyle/>
                    <a:p>
                      <a:pPr indent="0" lvl="0" marL="0" marR="0" rtl="0" algn="l">
                        <a:lnSpc>
                          <a:spcPct val="100000"/>
                        </a:lnSpc>
                        <a:spcBef>
                          <a:spcPts val="0"/>
                        </a:spcBef>
                        <a:spcAft>
                          <a:spcPts val="0"/>
                        </a:spcAft>
                        <a:buClr>
                          <a:srgbClr val="111827"/>
                        </a:buClr>
                        <a:buSzPts val="1000"/>
                        <a:buFont typeface="Inter"/>
                        <a:buNone/>
                      </a:pPr>
                      <a:r>
                        <a:rPr b="1" lang="en-US" sz="1000" u="none" cap="none" strike="noStrike">
                          <a:solidFill>
                            <a:srgbClr val="111827"/>
                          </a:solidFill>
                          <a:latin typeface="Inter"/>
                          <a:ea typeface="Inter"/>
                          <a:cs typeface="Inter"/>
                          <a:sym typeface="Inter"/>
                        </a:rPr>
                        <a:t>Cost at scale</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111827"/>
                        </a:buClr>
                        <a:buSzPts val="1000"/>
                        <a:buFont typeface="Inter"/>
                        <a:buNone/>
                      </a:pPr>
                      <a:r>
                        <a:rPr lang="en-US" sz="1000" u="none" cap="none" strike="noStrike">
                          <a:solidFill>
                            <a:srgbClr val="111827"/>
                          </a:solidFill>
                          <a:latin typeface="Inter"/>
                          <a:ea typeface="Inter"/>
                          <a:cs typeface="Inter"/>
                          <a:sym typeface="Inter"/>
                        </a:rPr>
                        <a:t>Low</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DC2626"/>
                        </a:buClr>
                        <a:buSzPts val="1000"/>
                        <a:buFont typeface="Inter"/>
                        <a:buNone/>
                      </a:pPr>
                      <a:r>
                        <a:rPr lang="en-US" sz="1000" u="none" cap="none" strike="noStrike">
                          <a:solidFill>
                            <a:srgbClr val="DC2626"/>
                          </a:solidFill>
                          <a:latin typeface="Inter"/>
                          <a:ea typeface="Inter"/>
                          <a:cs typeface="Inter"/>
                          <a:sym typeface="Inter"/>
                        </a:rPr>
                        <a:t>High</a:t>
                      </a:r>
                      <a:endParaRPr sz="1000" u="none" cap="none" strike="noStrike">
                        <a:latin typeface="Inter"/>
                        <a:ea typeface="Inter"/>
                        <a:cs typeface="Inter"/>
                        <a:sym typeface="Inter"/>
                      </a:endParaRPr>
                    </a:p>
                    <a:p>
                      <a:pPr indent="0" lvl="0" marL="0" marR="0" rtl="0" algn="l">
                        <a:lnSpc>
                          <a:spcPct val="100000"/>
                        </a:lnSpc>
                        <a:spcBef>
                          <a:spcPts val="0"/>
                        </a:spcBef>
                        <a:spcAft>
                          <a:spcPts val="0"/>
                        </a:spcAft>
                        <a:buClr>
                          <a:srgbClr val="DC2626"/>
                        </a:buClr>
                        <a:buSzPts val="1000"/>
                        <a:buFont typeface="Inter"/>
                        <a:buNone/>
                      </a:pPr>
                      <a:r>
                        <a:rPr lang="en-US" sz="1000" u="none" cap="none" strike="noStrike">
                          <a:solidFill>
                            <a:srgbClr val="DC2626"/>
                          </a:solidFill>
                          <a:latin typeface="Inter"/>
                          <a:ea typeface="Inter"/>
                          <a:cs typeface="Inter"/>
                          <a:sym typeface="Inter"/>
                        </a:rPr>
                        <a:t>(LLM call per query)</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059669"/>
                        </a:buClr>
                        <a:buSzPts val="1000"/>
                        <a:buFont typeface="Inter"/>
                        <a:buNone/>
                      </a:pPr>
                      <a:r>
                        <a:rPr lang="en-US" sz="1000" u="none" cap="none" strike="noStrike">
                          <a:solidFill>
                            <a:srgbClr val="059669"/>
                          </a:solidFill>
                          <a:latin typeface="Inter"/>
                          <a:ea typeface="Inter"/>
                          <a:cs typeface="Inter"/>
                          <a:sym typeface="Inter"/>
                        </a:rPr>
                        <a:t>Low</a:t>
                      </a:r>
                      <a:endParaRPr sz="1000" u="none" cap="none" strike="noStrike">
                        <a:latin typeface="Inter"/>
                        <a:ea typeface="Inter"/>
                        <a:cs typeface="Inter"/>
                        <a:sym typeface="Inter"/>
                      </a:endParaRPr>
                    </a:p>
                    <a:p>
                      <a:pPr indent="0" lvl="0" marL="0" marR="0" rtl="0" algn="l">
                        <a:lnSpc>
                          <a:spcPct val="100000"/>
                        </a:lnSpc>
                        <a:spcBef>
                          <a:spcPts val="0"/>
                        </a:spcBef>
                        <a:spcAft>
                          <a:spcPts val="0"/>
                        </a:spcAft>
                        <a:buClr>
                          <a:srgbClr val="059669"/>
                        </a:buClr>
                        <a:buSzPts val="1000"/>
                        <a:buFont typeface="Inter"/>
                        <a:buNone/>
                      </a:pPr>
                      <a:r>
                        <a:rPr lang="en-US" sz="1000" u="none" cap="none" strike="noStrike">
                          <a:solidFill>
                            <a:srgbClr val="059669"/>
                          </a:solidFill>
                          <a:latin typeface="Inter"/>
                          <a:ea typeface="Inter"/>
                          <a:cs typeface="Inter"/>
                          <a:sym typeface="Inter"/>
                        </a:rPr>
                        <a:t>(LLM only for edge cases)</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r>
              <a:tr h="411475">
                <a:tc>
                  <a:txBody>
                    <a:bodyPr/>
                    <a:lstStyle/>
                    <a:p>
                      <a:pPr indent="0" lvl="0" marL="0" marR="0" rtl="0" algn="l">
                        <a:lnSpc>
                          <a:spcPct val="100000"/>
                        </a:lnSpc>
                        <a:spcBef>
                          <a:spcPts val="0"/>
                        </a:spcBef>
                        <a:spcAft>
                          <a:spcPts val="0"/>
                        </a:spcAft>
                        <a:buClr>
                          <a:srgbClr val="111827"/>
                        </a:buClr>
                        <a:buSzPts val="1000"/>
                        <a:buFont typeface="Inter"/>
                        <a:buNone/>
                      </a:pPr>
                      <a:r>
                        <a:rPr b="1" lang="en-US" sz="1000" u="none" cap="none" strike="noStrike">
                          <a:solidFill>
                            <a:srgbClr val="111827"/>
                          </a:solidFill>
                          <a:latin typeface="Inter"/>
                          <a:ea typeface="Inter"/>
                          <a:cs typeface="Inter"/>
                          <a:sym typeface="Inter"/>
                        </a:rPr>
                        <a:t>Multi-attribute queries</a:t>
                      </a:r>
                      <a:endParaRPr sz="1000" u="none" cap="none" strike="noStrike">
                        <a:latin typeface="Inter"/>
                        <a:ea typeface="Inter"/>
                        <a:cs typeface="Inter"/>
                        <a:sym typeface="Inter"/>
                      </a:endParaRPr>
                    </a:p>
                    <a:p>
                      <a:pPr indent="0" lvl="0" marL="0" marR="0" rtl="0" algn="l">
                        <a:lnSpc>
                          <a:spcPct val="100000"/>
                        </a:lnSpc>
                        <a:spcBef>
                          <a:spcPts val="0"/>
                        </a:spcBef>
                        <a:spcAft>
                          <a:spcPts val="0"/>
                        </a:spcAft>
                        <a:buClr>
                          <a:srgbClr val="111827"/>
                        </a:buClr>
                        <a:buSzPts val="1000"/>
                        <a:buFont typeface="Inter"/>
                        <a:buNone/>
                      </a:pPr>
                      <a:r>
                        <a:rPr b="1" lang="en-US" sz="1000" u="none" cap="none" strike="noStrike">
                          <a:solidFill>
                            <a:srgbClr val="111827"/>
                          </a:solidFill>
                          <a:latin typeface="Inter"/>
                          <a:ea typeface="Inter"/>
                          <a:cs typeface="Inter"/>
                          <a:sym typeface="Inter"/>
                        </a:rPr>
                        <a:t>sheesham, 6-seater, teak, dining table, within budget</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DC2626"/>
                        </a:buClr>
                        <a:buSzPts val="1000"/>
                        <a:buFont typeface="Inter"/>
                        <a:buNone/>
                      </a:pPr>
                      <a:r>
                        <a:rPr lang="en-US" sz="1000" u="none" cap="none" strike="noStrike">
                          <a:solidFill>
                            <a:srgbClr val="DC2626"/>
                          </a:solidFill>
                          <a:latin typeface="Inter"/>
                          <a:ea typeface="Inter"/>
                          <a:cs typeface="Inter"/>
                          <a:sym typeface="Inter"/>
                        </a:rPr>
                        <a:t>Accuracy degrades</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DC2626"/>
                        </a:buClr>
                        <a:buSzPts val="1000"/>
                        <a:buFont typeface="Inter"/>
                        <a:buNone/>
                      </a:pPr>
                      <a:r>
                        <a:rPr lang="en-US" sz="1000" u="none" cap="none" strike="noStrike">
                          <a:solidFill>
                            <a:srgbClr val="DC2626"/>
                          </a:solidFill>
                          <a:latin typeface="Inter"/>
                          <a:ea typeface="Inter"/>
                          <a:cs typeface="Inter"/>
                          <a:sym typeface="Inter"/>
                        </a:rPr>
                        <a:t>Prone to</a:t>
                      </a:r>
                      <a:endParaRPr sz="1000" u="none" cap="none" strike="noStrike">
                        <a:latin typeface="Inter"/>
                        <a:ea typeface="Inter"/>
                        <a:cs typeface="Inter"/>
                        <a:sym typeface="Inter"/>
                      </a:endParaRPr>
                    </a:p>
                    <a:p>
                      <a:pPr indent="0" lvl="0" marL="0" marR="0" rtl="0" algn="l">
                        <a:lnSpc>
                          <a:spcPct val="100000"/>
                        </a:lnSpc>
                        <a:spcBef>
                          <a:spcPts val="0"/>
                        </a:spcBef>
                        <a:spcAft>
                          <a:spcPts val="0"/>
                        </a:spcAft>
                        <a:buClr>
                          <a:srgbClr val="DC2626"/>
                        </a:buClr>
                        <a:buSzPts val="1000"/>
                        <a:buFont typeface="Inter"/>
                        <a:buNone/>
                      </a:pPr>
                      <a:r>
                        <a:rPr lang="en-US" sz="1000" u="none" cap="none" strike="noStrike">
                          <a:solidFill>
                            <a:srgbClr val="DC2626"/>
                          </a:solidFill>
                          <a:latin typeface="Inter"/>
                          <a:ea typeface="Inter"/>
                          <a:cs typeface="Inter"/>
                          <a:sym typeface="Inter"/>
                        </a:rPr>
                        <a:t>hallucinations</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059669"/>
                        </a:buClr>
                        <a:buSzPts val="1000"/>
                        <a:buFont typeface="Inter"/>
                        <a:buNone/>
                      </a:pPr>
                      <a:r>
                        <a:rPr b="1" lang="en-US" sz="1000" u="none" cap="none" strike="noStrike">
                          <a:solidFill>
                            <a:srgbClr val="059669"/>
                          </a:solidFill>
                          <a:latin typeface="Inter"/>
                          <a:ea typeface="Inter"/>
                          <a:cs typeface="Inter"/>
                          <a:sym typeface="Inter"/>
                        </a:rPr>
                        <a:t>Much more accurate</a:t>
                      </a:r>
                      <a:endParaRPr sz="1000" u="none" cap="none" strike="noStrike">
                        <a:latin typeface="Inter"/>
                        <a:ea typeface="Inter"/>
                        <a:cs typeface="Inter"/>
                        <a:sym typeface="Inter"/>
                      </a:endParaRPr>
                    </a:p>
                    <a:p>
                      <a:pPr indent="0" lvl="0" marL="0" marR="0" rtl="0" algn="l">
                        <a:lnSpc>
                          <a:spcPct val="100000"/>
                        </a:lnSpc>
                        <a:spcBef>
                          <a:spcPts val="0"/>
                        </a:spcBef>
                        <a:spcAft>
                          <a:spcPts val="0"/>
                        </a:spcAft>
                        <a:buClr>
                          <a:srgbClr val="059669"/>
                        </a:buClr>
                        <a:buSzPts val="1000"/>
                        <a:buFont typeface="Inter"/>
                        <a:buNone/>
                      </a:pPr>
                      <a:r>
                        <a:rPr b="1" lang="en-US" sz="1000" u="none" cap="none" strike="noStrike">
                          <a:solidFill>
                            <a:srgbClr val="059669"/>
                          </a:solidFill>
                          <a:latin typeface="Inter"/>
                          <a:ea typeface="Inter"/>
                          <a:cs typeface="Inter"/>
                          <a:sym typeface="Inter"/>
                        </a:rPr>
                        <a:t>than standard RAG</a:t>
                      </a:r>
                      <a:endParaRPr sz="1000" u="none" cap="none" strike="noStrike">
                        <a:latin typeface="Inter"/>
                        <a:ea typeface="Inter"/>
                        <a:cs typeface="Inter"/>
                        <a:sym typeface="Inter"/>
                      </a:endParaRPr>
                    </a:p>
                  </a:txBody>
                  <a:tcPr marT="50800" marB="50800" marR="76200" marL="76200">
                    <a:lnL cap="flat" cmpd="sng" w="9525">
                      <a:solidFill>
                        <a:srgbClr val="E5E7EB"/>
                      </a:solidFill>
                      <a:prstDash val="solid"/>
                      <a:round/>
                      <a:headEnd len="sm" w="sm" type="none"/>
                      <a:tailEnd len="sm" w="sm" type="none"/>
                    </a:lnL>
                    <a:lnR cap="flat" cmpd="sng" w="9525">
                      <a:solidFill>
                        <a:srgbClr val="E5E7EB"/>
                      </a:solidFill>
                      <a:prstDash val="solid"/>
                      <a:round/>
                      <a:headEnd len="sm" w="sm" type="none"/>
                      <a:tailEnd len="sm" w="sm" type="none"/>
                    </a:lnR>
                    <a:lnT cap="flat" cmpd="sng" w="9525">
                      <a:solidFill>
                        <a:srgbClr val="E5E7EB"/>
                      </a:solidFill>
                      <a:prstDash val="solid"/>
                      <a:round/>
                      <a:headEnd len="sm" w="sm" type="none"/>
                      <a:tailEnd len="sm" w="sm" type="none"/>
                    </a:lnT>
                    <a:lnB cap="flat" cmpd="sng" w="9525">
                      <a:solidFill>
                        <a:srgbClr val="E5E7EB"/>
                      </a:solidFill>
                      <a:prstDash val="solid"/>
                      <a:round/>
                      <a:headEnd len="sm" w="sm" type="none"/>
                      <a:tailEnd len="sm" w="sm" type="none"/>
                    </a:lnB>
                  </a:tcPr>
                </a:tc>
              </a:tr>
            </a:tbl>
          </a:graphicData>
        </a:graphic>
      </p:graphicFrame>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78" name="Shape 178"/>
        <p:cNvGrpSpPr/>
        <p:nvPr/>
      </p:nvGrpSpPr>
      <p:grpSpPr>
        <a:xfrm>
          <a:off x="0" y="0"/>
          <a:ext cx="0" cy="0"/>
          <a:chOff x="0" y="0"/>
          <a:chExt cx="0" cy="0"/>
        </a:xfrm>
      </p:grpSpPr>
      <p:sp>
        <p:nvSpPr>
          <p:cNvPr id="179" name="Google Shape;179;p14"/>
          <p:cNvSpPr/>
          <p:nvPr/>
        </p:nvSpPr>
        <p:spPr>
          <a:xfrm>
            <a:off x="0" y="0"/>
            <a:ext cx="9144000" cy="36600"/>
          </a:xfrm>
          <a:prstGeom prst="rect">
            <a:avLst/>
          </a:prstGeom>
          <a:solidFill>
            <a:srgbClr val="2563EB"/>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0" name="Google Shape;180;p14"/>
          <p:cNvSpPr/>
          <p:nvPr/>
        </p:nvSpPr>
        <p:spPr>
          <a:xfrm>
            <a:off x="685800" y="658330"/>
            <a:ext cx="7772400" cy="640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11827"/>
              </a:buClr>
              <a:buSzPts val="3600"/>
              <a:buFont typeface="Inter"/>
              <a:buNone/>
            </a:pPr>
            <a:r>
              <a:rPr b="1" i="0" lang="en-US" sz="3600" u="none" cap="none" strike="noStrike">
                <a:solidFill>
                  <a:srgbClr val="111827"/>
                </a:solidFill>
                <a:latin typeface="Inter"/>
                <a:ea typeface="Inter"/>
                <a:cs typeface="Inter"/>
                <a:sym typeface="Inter"/>
              </a:rPr>
              <a:t>Let's close the gap.</a:t>
            </a:r>
            <a:endParaRPr b="0" i="0" sz="3600" u="none" cap="none" strike="noStrike">
              <a:solidFill>
                <a:schemeClr val="dk1"/>
              </a:solidFill>
              <a:latin typeface="Calibri"/>
              <a:ea typeface="Calibri"/>
              <a:cs typeface="Calibri"/>
              <a:sym typeface="Calibri"/>
            </a:endParaRPr>
          </a:p>
        </p:txBody>
      </p:sp>
      <p:sp>
        <p:nvSpPr>
          <p:cNvPr id="181" name="Google Shape;181;p14"/>
          <p:cNvSpPr/>
          <p:nvPr/>
        </p:nvSpPr>
        <p:spPr>
          <a:xfrm>
            <a:off x="685800" y="1920250"/>
            <a:ext cx="7553400" cy="17805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4B5563"/>
              </a:buClr>
              <a:buSzPts val="1500"/>
              <a:buFont typeface="Inter"/>
              <a:buNone/>
            </a:pPr>
            <a:r>
              <a:rPr b="0" i="0" lang="en-US" sz="1500" u="none" cap="none" strike="noStrike">
                <a:solidFill>
                  <a:srgbClr val="4B5563"/>
                </a:solidFill>
                <a:latin typeface="Inter"/>
                <a:ea typeface="Inter"/>
                <a:cs typeface="Inter"/>
                <a:sym typeface="Inter"/>
              </a:rPr>
              <a:t>We can run a full 500-query audit on your site in under a week and show you exactly where you are losing crores in revenue.</a:t>
            </a:r>
            <a:endParaRPr b="0" i="0" sz="15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chemeClr val="dk1"/>
              </a:buClr>
              <a:buSzPts val="1500"/>
              <a:buFont typeface="Calibri"/>
              <a:buNone/>
            </a:pPr>
            <a:r>
              <a:t/>
            </a:r>
            <a:endParaRPr b="0" i="0" sz="15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4B5563"/>
              </a:buClr>
              <a:buSzPts val="1500"/>
              <a:buFont typeface="Inter"/>
              <a:buNone/>
            </a:pPr>
            <a:r>
              <a:rPr b="0" i="0" lang="en-US" sz="1500" u="none" cap="none" strike="noStrike">
                <a:solidFill>
                  <a:srgbClr val="4B5563"/>
                </a:solidFill>
                <a:latin typeface="Inter"/>
                <a:ea typeface="Inter"/>
                <a:cs typeface="Inter"/>
                <a:sym typeface="Inter"/>
              </a:rPr>
              <a:t>Every query grounded in Google autocomplete. Every result verified against your actual catalog.</a:t>
            </a:r>
            <a:r>
              <a:rPr b="0" i="0" lang="en-US" sz="1500" u="none" cap="none" strike="noStrike">
                <a:solidFill>
                  <a:schemeClr val="dk1"/>
                </a:solidFill>
                <a:latin typeface="Calibri"/>
                <a:ea typeface="Calibri"/>
                <a:cs typeface="Calibri"/>
                <a:sym typeface="Calibri"/>
              </a:rPr>
              <a:t xml:space="preserve"> </a:t>
            </a:r>
            <a:r>
              <a:rPr b="0" i="0" lang="en-US" sz="1500" u="none" cap="none" strike="noStrike">
                <a:solidFill>
                  <a:srgbClr val="4B5563"/>
                </a:solidFill>
                <a:latin typeface="Inter"/>
                <a:ea typeface="Inter"/>
                <a:cs typeface="Inter"/>
                <a:sym typeface="Inter"/>
              </a:rPr>
              <a:t>We have pasted some of the results we obtained from a smaller audit on your website slide 6.</a:t>
            </a:r>
            <a:endParaRPr b="0" i="0" sz="15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4B5563"/>
              </a:buClr>
              <a:buSzPts val="1500"/>
              <a:buFont typeface="Inter"/>
              <a:buNone/>
            </a:pPr>
            <a:r>
              <a:t/>
            </a:r>
            <a:endParaRPr b="0" i="0" sz="1500" u="none" cap="none" strike="noStrike">
              <a:solidFill>
                <a:srgbClr val="4B5563"/>
              </a:solidFill>
              <a:latin typeface="Inter"/>
              <a:ea typeface="Inter"/>
              <a:cs typeface="Inter"/>
              <a:sym typeface="Inter"/>
            </a:endParaRPr>
          </a:p>
          <a:p>
            <a:pPr indent="0" lvl="0" marL="0" marR="0" rtl="0" algn="l">
              <a:lnSpc>
                <a:spcPct val="100000"/>
              </a:lnSpc>
              <a:spcBef>
                <a:spcPts val="0"/>
              </a:spcBef>
              <a:spcAft>
                <a:spcPts val="0"/>
              </a:spcAft>
              <a:buClr>
                <a:srgbClr val="4B5563"/>
              </a:buClr>
              <a:buSzPts val="1500"/>
              <a:buFont typeface="Inter"/>
              <a:buNone/>
            </a:pPr>
            <a:r>
              <a:rPr b="0" i="0" lang="en-US" sz="1500" u="none" cap="none" strike="noStrike">
                <a:solidFill>
                  <a:srgbClr val="4B5563"/>
                </a:solidFill>
                <a:latin typeface="Inter"/>
                <a:ea typeface="Inter"/>
                <a:cs typeface="Inter"/>
                <a:sym typeface="Inter"/>
              </a:rPr>
              <a:t xml:space="preserve">We can fix your search and upgrade your website from keyword based search bar to intent based AI assistant. </a:t>
            </a:r>
            <a:r>
              <a:rPr b="0" i="0" lang="en-US" sz="1600" u="sng" cap="none" strike="noStrike">
                <a:solidFill>
                  <a:schemeClr val="hlink"/>
                </a:solidFill>
                <a:latin typeface="Inter"/>
                <a:ea typeface="Inter"/>
                <a:cs typeface="Inter"/>
                <a:sym typeface="Inter"/>
                <a:hlinkClick r:id="rId3"/>
              </a:rPr>
              <a:t>book a demo</a:t>
            </a:r>
            <a:r>
              <a:rPr b="0" i="0" lang="en-US" sz="1600" u="none" cap="none" strike="noStrike">
                <a:solidFill>
                  <a:srgbClr val="4B5563"/>
                </a:solidFill>
                <a:latin typeface="Inter"/>
                <a:ea typeface="Inter"/>
                <a:cs typeface="Inter"/>
                <a:sym typeface="Inter"/>
              </a:rPr>
              <a:t xml:space="preserve"> </a:t>
            </a:r>
            <a:endParaRPr b="0" i="0" sz="1500" u="none" cap="none" strike="noStrike">
              <a:solidFill>
                <a:schemeClr val="dk1"/>
              </a:solidFill>
              <a:latin typeface="Calibri"/>
              <a:ea typeface="Calibri"/>
              <a:cs typeface="Calibri"/>
              <a:sym typeface="Calibri"/>
            </a:endParaRPr>
          </a:p>
        </p:txBody>
      </p:sp>
      <p:sp>
        <p:nvSpPr>
          <p:cNvPr id="182" name="Google Shape;182;p14"/>
          <p:cNvSpPr/>
          <p:nvPr/>
        </p:nvSpPr>
        <p:spPr>
          <a:xfrm>
            <a:off x="685800" y="3981001"/>
            <a:ext cx="6400800" cy="640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9CA3AF"/>
              </a:buClr>
              <a:buSzPts val="1300"/>
              <a:buFont typeface="Inter"/>
              <a:buNone/>
            </a:pPr>
            <a:r>
              <a:rPr b="0" i="0" lang="en-US" sz="1300" u="none" cap="none" strike="noStrike">
                <a:solidFill>
                  <a:schemeClr val="dk1"/>
                </a:solidFill>
                <a:latin typeface="Inter"/>
                <a:ea typeface="Inter"/>
                <a:cs typeface="Inter"/>
                <a:sym typeface="Inter"/>
              </a:rPr>
              <a:t xml:space="preserve">Shalini Mukhopadhyay  ·  </a:t>
            </a:r>
            <a:r>
              <a:rPr b="0" i="0" lang="en-US" sz="1300" u="sng" cap="none" strike="noStrike">
                <a:solidFill>
                  <a:schemeClr val="dk1"/>
                </a:solidFill>
                <a:latin typeface="Inter"/>
                <a:ea typeface="Inter"/>
                <a:cs typeface="Inter"/>
                <a:sym typeface="Inter"/>
                <a:hlinkClick r:id="rId4">
                  <a:extLst>
                    <a:ext uri="{A12FA001-AC4F-418D-AE19-62706E023703}">
                      <ahyp:hlinkClr val="tx"/>
                    </a:ext>
                  </a:extLst>
                </a:hlinkClick>
              </a:rPr>
              <a:t>shaliniiitkgp2021@gmail.com</a:t>
            </a:r>
            <a:endParaRPr b="0" i="0" sz="1300" u="none" cap="none" strike="noStrike">
              <a:solidFill>
                <a:schemeClr val="dk1"/>
              </a:solidFill>
              <a:latin typeface="Inter"/>
              <a:ea typeface="Inter"/>
              <a:cs typeface="Inter"/>
              <a:sym typeface="Inter"/>
            </a:endParaRPr>
          </a:p>
          <a:p>
            <a:pPr indent="0" lvl="0" marL="0" marR="0" rtl="0" algn="l">
              <a:lnSpc>
                <a:spcPct val="100000"/>
              </a:lnSpc>
              <a:spcBef>
                <a:spcPts val="0"/>
              </a:spcBef>
              <a:spcAft>
                <a:spcPts val="0"/>
              </a:spcAft>
              <a:buClr>
                <a:srgbClr val="9CA3AF"/>
              </a:buClr>
              <a:buSzPts val="1300"/>
              <a:buFont typeface="Inter"/>
              <a:buNone/>
            </a:pPr>
            <a:r>
              <a:rPr b="0" i="0" lang="en-US" sz="1300" u="none" cap="none" strike="noStrike">
                <a:solidFill>
                  <a:schemeClr val="dk1"/>
                </a:solidFill>
                <a:latin typeface="Inter"/>
                <a:ea typeface="Inter"/>
                <a:cs typeface="Inter"/>
                <a:sym typeface="Inter"/>
              </a:rPr>
              <a:t xml:space="preserve">Aantriksh Pandya  ·  </a:t>
            </a:r>
            <a:r>
              <a:rPr b="0" i="0" lang="en-US" sz="1300" u="sng" cap="none" strike="noStrike">
                <a:solidFill>
                  <a:schemeClr val="dk1"/>
                </a:solidFill>
                <a:latin typeface="Inter"/>
                <a:ea typeface="Inter"/>
                <a:cs typeface="Inter"/>
                <a:sym typeface="Inter"/>
                <a:hlinkClick r:id="rId5">
                  <a:extLst>
                    <a:ext uri="{A12FA001-AC4F-418D-AE19-62706E023703}">
                      <ahyp:hlinkClr val="tx"/>
                    </a:ext>
                  </a:extLst>
                </a:hlinkClick>
              </a:rPr>
              <a:t>aantriksh.pandya1@gmail.com</a:t>
            </a:r>
            <a:r>
              <a:rPr b="0" i="0" lang="en-US" sz="1300" u="none" cap="none" strike="noStrike">
                <a:solidFill>
                  <a:schemeClr val="dk1"/>
                </a:solidFill>
                <a:latin typeface="Inter"/>
                <a:ea typeface="Inter"/>
                <a:cs typeface="Inter"/>
                <a:sym typeface="Inter"/>
              </a:rPr>
              <a:t xml:space="preserve"> </a:t>
            </a:r>
            <a:endParaRPr b="0" i="0" sz="13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9CA3AF"/>
              </a:buClr>
              <a:buSzPts val="1300"/>
              <a:buFont typeface="Inter"/>
              <a:buNone/>
            </a:pPr>
            <a:r>
              <a:rPr b="0" i="0" lang="en-US" sz="1300" u="none" cap="none" strike="noStrike">
                <a:solidFill>
                  <a:srgbClr val="9CA3AF"/>
                </a:solidFill>
                <a:latin typeface="Inter"/>
                <a:ea typeface="Inter"/>
                <a:cs typeface="Inter"/>
                <a:sym typeface="Inter"/>
              </a:rPr>
              <a:t xml:space="preserve"> </a:t>
            </a:r>
            <a:endParaRPr b="0" i="0" sz="1300" u="none" cap="none" strike="noStrike">
              <a:solidFill>
                <a:srgbClr val="9CA3AF"/>
              </a:solidFill>
              <a:latin typeface="Inter"/>
              <a:ea typeface="Inter"/>
              <a:cs typeface="Inter"/>
              <a:sym typeface="Inter"/>
            </a:endParaRPr>
          </a:p>
        </p:txBody>
      </p:sp>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