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jAXWUe55wi30lXcQrFr6CVs98l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67869B-1F53-4C99-AD8D-8728D57326FD}">
  <a:tblStyle styleId="{A667869B-1F53-4C99-AD8D-8728D57326F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font" Target="fonts/Inter-regular.fntdata"/><Relationship Id="rId22" Type="http://schemas.openxmlformats.org/officeDocument/2006/relationships/font" Target="fonts/Inter-bold.fntdata"/><Relationship Id="rId23" Type="http://schemas.openxmlformats.org/officeDocument/2006/relationships/font" Target="fonts/Inter-italic.fntdata"/><Relationship Id="rId24" Type="http://schemas.openxmlformats.org/officeDocument/2006/relationships/font" Target="fonts/Inter-boldItalic.fntdata"/><Relationship Id="rId2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 name="Google Shape;55;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 name="Google Shape;6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03a3b1c68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03a3b1c68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e03a3b1c68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 name="Google Shape;99;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836f29ee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836f29ee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g3d836f29ee0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d836f29ee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d836f29ee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g3d836f29ee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upersearch.onrender.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supersearch.onrender.com/" TargetMode="External"/><Relationship Id="rId4" Type="http://schemas.openxmlformats.org/officeDocument/2006/relationships/hyperlink" Target="mailto:shaliniiitkgp2021@gmail.com" TargetMode="External"/><Relationship Id="rId5" Type="http://schemas.openxmlformats.org/officeDocument/2006/relationships/hyperlink" Target="mailto:aantriksh.pandya1@gmai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685800" y="1280160"/>
            <a:ext cx="77724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4400"/>
              <a:buFont typeface="Inter"/>
              <a:buNone/>
            </a:pPr>
            <a:r>
              <a:rPr b="1" i="0" lang="en-US" sz="4400" u="none" cap="none" strike="noStrike">
                <a:solidFill>
                  <a:srgbClr val="111827"/>
                </a:solidFill>
                <a:latin typeface="Inter"/>
                <a:ea typeface="Inter"/>
                <a:cs typeface="Inter"/>
                <a:sym typeface="Inter"/>
              </a:rPr>
              <a:t>SuperSearch</a:t>
            </a:r>
            <a:endParaRPr b="0" i="0" sz="4400" u="none" cap="none" strike="noStrike">
              <a:solidFill>
                <a:schemeClr val="dk1"/>
              </a:solidFill>
              <a:latin typeface="Calibri"/>
              <a:ea typeface="Calibri"/>
              <a:cs typeface="Calibri"/>
              <a:sym typeface="Calibri"/>
            </a:endParaRPr>
          </a:p>
        </p:txBody>
      </p:sp>
      <p:sp>
        <p:nvSpPr>
          <p:cNvPr id="18" name="Google Shape;18;p1"/>
          <p:cNvSpPr/>
          <p:nvPr/>
        </p:nvSpPr>
        <p:spPr>
          <a:xfrm>
            <a:off x="685800" y="2180251"/>
            <a:ext cx="6550500" cy="754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600"/>
              <a:buFont typeface="Inter"/>
              <a:buNone/>
            </a:pPr>
            <a:r>
              <a:rPr b="0" i="0" lang="en-US" sz="1600" u="none" cap="none" strike="noStrike">
                <a:solidFill>
                  <a:srgbClr val="4B5563"/>
                </a:solidFill>
                <a:latin typeface="Inter"/>
                <a:ea typeface="Inter"/>
                <a:cs typeface="Inter"/>
                <a:sym typeface="Inter"/>
              </a:rPr>
              <a:t>Conversational AI shopping assistants for e-commerce websites</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t/>
            </a:r>
            <a:endParaRPr b="0" i="0" sz="16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600"/>
              <a:buFont typeface="Inter"/>
              <a:buNone/>
            </a:pP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600" u="none" cap="none" strike="noStrike">
              <a:solidFill>
                <a:srgbClr val="4B5563"/>
              </a:solidFill>
              <a:latin typeface="Inter"/>
              <a:ea typeface="Inter"/>
              <a:cs typeface="Inter"/>
              <a:sym typeface="Inter"/>
            </a:endParaRPr>
          </a:p>
        </p:txBody>
      </p:sp>
      <p:sp>
        <p:nvSpPr>
          <p:cNvPr id="19" name="Google Shape;19;p1"/>
          <p:cNvSpPr/>
          <p:nvPr/>
        </p:nvSpPr>
        <p:spPr>
          <a:xfrm>
            <a:off x="685800" y="3154700"/>
            <a:ext cx="59253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300"/>
              <a:buFont typeface="Inter"/>
              <a:buNone/>
            </a:pPr>
            <a:r>
              <a:rPr b="0" i="0" lang="en-US" sz="1300" u="none" cap="none" strike="noStrike">
                <a:solidFill>
                  <a:srgbClr val="4B5563"/>
                </a:solidFill>
                <a:latin typeface="Inter"/>
                <a:ea typeface="Inter"/>
                <a:cs typeface="Inter"/>
                <a:sym typeface="Inter"/>
              </a:rPr>
              <a:t>Aantriksh Pandya . Shalini Mukhopadhyay</a:t>
            </a:r>
            <a:r>
              <a:rPr b="0" i="0" lang="en-US" sz="1300" u="none" cap="none" strike="noStrike">
                <a:solidFill>
                  <a:schemeClr val="dk1"/>
                </a:solidFill>
                <a:latin typeface="Calibri"/>
                <a:ea typeface="Calibri"/>
                <a:cs typeface="Calibri"/>
                <a:sym typeface="Calibri"/>
              </a:rPr>
              <a:t xml:space="preserve">  </a:t>
            </a:r>
            <a:r>
              <a:rPr b="0" i="0" lang="en-US" sz="1300" u="none" cap="none" strike="noStrike">
                <a:solidFill>
                  <a:srgbClr val="4B5563"/>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p:txBody>
      </p:sp>
      <p:sp>
        <p:nvSpPr>
          <p:cNvPr id="20" name="Google Shape;20;p1"/>
          <p:cNvSpPr/>
          <p:nvPr/>
        </p:nvSpPr>
        <p:spPr>
          <a:xfrm>
            <a:off x="685800" y="352044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100"/>
              <a:buFont typeface="Inter"/>
              <a:buNone/>
            </a:pPr>
            <a:r>
              <a:rPr b="0" i="0" lang="en-US" sz="1100" u="none" cap="none" strike="noStrike">
                <a:solidFill>
                  <a:schemeClr val="dk1"/>
                </a:solidFill>
                <a:latin typeface="Inter"/>
                <a:ea typeface="Inter"/>
                <a:cs typeface="Inter"/>
                <a:sym typeface="Inter"/>
              </a:rPr>
              <a:t>Prepared for: {Brand Name}</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a:off x="685800" y="365750"/>
            <a:ext cx="81357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Ecommerce search is changing forever and AI shopping assistants are here to stay — the numbers are clear</a:t>
            </a:r>
            <a:endParaRPr b="0" i="0" sz="2300" u="none" cap="none" strike="noStrike">
              <a:solidFill>
                <a:schemeClr val="dk1"/>
              </a:solidFill>
              <a:latin typeface="Calibri"/>
              <a:ea typeface="Calibri"/>
              <a:cs typeface="Calibri"/>
              <a:sym typeface="Calibri"/>
            </a:endParaRPr>
          </a:p>
        </p:txBody>
      </p:sp>
      <p:sp>
        <p:nvSpPr>
          <p:cNvPr id="28" name="Google Shape;28;p2"/>
          <p:cNvSpPr/>
          <p:nvPr/>
        </p:nvSpPr>
        <p:spPr>
          <a:xfrm>
            <a:off x="68580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86868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58%</a:t>
            </a:r>
            <a:endParaRPr b="0" i="0" sz="3600" u="none" cap="none" strike="noStrike">
              <a:solidFill>
                <a:schemeClr val="dk1"/>
              </a:solidFill>
              <a:latin typeface="Calibri"/>
              <a:ea typeface="Calibri"/>
              <a:cs typeface="Calibri"/>
              <a:sym typeface="Calibri"/>
            </a:endParaRPr>
          </a:p>
        </p:txBody>
      </p:sp>
      <p:sp>
        <p:nvSpPr>
          <p:cNvPr id="30" name="Google Shape;30;p2"/>
          <p:cNvSpPr/>
          <p:nvPr/>
        </p:nvSpPr>
        <p:spPr>
          <a:xfrm>
            <a:off x="766575" y="1783075"/>
            <a:ext cx="23184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of consumers prefer AI shopping assistants</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over keywords (up from 25%</a:t>
            </a:r>
            <a:r>
              <a:rPr b="0" i="0" lang="en-US" sz="1200" u="none" cap="none" strike="noStrike">
                <a:solidFill>
                  <a:schemeClr val="dk1"/>
                </a:solidFill>
                <a:latin typeface="Calibri"/>
                <a:ea typeface="Calibri"/>
                <a:cs typeface="Calibri"/>
                <a:sym typeface="Calibri"/>
              </a:rPr>
              <a:t xml:space="preserve"> </a:t>
            </a:r>
            <a:r>
              <a:rPr b="0" i="0" lang="en-US" sz="1200" u="none" cap="none" strike="noStrike">
                <a:solidFill>
                  <a:srgbClr val="4B5563"/>
                </a:solidFill>
                <a:latin typeface="Inter"/>
                <a:ea typeface="Inter"/>
                <a:cs typeface="Inter"/>
                <a:sym typeface="Inter"/>
              </a:rPr>
              <a:t>in 2023)</a:t>
            </a:r>
            <a:endParaRPr b="0" i="0" sz="1200" u="none" cap="none" strike="noStrike">
              <a:solidFill>
                <a:schemeClr val="dk1"/>
              </a:solidFill>
              <a:latin typeface="Calibri"/>
              <a:ea typeface="Calibri"/>
              <a:cs typeface="Calibri"/>
              <a:sym typeface="Calibri"/>
            </a:endParaRPr>
          </a:p>
        </p:txBody>
      </p:sp>
      <p:sp>
        <p:nvSpPr>
          <p:cNvPr id="31" name="Google Shape;31;p2"/>
          <p:cNvSpPr/>
          <p:nvPr/>
        </p:nvSpPr>
        <p:spPr>
          <a:xfrm>
            <a:off x="338328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356616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4x</a:t>
            </a:r>
            <a:endParaRPr b="0" i="0" sz="3600" u="none" cap="none" strike="noStrike">
              <a:solidFill>
                <a:schemeClr val="dk1"/>
              </a:solidFill>
              <a:latin typeface="Calibri"/>
              <a:ea typeface="Calibri"/>
              <a:cs typeface="Calibri"/>
              <a:sym typeface="Calibri"/>
            </a:endParaRPr>
          </a:p>
        </p:txBody>
      </p:sp>
      <p:sp>
        <p:nvSpPr>
          <p:cNvPr id="33" name="Google Shape;33;p2"/>
          <p:cNvSpPr/>
          <p:nvPr/>
        </p:nvSpPr>
        <p:spPr>
          <a:xfrm>
            <a:off x="356616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higher conversion rates for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conversational search as compared to keyword search</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(12.3% vs 3.1%, Rep AI)</a:t>
            </a:r>
            <a:endParaRPr b="0" i="0" sz="1200" u="none" cap="none" strike="noStrike">
              <a:solidFill>
                <a:schemeClr val="dk1"/>
              </a:solidFill>
              <a:latin typeface="Calibri"/>
              <a:ea typeface="Calibri"/>
              <a:cs typeface="Calibri"/>
              <a:sym typeface="Calibri"/>
            </a:endParaRPr>
          </a:p>
        </p:txBody>
      </p:sp>
      <p:sp>
        <p:nvSpPr>
          <p:cNvPr id="34" name="Google Shape;34;p2"/>
          <p:cNvSpPr/>
          <p:nvPr/>
        </p:nvSpPr>
        <p:spPr>
          <a:xfrm>
            <a:off x="6080760" y="1143000"/>
            <a:ext cx="2514600" cy="1508760"/>
          </a:xfrm>
          <a:prstGeom prst="rect">
            <a:avLst/>
          </a:prstGeom>
          <a:solidFill>
            <a:srgbClr val="F9FAFB"/>
          </a:solidFill>
          <a:ln>
            <a:noFill/>
          </a:ln>
          <a:effectLst>
            <a:outerShdw blurRad="50800" rotWithShape="0" algn="bl" dir="8100000" dist="25400">
              <a:srgbClr val="000000">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6263640" y="1234440"/>
            <a:ext cx="21488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3600"/>
              <a:buFont typeface="Inter"/>
              <a:buNone/>
            </a:pPr>
            <a:r>
              <a:rPr b="1" i="0" lang="en-US" sz="3600" u="none" cap="none" strike="noStrike">
                <a:solidFill>
                  <a:srgbClr val="2563EB"/>
                </a:solidFill>
                <a:latin typeface="Inter"/>
                <a:ea typeface="Inter"/>
                <a:cs typeface="Inter"/>
                <a:sym typeface="Inter"/>
              </a:rPr>
              <a:t>1,300%</a:t>
            </a:r>
            <a:endParaRPr b="0" i="0" sz="3600" u="none" cap="none" strike="noStrike">
              <a:solidFill>
                <a:schemeClr val="dk1"/>
              </a:solidFill>
              <a:latin typeface="Calibri"/>
              <a:ea typeface="Calibri"/>
              <a:cs typeface="Calibri"/>
              <a:sym typeface="Calibri"/>
            </a:endParaRPr>
          </a:p>
        </p:txBody>
      </p:sp>
      <p:sp>
        <p:nvSpPr>
          <p:cNvPr id="36" name="Google Shape;36;p2"/>
          <p:cNvSpPr/>
          <p:nvPr/>
        </p:nvSpPr>
        <p:spPr>
          <a:xfrm>
            <a:off x="6263640" y="1783080"/>
            <a:ext cx="2148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YoY growth in AI-referred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retail traffic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200"/>
              <a:buFont typeface="Inter"/>
              <a:buNone/>
            </a:pPr>
            <a:r>
              <a:rPr b="0" i="0" lang="en-US" sz="1200" u="none" cap="none" strike="noStrike">
                <a:solidFill>
                  <a:srgbClr val="4B5563"/>
                </a:solidFill>
                <a:latin typeface="Inter"/>
                <a:ea typeface="Inter"/>
                <a:cs typeface="Inter"/>
                <a:sym typeface="Inter"/>
              </a:rPr>
              <a:t>(Adobe, Holiday 2024)</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85800" y="2814763"/>
            <a:ext cx="7909500" cy="17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 xml:space="preserve">~60% to 64% of online shoppers </a:t>
            </a:r>
            <a:r>
              <a:rPr b="0" i="0" lang="en-US" sz="1100" u="none" cap="none" strike="noStrike">
                <a:solidFill>
                  <a:srgbClr val="4B5563"/>
                </a:solidFill>
                <a:latin typeface="Inter"/>
                <a:ea typeface="Inter"/>
                <a:cs typeface="Inter"/>
                <a:sym typeface="Inter"/>
              </a:rPr>
              <a:t>have used or plan to use AI for shopping in 2026 (~3B AI shoppers)</a:t>
            </a:r>
            <a:r>
              <a:rPr b="1" i="0" lang="en-US" sz="1100" u="none" cap="none" strike="noStrike">
                <a:solidFill>
                  <a:srgbClr val="4B5563"/>
                </a:solidFill>
                <a:latin typeface="Inter"/>
                <a:ea typeface="Inter"/>
                <a:cs typeface="Inter"/>
                <a:sym typeface="Inter"/>
              </a:rPr>
              <a:t xml:space="preserve">. </a:t>
            </a:r>
            <a:endParaRPr b="1"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1"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7-8 word queries nearly doubled since ChatGPT</a:t>
            </a:r>
            <a:r>
              <a:rPr b="0" i="0" lang="en-US" sz="1100" u="none" cap="none" strike="noStrike">
                <a:solidFill>
                  <a:srgbClr val="4B5563"/>
                </a:solidFill>
                <a:latin typeface="Inter"/>
                <a:ea typeface="Inter"/>
                <a:cs typeface="Inter"/>
                <a:sym typeface="Inter"/>
              </a:rPr>
              <a:t xml:space="preserve"> launched (Search Engine Land), 35% of all search queries are now complete sentences, not fragmented keywords. Conversational search is the new norm.</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79% of customers say they'd find it helpful if AI understood their specific needs (not just keywords) to recommend products in a chat instead of them having to type keywords into a search bar to discover relevant products.</a:t>
            </a:r>
            <a:endParaRPr b="0" i="0" sz="1100" u="none" cap="none" strike="noStrike">
              <a:solidFill>
                <a:srgbClr val="4B5563"/>
              </a:solidFill>
              <a:latin typeface="Inter"/>
              <a:ea typeface="Inter"/>
              <a:cs typeface="Inter"/>
              <a:sym typeface="Inter"/>
            </a:endParaRPr>
          </a:p>
          <a:p>
            <a:pPr indent="0" lvl="0" marL="457200" marR="0" rtl="0" algn="l">
              <a:lnSpc>
                <a:spcPct val="100000"/>
              </a:lnSpc>
              <a:spcBef>
                <a:spcPts val="40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100"/>
              <a:buFont typeface="Inter"/>
              <a:buChar char="•"/>
            </a:pPr>
            <a:r>
              <a:rPr b="1" i="0" lang="en-US" sz="1100" u="none" cap="none" strike="noStrike">
                <a:solidFill>
                  <a:srgbClr val="4B5563"/>
                </a:solidFill>
                <a:latin typeface="Inter"/>
                <a:ea typeface="Inter"/>
                <a:cs typeface="Inter"/>
                <a:sym typeface="Inter"/>
              </a:rPr>
              <a:t>82% want AI shopping assistants to reduce time</a:t>
            </a:r>
            <a:r>
              <a:rPr b="0" i="0" lang="en-US" sz="1100" u="none" cap="none" strike="noStrike">
                <a:solidFill>
                  <a:srgbClr val="4B5563"/>
                </a:solidFill>
                <a:latin typeface="Inter"/>
                <a:ea typeface="Inter"/>
                <a:cs typeface="Inter"/>
                <a:sym typeface="Inter"/>
              </a:rPr>
              <a:t xml:space="preserve"> spent researching what to buy.</a:t>
            </a:r>
            <a:endParaRPr b="0" i="0" sz="1100" u="none" cap="none" strike="noStrike">
              <a:solidFill>
                <a:schemeClr val="dk1"/>
              </a:solidFill>
              <a:latin typeface="Calibri"/>
              <a:ea typeface="Calibri"/>
              <a:cs typeface="Calibri"/>
              <a:sym typeface="Calibri"/>
            </a:endParaRPr>
          </a:p>
        </p:txBody>
      </p:sp>
      <p:sp>
        <p:nvSpPr>
          <p:cNvPr id="38" name="Google Shape;38;p2"/>
          <p:cNvSpPr/>
          <p:nvPr/>
        </p:nvSpPr>
        <p:spPr>
          <a:xfrm>
            <a:off x="928325" y="4876001"/>
            <a:ext cx="7530000" cy="178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900"/>
              <a:buFont typeface="Inter"/>
              <a:buNone/>
            </a:pPr>
            <a:r>
              <a:rPr b="0" i="0" lang="en-US" sz="900" u="none" cap="none" strike="noStrike">
                <a:solidFill>
                  <a:srgbClr val="666666"/>
                </a:solidFill>
                <a:latin typeface="Inter"/>
                <a:ea typeface="Inter"/>
                <a:cs typeface="Inter"/>
                <a:sym typeface="Inter"/>
              </a:rPr>
              <a:t>Sources: Rep AI 2025, Adobe Analytics, Search Engine Land, Capgemini, Constructor, Nosto</a:t>
            </a:r>
            <a:endParaRPr b="0" i="0" sz="900" u="none" cap="none" strike="noStrike">
              <a:solidFill>
                <a:srgbClr val="6666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3"/>
          <p:cNvSpPr/>
          <p:nvPr/>
        </p:nvSpPr>
        <p:spPr>
          <a:xfrm>
            <a:off x="367600" y="322625"/>
            <a:ext cx="8776500" cy="594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Competitors are already live with conversational search and seeing massive gains</a:t>
            </a:r>
            <a:endParaRPr b="0" i="0" sz="2200" u="none" cap="none" strike="noStrike">
              <a:solidFill>
                <a:schemeClr val="dk1"/>
              </a:solidFill>
              <a:latin typeface="Calibri"/>
              <a:ea typeface="Calibri"/>
              <a:cs typeface="Calibri"/>
              <a:sym typeface="Calibri"/>
            </a:endParaRPr>
          </a:p>
        </p:txBody>
      </p:sp>
      <p:sp>
        <p:nvSpPr>
          <p:cNvPr id="46" name="Google Shape;46;p3"/>
          <p:cNvSpPr/>
          <p:nvPr/>
        </p:nvSpPr>
        <p:spPr>
          <a:xfrm>
            <a:off x="906749" y="1202975"/>
            <a:ext cx="351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563EB"/>
              </a:buClr>
              <a:buSzPts val="1600"/>
              <a:buFont typeface="Inter"/>
              <a:buNone/>
            </a:pPr>
            <a:r>
              <a:rPr b="1" i="0" lang="en-US" sz="1600" u="none" cap="none" strike="noStrike">
                <a:solidFill>
                  <a:srgbClr val="2563EB"/>
                </a:solidFill>
                <a:latin typeface="Inter"/>
                <a:ea typeface="Inter"/>
                <a:cs typeface="Inter"/>
                <a:sym typeface="Inter"/>
              </a:rPr>
              <a:t>Global</a:t>
            </a:r>
            <a:endParaRPr b="0" i="0" sz="1600" u="none" cap="none" strike="noStrike">
              <a:solidFill>
                <a:schemeClr val="dk1"/>
              </a:solidFill>
              <a:latin typeface="Calibri"/>
              <a:ea typeface="Calibri"/>
              <a:cs typeface="Calibri"/>
              <a:sym typeface="Calibri"/>
            </a:endParaRPr>
          </a:p>
        </p:txBody>
      </p:sp>
      <p:sp>
        <p:nvSpPr>
          <p:cNvPr id="47" name="Google Shape;47;p3"/>
          <p:cNvSpPr/>
          <p:nvPr/>
        </p:nvSpPr>
        <p:spPr>
          <a:xfrm>
            <a:off x="594050" y="1463050"/>
            <a:ext cx="3978900" cy="260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Puma (AI Shopping Assistant)</a:t>
            </a:r>
            <a:r>
              <a:rPr b="0" i="0" lang="en-US" sz="1100" u="none" cap="none" strike="noStrike">
                <a:solidFill>
                  <a:srgbClr val="4B5563"/>
                </a:solidFill>
                <a:latin typeface="Inter"/>
                <a:ea typeface="Inter"/>
                <a:cs typeface="Inter"/>
                <a:sym typeface="Inter"/>
              </a:rPr>
              <a:t xml:space="preserve"> — 7x higher conversion for AI-assisted shoppers vs non-users, 8x higher revenue per visitor. 42% of queries are about sizing/fit.</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Nike (Nike Fit)</a:t>
            </a:r>
            <a:r>
              <a:rPr b="0" i="0" lang="en-US" sz="1100" u="none" cap="none" strike="noStrike">
                <a:solidFill>
                  <a:srgbClr val="4B5563"/>
                </a:solidFill>
                <a:latin typeface="Inter"/>
                <a:ea typeface="Inter"/>
                <a:cs typeface="Inter"/>
                <a:sym typeface="Inter"/>
              </a:rPr>
              <a:t xml:space="preserve"> — AR foot-scanning in the Nike App, 13-point measurement system for personalized size recommendations. 500K+ sizing calls/year eliminated.</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Zappos</a:t>
            </a:r>
            <a:r>
              <a:rPr b="0" i="0" lang="en-US" sz="1100" u="none" cap="none" strike="noStrike">
                <a:solidFill>
                  <a:srgbClr val="4B5563"/>
                </a:solidFill>
                <a:latin typeface="Inter"/>
                <a:ea typeface="Inter"/>
                <a:cs typeface="Inter"/>
                <a:sym typeface="Inter"/>
              </a:rPr>
              <a:t xml:space="preserve"> — AI-rebuilt search engine using genetic algorithms, personal shopping assistant on Sneakers tab, conversational chatbot for size recommendations.</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Steve Madden</a:t>
            </a:r>
            <a:r>
              <a:rPr b="0" i="0" lang="en-US" sz="1100" u="none" cap="none" strike="noStrike">
                <a:solidFill>
                  <a:srgbClr val="4B5563"/>
                </a:solidFill>
                <a:latin typeface="Inter"/>
                <a:ea typeface="Inter"/>
                <a:cs typeface="Inter"/>
                <a:sym typeface="Inter"/>
              </a:rPr>
              <a:t xml:space="preserve"> — AI shopping optimization via Fast Simon across 25 stores on 5 continents (Sep 2024).</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Volumental (New Balance, Hoka, On, Adidas)</a:t>
            </a:r>
            <a:r>
              <a:rPr b="0" i="0" lang="en-US" sz="1100" u="none" cap="none" strike="noStrike">
                <a:solidFill>
                  <a:srgbClr val="4B5563"/>
                </a:solidFill>
                <a:latin typeface="Inter"/>
                <a:ea typeface="Inter"/>
                <a:cs typeface="Inter"/>
                <a:sym typeface="Inter"/>
              </a:rPr>
              <a:t xml:space="preserve"> — 3D foot scanning + AI fit engine, 25% return reduction, 32.5% basket size increase across retailers.</a:t>
            </a:r>
          </a:p>
        </p:txBody>
      </p:sp>
      <p:sp>
        <p:nvSpPr>
          <p:cNvPr id="48" name="Google Shape;48;p3"/>
          <p:cNvSpPr/>
          <p:nvPr/>
        </p:nvSpPr>
        <p:spPr>
          <a:xfrm>
            <a:off x="5025900" y="1202975"/>
            <a:ext cx="3432300" cy="22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C2626"/>
              </a:buClr>
              <a:buSzPts val="1600"/>
              <a:buFont typeface="Inter"/>
              <a:buNone/>
            </a:pPr>
            <a:r>
              <a:rPr b="1" i="0" lang="en-US" sz="1600" u="none" cap="none" strike="noStrike">
                <a:solidFill>
                  <a:srgbClr val="DC2626"/>
                </a:solidFill>
                <a:latin typeface="Inter"/>
                <a:ea typeface="Inter"/>
                <a:cs typeface="Inter"/>
                <a:sym typeface="Inter"/>
              </a:rPr>
              <a:t>India (your direct market)</a:t>
            </a:r>
            <a:endParaRPr b="0" i="0" sz="1600" u="none" cap="none" strike="noStrike">
              <a:solidFill>
                <a:schemeClr val="dk1"/>
              </a:solidFill>
              <a:latin typeface="Calibri"/>
              <a:ea typeface="Calibri"/>
              <a:cs typeface="Calibri"/>
              <a:sym typeface="Calibri"/>
            </a:endParaRPr>
          </a:p>
        </p:txBody>
      </p:sp>
      <p:sp>
        <p:nvSpPr>
          <p:cNvPr id="49" name="Google Shape;49;p3"/>
          <p:cNvSpPr/>
          <p:nvPr/>
        </p:nvSpPr>
        <p:spPr>
          <a:xfrm>
            <a:off x="4709150" y="1630300"/>
            <a:ext cx="3749100" cy="23184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Myntra (Maya)</a:t>
            </a:r>
            <a:r>
              <a:rPr i="0" lang="en-US" sz="1100" u="none" cap="none" strike="noStrike">
                <a:solidFill>
                  <a:schemeClr val="dk1"/>
                </a:solidFill>
                <a:latin typeface="Inter"/>
                <a:ea typeface="Inter"/>
                <a:cs typeface="Inter"/>
                <a:sym typeface="Inter"/>
              </a:rPr>
              <a:t xml:space="preserve"> — ChatGPT-powered conversational stylist, covers 2.3M styles across fashion and footwear.</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Flipkart (Flippi / SLAP)</a:t>
            </a:r>
            <a:r>
              <a:rPr i="0" lang="en-US" sz="1100" u="none" cap="none" strike="noStrike">
                <a:solidFill>
                  <a:schemeClr val="dk1"/>
                </a:solidFill>
                <a:latin typeface="Inter"/>
                <a:ea typeface="Inter"/>
                <a:cs typeface="Inter"/>
                <a:sym typeface="Inter"/>
              </a:rPr>
              <a:t xml:space="preserve"> — Flippi live; SLAP standalone conversational AI shopping app launched Jan 2026.</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Amazon India (Rufus)</a:t>
            </a:r>
            <a:r>
              <a:rPr i="0" lang="en-US" sz="1100" u="none" cap="none" strike="noStrike">
                <a:solidFill>
                  <a:schemeClr val="dk1"/>
                </a:solidFill>
                <a:latin typeface="Inter"/>
                <a:ea typeface="Inter"/>
                <a:cs typeface="Inter"/>
                <a:sym typeface="Inter"/>
              </a:rPr>
              <a:t xml:space="preserve"> — live across all categories including footwear, but only 32% accuracy on product matching.</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Ajio</a:t>
            </a:r>
            <a:r>
              <a:rPr i="0" lang="en-US" sz="1100" u="none" cap="none" strike="noStrike">
                <a:solidFill>
                  <a:schemeClr val="dk1"/>
                </a:solidFill>
                <a:latin typeface="Inter"/>
                <a:ea typeface="Inter"/>
                <a:cs typeface="Inter"/>
                <a:sym typeface="Inter"/>
              </a:rPr>
              <a:t xml:space="preserve"> — AI-powered personalization and visual search across fashion and footwear.</a:t>
            </a:r>
          </a:p>
          <a:p>
            <a:pPr indent="-342900" lvl="0" marL="342900" marR="0" rtl="0" algn="l">
              <a:lnSpc>
                <a:spcPct val="100000"/>
              </a:lnSpc>
              <a:spcBef>
                <a:spcPts val="0"/>
              </a:spcBef>
              <a:spcAft>
                <a:spcPts val="0"/>
              </a:spcAft>
              <a:buClr>
                <a:srgbClr val="4B5563"/>
              </a:buClr>
              <a:buSzPts val="1100"/>
              <a:buFont typeface="Inter"/>
              <a:buChar char="•"/>
            </a:pPr>
            <a:r>
              <a:rPr b="1" i="0" lang="en-US" sz="1100" u="none" cap="none" strike="noStrike">
                <a:solidFill>
                  <a:schemeClr val="dk1"/>
                </a:solidFill>
                <a:latin typeface="Inter"/>
                <a:ea typeface="Inter"/>
                <a:cs typeface="Inter"/>
                <a:sym typeface="Inter"/>
              </a:rPr>
              <a:t xml:space="preserve">Bata, Metro, Woodland, Campus, Relaxo</a:t>
            </a:r>
            <a:r>
              <a:rPr i="0" lang="en-US" sz="1100" u="none" cap="none" strike="noStrike">
                <a:solidFill>
                  <a:schemeClr val="dk1"/>
                </a:solidFill>
                <a:latin typeface="Inter"/>
                <a:ea typeface="Inter"/>
                <a:cs typeface="Inter"/>
                <a:sym typeface="Inter"/>
              </a:rPr>
              <a:t xml:space="preserve"> — no on-site conversational assistants or AI fit tools today. Indian footwear D2C is entirely unserved.</a:t>
            </a:r>
          </a:p>
        </p:txBody>
      </p:sp>
      <p:sp>
        <p:nvSpPr>
          <p:cNvPr id="50" name="Google Shape;50;p3"/>
          <p:cNvSpPr/>
          <p:nvPr/>
        </p:nvSpPr>
        <p:spPr>
          <a:xfrm>
            <a:off x="685800" y="4290785"/>
            <a:ext cx="7772400" cy="640200"/>
          </a:xfrm>
          <a:prstGeom prst="rect">
            <a:avLst/>
          </a:prstGeom>
          <a:solidFill>
            <a:srgbClr val="EFF6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
          <p:cNvSpPr/>
          <p:nvPr/>
        </p:nvSpPr>
        <p:spPr>
          <a:xfrm>
            <a:off x="814750" y="4382275"/>
            <a:ext cx="7510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100"/>
              <a:buFont typeface="Inter"/>
              <a:buNone/>
            </a:pPr>
            <a:r>
              <a:rPr b="1" i="0" lang="en-US" sz="1100" u="none" cap="none" strike="noStrike">
                <a:solidFill>
                  <a:srgbClr val="111827"/>
                </a:solidFill>
                <a:latin typeface="Inter"/>
                <a:ea typeface="Inter"/>
                <a:cs typeface="Inter"/>
                <a:sym typeface="Inter"/>
              </a:rPr>
              <a:t xml:space="preserve">Platform shift: </a:t>
            </a:r>
            <a:r>
              <a:rPr b="0" i="0" lang="en-US" sz="1100" u="none" cap="none" strike="noStrike">
                <a:solidFill>
                  <a:srgbClr val="111827"/>
                </a:solidFill>
                <a:latin typeface="Inter"/>
                <a:ea typeface="Inter"/>
                <a:cs typeface="Inter"/>
                <a:sym typeface="Inter"/>
              </a:rPr>
              <a:t>Walmart, Target, Sephora, Nordstrom, Best Buy, Home Depot, Wayfair, Frasers, Sephora, Etsy, Macy’s all have integrated AI shopping assistants on their websites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4"/>
          <p:cNvSpPr txBox="1"/>
          <p:nvPr/>
        </p:nvSpPr>
        <p:spPr>
          <a:xfrm>
            <a:off x="253350" y="129400"/>
            <a:ext cx="8890500" cy="861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111827"/>
                </a:solidFill>
                <a:latin typeface="Inter"/>
                <a:ea typeface="Inter"/>
                <a:cs typeface="Inter"/>
                <a:sym typeface="Inter"/>
              </a:rPr>
              <a:t>The gap in e-comm search today - shoppers think in problems and intents, search engines think in keywords.</a:t>
            </a:r>
            <a:endParaRPr b="0" i="0" sz="2200" u="none" cap="none" strike="noStrike">
              <a:solidFill>
                <a:schemeClr val="dk1"/>
              </a:solidFill>
              <a:latin typeface="Calibri"/>
              <a:ea typeface="Calibri"/>
              <a:cs typeface="Calibri"/>
              <a:sym typeface="Calibri"/>
            </a:endParaRPr>
          </a:p>
        </p:txBody>
      </p:sp>
      <p:sp>
        <p:nvSpPr>
          <p:cNvPr id="58" name="Google Shape;58;p4"/>
          <p:cNvSpPr txBox="1"/>
          <p:nvPr/>
        </p:nvSpPr>
        <p:spPr>
          <a:xfrm>
            <a:off x="217075" y="1052800"/>
            <a:ext cx="8637300" cy="370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The current search bar on your e-commerce website needs the right keywords. It does not understand human language, it cannot match sneakers and trainers, it cannot link “standing all day at work” to cushioned and cushioned to memory foam.</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But shoppers today do not shop using keywords such as “formal shoes for office” or “white cushioned running shoes”, they shop by intents such as “with arch support for flat feet” or “that won’t hurt my plantar fasciitis”.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What is happening is, even if your catalog has all the relevant products, these products are invisible to your buyer.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What an AI Sales Associate changes :  “I need white cushioned running shoes with arch support for flat feet, wide toe box, within budget”</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rgbClr val="4B5563"/>
                </a:solidFill>
                <a:latin typeface="Inter"/>
                <a:ea typeface="Inter"/>
                <a:cs typeface="Inter"/>
                <a:sym typeface="Inter"/>
              </a:rPr>
              <a:t>An AI sales associate powered by a knowledge graph understands intent + constraints + context, it maps flat feet to arch support/stability, wide toe box to wide-fit, adds the conditions for price and cushioning and returns relevant products from the catalog - exactly what the shopper means and wants, not just what they typed.</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rgbClr val="4B5563"/>
                </a:solidFill>
                <a:latin typeface="Inter"/>
                <a:ea typeface="Inter"/>
                <a:cs typeface="Inter"/>
                <a:sym typeface="Inter"/>
              </a:rPr>
              <a:t xml:space="preserve">                                                                                                                                                                                                                                                                                                                                                                                                                                      </a:t>
            </a:r>
            <a:endParaRPr b="0" i="0" sz="1100" u="none" cap="none" strike="noStrike">
              <a:solidFill>
                <a:srgbClr val="4B5563"/>
              </a:solidFill>
              <a:latin typeface="Inter"/>
              <a:ea typeface="Inter"/>
              <a:cs typeface="Inter"/>
              <a:sym typeface="Inter"/>
            </a:endParaRPr>
          </a:p>
        </p:txBody>
      </p:sp>
      <p:pic>
        <p:nvPicPr>
          <p:cNvPr id="59" name="Picture 58" descr="shoes_table.png"/>
          <p:cNvPicPr>
            <a:picLocks noChangeAspect="1"/>
          </p:cNvPicPr>
          <p:nvPr/>
        </p:nvPicPr>
        <p:blipFill>
          <a:blip r:embed="rId4"/>
          <a:stretch>
            <a:fillRect/>
          </a:stretch>
        </p:blipFill>
        <p:spPr>
          <a:xfrm>
            <a:off x="2471075" y="2460600"/>
            <a:ext cx="4455051" cy="1031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 name="Shape 64"/>
        <p:cNvGrpSpPr/>
        <p:nvPr/>
      </p:nvGrpSpPr>
      <p:grpSpPr>
        <a:xfrm>
          <a:off x="0" y="0"/>
          <a:ext cx="0" cy="0"/>
          <a:chOff x="0" y="0"/>
          <a:chExt cx="0" cy="0"/>
        </a:xfrm>
      </p:grpSpPr>
      <p:sp>
        <p:nvSpPr>
          <p:cNvPr id="65" name="Google Shape;65;p5"/>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5"/>
          <p:cNvSpPr/>
          <p:nvPr/>
        </p:nvSpPr>
        <p:spPr>
          <a:xfrm>
            <a:off x="488000" y="194225"/>
            <a:ext cx="7860900" cy="59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200" u="none" cap="none" strike="noStrike">
                <a:solidFill>
                  <a:srgbClr val="111827"/>
                </a:solidFill>
                <a:latin typeface="Inter"/>
                <a:ea typeface="Inter"/>
                <a:cs typeface="Inter"/>
                <a:sym typeface="Inter"/>
              </a:rPr>
              <a:t>Why this gap exists — three structural challenges</a:t>
            </a:r>
            <a:endParaRPr b="0" i="0" sz="2200" u="none" cap="none" strike="noStrike">
              <a:solidFill>
                <a:schemeClr val="dk1"/>
              </a:solidFill>
              <a:latin typeface="Calibri"/>
              <a:ea typeface="Calibri"/>
              <a:cs typeface="Calibri"/>
              <a:sym typeface="Calibri"/>
            </a:endParaRPr>
          </a:p>
        </p:txBody>
      </p:sp>
      <p:sp>
        <p:nvSpPr>
          <p:cNvPr id="67" name="Google Shape;67;p5"/>
          <p:cNvSpPr/>
          <p:nvPr/>
        </p:nvSpPr>
        <p:spPr>
          <a:xfrm>
            <a:off x="267050" y="877085"/>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5"/>
          <p:cNvSpPr/>
          <p:nvPr/>
        </p:nvSpPr>
        <p:spPr>
          <a:xfrm>
            <a:off x="267050" y="87708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1</a:t>
            </a:r>
            <a:endParaRPr b="0" i="0" sz="1400" u="none" cap="none" strike="noStrike">
              <a:solidFill>
                <a:schemeClr val="dk1"/>
              </a:solidFill>
              <a:latin typeface="Calibri"/>
              <a:ea typeface="Calibri"/>
              <a:cs typeface="Calibri"/>
              <a:sym typeface="Calibri"/>
            </a:endParaRPr>
          </a:p>
        </p:txBody>
      </p:sp>
      <p:sp>
        <p:nvSpPr>
          <p:cNvPr id="69" name="Google Shape;69;p5"/>
          <p:cNvSpPr/>
          <p:nvPr/>
        </p:nvSpPr>
        <p:spPr>
          <a:xfrm>
            <a:off x="724250" y="867400"/>
            <a:ext cx="77649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Catalogs need tagging and enrichment to be AI agent readable</a:t>
            </a:r>
            <a:endParaRPr b="0" i="0" sz="1600" u="none" cap="none" strike="noStrike">
              <a:solidFill>
                <a:schemeClr val="dk1"/>
              </a:solidFill>
              <a:latin typeface="Calibri"/>
              <a:ea typeface="Calibri"/>
              <a:cs typeface="Calibri"/>
              <a:sym typeface="Calibri"/>
            </a:endParaRPr>
          </a:p>
        </p:txBody>
      </p:sp>
      <p:sp>
        <p:nvSpPr>
          <p:cNvPr id="70" name="Google Shape;70;p5"/>
          <p:cNvSpPr/>
          <p:nvPr/>
        </p:nvSpPr>
        <p:spPr>
          <a:xfrm>
            <a:off x="326250" y="1354925"/>
            <a:ext cx="83424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AI agents waste millions of tokens to understand the actual product in the catalog</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30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Catalogs today don't expose attributes such as arch/cushioning and tags such as “cushioned” or “breathable” which an AI agent needs to map intent such as “shoes for standing all day at work”  to “memory foam arch support shoe” or “for a beach wedding in Goa” to “embellished block-heel sandal”.</a:t>
            </a:r>
            <a:endParaRPr b="0" i="0" sz="1200" u="none" cap="none" strike="noStrike">
              <a:solidFill>
                <a:schemeClr val="dk1"/>
              </a:solidFill>
              <a:latin typeface="Calibri"/>
              <a:ea typeface="Calibri"/>
              <a:cs typeface="Calibri"/>
              <a:sym typeface="Calibri"/>
            </a:endParaRPr>
          </a:p>
        </p:txBody>
      </p:sp>
      <p:sp>
        <p:nvSpPr>
          <p:cNvPr id="71" name="Google Shape;71;p5"/>
          <p:cNvSpPr/>
          <p:nvPr/>
        </p:nvSpPr>
        <p:spPr>
          <a:xfrm>
            <a:off x="267050" y="2312477"/>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267050" y="2396620"/>
            <a:ext cx="320100" cy="126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2</a:t>
            </a:r>
            <a:endParaRPr b="0" i="0" sz="1400" u="none" cap="none" strike="noStrike">
              <a:solidFill>
                <a:schemeClr val="dk1"/>
              </a:solidFill>
              <a:latin typeface="Calibri"/>
              <a:ea typeface="Calibri"/>
              <a:cs typeface="Calibri"/>
              <a:sym typeface="Calibri"/>
            </a:endParaRPr>
          </a:p>
        </p:txBody>
      </p:sp>
      <p:sp>
        <p:nvSpPr>
          <p:cNvPr id="73" name="Google Shape;73;p5"/>
          <p:cNvSpPr/>
          <p:nvPr/>
        </p:nvSpPr>
        <p:spPr>
          <a:xfrm>
            <a:off x="733650" y="2312487"/>
            <a:ext cx="75276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Conversational search needs a knowledge graph to map intent to keywords</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369650" y="2712925"/>
            <a:ext cx="8081700" cy="854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Unlike traditional search bars that only cater to keyword matching for direct queries like “white running shoes” or “wide-fit walking shoes”, AI chat assistants need to answer intent based queries like “I need shoes for my bad knees” or “I want running shoes for overpronation”. They have to map buyer intent to keywords using a knowledge graph and then search the catalog for relevant products using keywords, refer to the diagram on slide 11 for an example</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267050" y="3757583"/>
            <a:ext cx="320100" cy="320100"/>
          </a:xfrm>
          <a:prstGeom prst="ellipse">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267050" y="3757545"/>
            <a:ext cx="3201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Inter"/>
              <a:buNone/>
            </a:pPr>
            <a:r>
              <a:rPr b="1" i="0" lang="en-US" sz="1400" u="none" cap="none" strike="noStrike">
                <a:solidFill>
                  <a:srgbClr val="FFFFFF"/>
                </a:solidFill>
                <a:latin typeface="Inter"/>
                <a:ea typeface="Inter"/>
                <a:cs typeface="Inter"/>
                <a:sym typeface="Inter"/>
              </a:rPr>
              <a:t>3</a:t>
            </a:r>
            <a:endParaRPr b="0" i="0" sz="1400" u="none" cap="none" strike="noStrike">
              <a:solidFill>
                <a:schemeClr val="dk1"/>
              </a:solidFill>
              <a:latin typeface="Calibri"/>
              <a:ea typeface="Calibri"/>
              <a:cs typeface="Calibri"/>
              <a:sym typeface="Calibri"/>
            </a:endParaRPr>
          </a:p>
        </p:txBody>
      </p:sp>
      <p:sp>
        <p:nvSpPr>
          <p:cNvPr id="77" name="Google Shape;77;p5"/>
          <p:cNvSpPr/>
          <p:nvPr/>
        </p:nvSpPr>
        <p:spPr>
          <a:xfrm>
            <a:off x="724250" y="3757570"/>
            <a:ext cx="64008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LLMs alone can't reason over catalogs to answer human queries</a:t>
            </a:r>
            <a:endParaRPr b="0" i="0" sz="1600" u="none" cap="none" strike="noStrike">
              <a:solidFill>
                <a:schemeClr val="dk1"/>
              </a:solidFill>
              <a:latin typeface="Calibri"/>
              <a:ea typeface="Calibri"/>
              <a:cs typeface="Calibri"/>
              <a:sym typeface="Calibri"/>
            </a:endParaRPr>
          </a:p>
        </p:txBody>
      </p:sp>
      <p:sp>
        <p:nvSpPr>
          <p:cNvPr id="78" name="Google Shape;78;p5"/>
          <p:cNvSpPr/>
          <p:nvPr/>
        </p:nvSpPr>
        <p:spPr>
          <a:xfrm>
            <a:off x="407450" y="4077650"/>
            <a:ext cx="8006100" cy="6519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LLMs give generic answers, they have not been trained on proprietary e-commerce data.They also take time to give answers(100ms-2s latency vs sub-20ms graph traversal)</a:t>
            </a:r>
            <a:endParaRPr b="0" i="0" sz="12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4B5563"/>
              </a:buClr>
              <a:buSzPts val="1200"/>
              <a:buFont typeface="Inter"/>
              <a:buChar char="•"/>
            </a:pPr>
            <a:r>
              <a:rPr b="0" i="0" lang="en-US" sz="1200" u="none" cap="none" strike="noStrike">
                <a:solidFill>
                  <a:srgbClr val="4B5563"/>
                </a:solidFill>
                <a:latin typeface="Inter"/>
                <a:ea typeface="Inter"/>
                <a:cs typeface="Inter"/>
                <a:sym typeface="Inter"/>
              </a:rPr>
              <a:t>Knowledge context graph gives LLM the extra data that they need to map intent to keywords like a human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8"/>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254475" y="290775"/>
            <a:ext cx="8793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lang="en-US" sz="2300">
                <a:solidFill>
                  <a:srgbClr val="111827"/>
                </a:solidFill>
                <a:latin typeface="Inter"/>
                <a:ea typeface="Inter"/>
                <a:cs typeface="Inter"/>
                <a:sym typeface="Inter"/>
              </a:rPr>
              <a:t>We ran an audit on the &lt;&gt;website to see what fails today</a:t>
            </a:r>
            <a:endParaRPr b="0" i="0" sz="2300" u="none" cap="none" strike="noStrike">
              <a:solidFill>
                <a:schemeClr val="dk1"/>
              </a:solidFill>
              <a:latin typeface="Calibri"/>
              <a:ea typeface="Calibri"/>
              <a:cs typeface="Calibri"/>
              <a:sym typeface="Calibri"/>
            </a:endParaRPr>
          </a:p>
        </p:txBody>
      </p:sp>
      <p:graphicFrame>
        <p:nvGraphicFramePr>
          <p:cNvPr id="86" name="Google Shape;86;p8"/>
          <p:cNvGraphicFramePr/>
          <p:nvPr/>
        </p:nvGraphicFramePr>
        <p:xfrm>
          <a:off x="254475" y="979872"/>
          <a:ext cx="3000000" cy="3000000"/>
        </p:xfrm>
        <a:graphic>
          <a:graphicData uri="http://schemas.openxmlformats.org/drawingml/2006/table">
            <a:tbl>
              <a:tblPr>
                <a:noFill/>
                <a:tableStyleId>{A667869B-1F53-4C99-AD8D-8728D57326FD}</a:tableStyleId>
              </a:tblPr>
              <a:tblGrid>
                <a:gridCol w="2732400"/>
                <a:gridCol w="1377250"/>
                <a:gridCol w="4525400"/>
              </a:tblGrid>
              <a:tr h="368075">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the shopper searches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Search returns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What exists in the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bl>
          </a:graphicData>
        </a:graphic>
      </p:graphicFrame>
      <p:sp>
        <p:nvSpPr>
          <p:cNvPr id="87" name="Google Shape;87;p8"/>
          <p:cNvSpPr/>
          <p:nvPr/>
        </p:nvSpPr>
        <p:spPr>
          <a:xfrm>
            <a:off x="254475" y="4552499"/>
            <a:ext cx="863520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A3AF"/>
              </a:buClr>
              <a:buSzPts val="1100"/>
              <a:buFont typeface="Inter"/>
              <a:buNone/>
            </a:pPr>
            <a:r>
              <a:rPr b="0" i="1" lang="en-US" sz="1100" u="none" cap="none" strike="noStrike">
                <a:solidFill>
                  <a:schemeClr val="dk1"/>
                </a:solidFill>
                <a:latin typeface="Inter"/>
                <a:ea typeface="Inter"/>
                <a:cs typeface="Inter"/>
                <a:sym typeface="Inter"/>
              </a:rPr>
              <a:t xml:space="preserve">Every query is grounded in Google autocomplete — real shoppers type these. The products exist. The search can't connect the two. </a:t>
            </a:r>
            <a:r>
              <a:rPr i="1" lang="en-US" sz="1100">
                <a:solidFill>
                  <a:schemeClr val="dk1"/>
                </a:solidFill>
                <a:latin typeface="Inter"/>
                <a:ea typeface="Inter"/>
                <a:cs typeface="Inter"/>
                <a:sym typeface="Inter"/>
              </a:rPr>
              <a:t>For a more detailed report see the report attached with the email.</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Placeholder 1"/>
          <p:cNvSpPr/>
          <p:nvPr/>
        </p:nvSpPr>
        <p:spPr>
          <a:xfrm>
            <a:off x="0" y="0"/>
            <a:ext cx="4175109" cy="235052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#1</a:t>
            </a:r>
          </a:p>
          <a:p>
            <a:pPr algn="ctr"/>
            <a:r>
              <a:rPr lang="en-US" sz="1100" i="1">
                <a:solidFill>
                  <a:srgbClr val="999999"/>
                </a:solidFill>
                <a:latin typeface="Inter"/>
              </a:rPr>
              <a:t>paste the search-results screenshot for the most egregious failing query here</a:t>
            </a:r>
          </a:p>
        </p:txBody>
      </p:sp>
      <p:sp>
        <p:nvSpPr>
          <p:cNvPr id="94" name="Placeholder 2"/>
          <p:cNvSpPr/>
          <p:nvPr/>
        </p:nvSpPr>
        <p:spPr>
          <a:xfrm>
            <a:off x="4968925" y="5"/>
            <a:ext cx="4175078" cy="2350520"/>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#2</a:t>
            </a:r>
          </a:p>
          <a:p>
            <a:pPr algn="ctr"/>
            <a:r>
              <a:rPr lang="en-US" sz="1100" i="1">
                <a:solidFill>
                  <a:srgbClr val="999999"/>
                </a:solidFill>
                <a:latin typeface="Inter"/>
              </a:rPr>
              <a:t>paste the search-results screenshot for the most egregious failing query here</a:t>
            </a:r>
          </a:p>
        </p:txBody>
      </p:sp>
      <p:sp>
        <p:nvSpPr>
          <p:cNvPr id="95" name="Placeholder 3"/>
          <p:cNvSpPr/>
          <p:nvPr/>
        </p:nvSpPr>
        <p:spPr>
          <a:xfrm>
            <a:off x="0" y="2801079"/>
            <a:ext cx="4175099" cy="235054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#3</a:t>
            </a:r>
          </a:p>
          <a:p>
            <a:pPr algn="ctr"/>
            <a:r>
              <a:rPr lang="en-US" sz="1100" i="1">
                <a:solidFill>
                  <a:srgbClr val="999999"/>
                </a:solidFill>
                <a:latin typeface="Inter"/>
              </a:rPr>
              <a:t>paste the search-results screenshot for the most egregious failing query here</a:t>
            </a:r>
          </a:p>
        </p:txBody>
      </p:sp>
      <p:sp>
        <p:nvSpPr>
          <p:cNvPr id="96" name="Placeholder 4"/>
          <p:cNvSpPr/>
          <p:nvPr/>
        </p:nvSpPr>
        <p:spPr>
          <a:xfrm>
            <a:off x="4968925" y="2801118"/>
            <a:ext cx="4175073" cy="2350506"/>
          </a:xfrm>
          <a:prstGeom prst="rect">
            <a:avLst/>
          </a:prstGeom>
          <a:solidFill>
            <a:srgbClr val="F5F5F5"/>
          </a:solidFill>
          <a:ln cap="flat" cmpd="sng" w="12700">
            <a:solidFill>
              <a:srgbClr val="999999"/>
            </a:solidFill>
            <a:prstDash val="dash"/>
            <a:round/>
            <a:headEnd len="sm" w="sm" type="none"/>
            <a:tailEnd len="sm" w="sm" type="none"/>
          </a:ln>
        </p:spPr>
        <p:txBody>
          <a:bodyPr anchor="ctr" anchorCtr="1" wrap="square" rtlCol="0">
            <a:normAutofit/>
          </a:bodyPr>
          <a:lstStyle/>
          <a:p>
            <a:pPr algn="ctr"/>
            <a:r>
              <a:rPr lang="en-US" sz="1400" b="1">
                <a:solidFill>
                  <a:srgbClr val="666666"/>
                </a:solidFill>
                <a:latin typeface="Inter"/>
              </a:rPr>
              <a:t>Screenshot of failing query #4</a:t>
            </a:r>
          </a:p>
          <a:p>
            <a:pPr algn="ctr"/>
            <a:r>
              <a:rPr lang="en-US" sz="1100" i="1">
                <a:solidFill>
                  <a:srgbClr val="999999"/>
                </a:solidFill>
                <a:latin typeface="Inter"/>
              </a:rPr>
              <a:t>paste the search-results screenshot for the most egregious failing query here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9"/>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9"/>
          <p:cNvSpPr/>
          <p:nvPr/>
        </p:nvSpPr>
        <p:spPr>
          <a:xfrm>
            <a:off x="685800" y="365750"/>
            <a:ext cx="81552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500" u="none" cap="none" strike="noStrike">
                <a:solidFill>
                  <a:srgbClr val="111827"/>
                </a:solidFill>
                <a:latin typeface="Inter"/>
                <a:ea typeface="Inter"/>
                <a:cs typeface="Inter"/>
                <a:sym typeface="Inter"/>
              </a:rPr>
              <a:t xml:space="preserve">What SuperSearch builds for you </a:t>
            </a:r>
            <a:r>
              <a:rPr b="1" lang="en-US" sz="2500">
                <a:solidFill>
                  <a:srgbClr val="111827"/>
                </a:solidFill>
                <a:latin typeface="Inter"/>
                <a:ea typeface="Inter"/>
                <a:cs typeface="Inter"/>
                <a:sym typeface="Inter"/>
              </a:rPr>
              <a:t>- current offerings</a:t>
            </a:r>
            <a:endParaRPr b="0" i="0" sz="2500" u="none" cap="none" strike="noStrike">
              <a:solidFill>
                <a:schemeClr val="dk1"/>
              </a:solidFill>
              <a:latin typeface="Calibri"/>
              <a:ea typeface="Calibri"/>
              <a:cs typeface="Calibri"/>
              <a:sym typeface="Calibri"/>
            </a:endParaRPr>
          </a:p>
        </p:txBody>
      </p:sp>
      <p:sp>
        <p:nvSpPr>
          <p:cNvPr id="112" name="Google Shape;112;p9"/>
          <p:cNvSpPr/>
          <p:nvPr/>
        </p:nvSpPr>
        <p:spPr>
          <a:xfrm>
            <a:off x="685800" y="1097280"/>
            <a:ext cx="54864" cy="105156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AI Sales Associate on your website that guides buyers to the right purchase</a:t>
            </a:r>
            <a:endParaRPr b="0" i="0" sz="1600" u="none" cap="none" strike="noStrike">
              <a:solidFill>
                <a:schemeClr val="dk1"/>
              </a:solidFill>
              <a:latin typeface="Calibri"/>
              <a:ea typeface="Calibri"/>
              <a:cs typeface="Calibri"/>
              <a:sym typeface="Calibri"/>
            </a:endParaRPr>
          </a:p>
        </p:txBody>
      </p:sp>
      <p:sp>
        <p:nvSpPr>
          <p:cNvPr id="114" name="Google Shape;114;p9"/>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Acts as a digital sales associate — asks the right questions, understands what the buyer actually needs, and guides them to the right product</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Drives revenue, not just answers — every conversation is a guided selling opportunity that converts browsers into buyers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intent based queries such as “running shoes for flat feet”, “comfortable heels for a 12-hour office day” handled just like in ChatGPT and Amazon Rufus, guiding buyers to a purchase just like your best in-store sales associate would.</a:t>
            </a:r>
            <a:endParaRPr b="0" i="0" sz="1300" u="none" cap="none" strike="noStrike">
              <a:solidFill>
                <a:schemeClr val="dk1"/>
              </a:solidFill>
              <a:latin typeface="Calibri"/>
              <a:ea typeface="Calibri"/>
              <a:cs typeface="Calibri"/>
              <a:sym typeface="Calibri"/>
            </a:endParaRPr>
          </a:p>
        </p:txBody>
      </p:sp>
      <p:sp>
        <p:nvSpPr>
          <p:cNvPr id="115" name="Google Shape;115;p9"/>
          <p:cNvSpPr/>
          <p:nvPr/>
        </p:nvSpPr>
        <p:spPr>
          <a:xfrm>
            <a:off x="685800" y="2377440"/>
            <a:ext cx="54864" cy="105156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p:nvPr/>
        </p:nvSpPr>
        <p:spPr>
          <a:xfrm>
            <a:off x="914400" y="237744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Catalog Tagging + Enrichment</a:t>
            </a:r>
            <a:endParaRPr b="0" i="0" sz="1600" u="none" cap="none" strike="noStrike">
              <a:solidFill>
                <a:schemeClr val="dk1"/>
              </a:solidFill>
              <a:latin typeface="Calibri"/>
              <a:ea typeface="Calibri"/>
              <a:cs typeface="Calibri"/>
              <a:sym typeface="Calibri"/>
            </a:endParaRPr>
          </a:p>
        </p:txBody>
      </p:sp>
      <p:sp>
        <p:nvSpPr>
          <p:cNvPr id="117" name="Google Shape;117;p9"/>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All merchant catalogs synced to unified schema that AI agents can read with no token wastage</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Synonyms, spell check, use-case tagging, intent mapping, attribute enrichment across your catalog</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AI agents can directly search the catalog to answer user queries</a:t>
            </a:r>
            <a:endParaRPr b="0" i="0" sz="1300" u="none" cap="none" strike="noStrike">
              <a:solidFill>
                <a:schemeClr val="dk1"/>
              </a:solidFill>
              <a:latin typeface="Calibri"/>
              <a:ea typeface="Calibri"/>
              <a:cs typeface="Calibri"/>
              <a:sym typeface="Calibri"/>
            </a:endParaRPr>
          </a:p>
        </p:txBody>
      </p:sp>
      <p:sp>
        <p:nvSpPr>
          <p:cNvPr id="118" name="Google Shape;118;p9"/>
          <p:cNvSpPr/>
          <p:nvPr/>
        </p:nvSpPr>
        <p:spPr>
          <a:xfrm>
            <a:off x="685800" y="3657600"/>
            <a:ext cx="54864" cy="105156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9"/>
          <p:cNvSpPr/>
          <p:nvPr/>
        </p:nvSpPr>
        <p:spPr>
          <a:xfrm>
            <a:off x="914400" y="3657600"/>
            <a:ext cx="73152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sz="1600" u="none" cap="none" strike="noStrike">
                <a:solidFill>
                  <a:srgbClr val="111827"/>
                </a:solidFill>
                <a:latin typeface="Inter"/>
                <a:ea typeface="Inter"/>
                <a:cs typeface="Inter"/>
                <a:sym typeface="Inter"/>
              </a:rPr>
              <a:t>Intent-Aware Knowledge Graph</a:t>
            </a:r>
            <a:endParaRPr b="0" i="0" sz="1600" u="none" cap="none" strike="noStrike">
              <a:solidFill>
                <a:schemeClr val="dk1"/>
              </a:solidFill>
              <a:latin typeface="Calibri"/>
              <a:ea typeface="Calibri"/>
              <a:cs typeface="Calibri"/>
              <a:sym typeface="Calibri"/>
            </a:endParaRPr>
          </a:p>
        </p:txBody>
      </p:sp>
      <p:sp>
        <p:nvSpPr>
          <p:cNvPr id="120" name="Google Shape;120;p9"/>
          <p:cNvSpPr/>
          <p:nvPr/>
        </p:nvSpPr>
        <p:spPr>
          <a:xfrm>
            <a:off x="914400" y="4087375"/>
            <a:ext cx="8155200" cy="7497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Maps user intent to keywords in PDP’s without spending millions of dollars in LLM tokens</a:t>
            </a:r>
            <a:endParaRPr b="0" i="0" sz="1300" u="none" cap="none" strike="noStrike">
              <a:solidFill>
                <a:schemeClr val="dk1"/>
              </a:solidFill>
              <a:latin typeface="Calibri"/>
              <a:ea typeface="Calibri"/>
              <a:cs typeface="Calibri"/>
              <a:sym typeface="Calibri"/>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Sub-20ms graph traversal vs 100ms-2s for LLM inference</a:t>
            </a:r>
            <a:r>
              <a:rPr b="0" i="0" lang="en-US" sz="1300" u="none" cap="none" strike="noStrike">
                <a:solidFill>
                  <a:schemeClr val="dk1"/>
                </a:solidFill>
                <a:latin typeface="Calibri"/>
                <a:ea typeface="Calibri"/>
                <a:cs typeface="Calibri"/>
                <a:sym typeface="Calibri"/>
              </a:rPr>
              <a:t>, w</a:t>
            </a:r>
            <a:r>
              <a:rPr b="0" i="0" lang="en-US" sz="1300" u="none" cap="none" strike="noStrike">
                <a:solidFill>
                  <a:srgbClr val="4B5563"/>
                </a:solidFill>
                <a:latin typeface="Inter"/>
                <a:ea typeface="Inter"/>
                <a:cs typeface="Inter"/>
                <a:sym typeface="Inter"/>
              </a:rPr>
              <a:t>orks for 5K-50K+ SKU catalogs</a:t>
            </a:r>
            <a:endParaRPr b="0" i="0" sz="1300" u="none" cap="none" strike="noStrike">
              <a:solidFill>
                <a:srgbClr val="4B5563"/>
              </a:solidFill>
              <a:latin typeface="Inter"/>
              <a:ea typeface="Inter"/>
              <a:cs typeface="Inter"/>
              <a:sym typeface="Inter"/>
            </a:endParaRPr>
          </a:p>
          <a:p>
            <a:pPr indent="-342900" lvl="0" marL="342900" marR="0" rtl="0" algn="l">
              <a:lnSpc>
                <a:spcPct val="100000"/>
              </a:lnSpc>
              <a:spcBef>
                <a:spcPts val="400"/>
              </a:spcBef>
              <a:spcAft>
                <a:spcPts val="0"/>
              </a:spcAft>
              <a:buClr>
                <a:srgbClr val="4B5563"/>
              </a:buClr>
              <a:buSzPts val="1300"/>
              <a:buFont typeface="Inter"/>
              <a:buChar char="•"/>
            </a:pPr>
            <a:r>
              <a:rPr b="0" i="0" lang="en-US" sz="1300" u="none" cap="none" strike="noStrike">
                <a:solidFill>
                  <a:srgbClr val="4B5563"/>
                </a:solidFill>
                <a:latin typeface="Inter"/>
                <a:ea typeface="Inter"/>
                <a:cs typeface="Inter"/>
                <a:sym typeface="Inter"/>
              </a:rPr>
              <a:t>Enables AI shopping assistant to answer all intent/event/activity based queries asked by a buyer facilitating a truly realistic online shopping experience and boosting conversion</a:t>
            </a:r>
            <a:endParaRPr b="0" i="0" sz="1300" u="none" cap="none" strike="noStrike">
              <a:solidFill>
                <a:srgbClr val="4B5563"/>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836f29ee0_0_17"/>
          <p:cNvSpPr txBox="1"/>
          <p:nvPr/>
        </p:nvSpPr>
        <p:spPr>
          <a:xfrm>
            <a:off x="410725" y="260850"/>
            <a:ext cx="8475600" cy="7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t>The future of e-commerce - shopping assistants, AR fit prediction, multilingual queries and discovery through apps on LLM platforms.</a:t>
            </a:r>
            <a:endParaRPr b="1" sz="2000"/>
          </a:p>
        </p:txBody>
      </p:sp>
      <p:sp>
        <p:nvSpPr>
          <p:cNvPr id="127" name="Google Shape;127;g3d836f29ee0_0_17"/>
          <p:cNvSpPr txBox="1"/>
          <p:nvPr/>
        </p:nvSpPr>
        <p:spPr>
          <a:xfrm>
            <a:off x="345025" y="1274475"/>
            <a:ext cx="8238300" cy="342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 xml:space="preserve">Buyers today are increasingly looking for AR fit prediction to make more informed decisions.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More and more numbers of queries are being asked in multilingual languages as e-commerce spreads to tier 2 and 3 cities.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 xml:space="preserve">40% of shoppers now start their discovery journey on some AI chat agent </a:t>
            </a:r>
            <a:r>
              <a:rPr lang="en-US"/>
              <a:t xml:space="preserve">such as Gemini/ChatGPT/Perplexity.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reaching a brand’s website, buyers first discover brand</a:t>
            </a:r>
            <a:r>
              <a:rPr lang="en-US"/>
              <a:t>s</a:t>
            </a:r>
            <a:r>
              <a:rPr lang="en-US"/>
              <a:t xml:space="preserve"> through LLMs. While AEO/GEO ensures that a brand comes up in the LLM’s suggestions, that is just the first part. Brands have to also ensure that buyers can </a:t>
            </a:r>
            <a:r>
              <a:rPr lang="en-US"/>
              <a:t>interact</a:t>
            </a:r>
            <a:r>
              <a:rPr lang="en-US"/>
              <a:t xml:space="preserve"> </a:t>
            </a:r>
            <a:r>
              <a:rPr lang="en-US"/>
              <a:t>with</a:t>
            </a:r>
            <a:r>
              <a:rPr lang="en-US"/>
              <a:t xml:space="preserve"> their catalogs within the LLM chat interface itself so they come to their website and buy.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xml:space="preserve">As a result </a:t>
            </a:r>
            <a:r>
              <a:rPr b="1" lang="en-US"/>
              <a:t>Walmart, Sephora, Instacart, Doordash</a:t>
            </a:r>
            <a:r>
              <a:rPr lang="en-US"/>
              <a:t xml:space="preserve"> have already created apps on top of ChatGPT to capture buyers upfront.</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g3d836f29ee0_0_0"/>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d836f29ee0_0_0"/>
          <p:cNvSpPr/>
          <p:nvPr/>
        </p:nvSpPr>
        <p:spPr>
          <a:xfrm>
            <a:off x="685800" y="365750"/>
            <a:ext cx="8308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2800"/>
              <a:buFont typeface="Inter"/>
              <a:buNone/>
            </a:pPr>
            <a:r>
              <a:rPr b="1" i="0" lang="en-US" sz="2400" u="none" cap="none" strike="noStrike">
                <a:solidFill>
                  <a:srgbClr val="111827"/>
                </a:solidFill>
                <a:latin typeface="Inter"/>
                <a:ea typeface="Inter"/>
                <a:cs typeface="Inter"/>
                <a:sym typeface="Inter"/>
              </a:rPr>
              <a:t xml:space="preserve">What SuperSearch builds for you - </a:t>
            </a:r>
            <a:r>
              <a:rPr b="1" lang="en-US" sz="2400">
                <a:solidFill>
                  <a:srgbClr val="111827"/>
                </a:solidFill>
                <a:latin typeface="Inter"/>
                <a:ea typeface="Inter"/>
                <a:cs typeface="Inter"/>
                <a:sym typeface="Inter"/>
              </a:rPr>
              <a:t>upcoming offerings</a:t>
            </a:r>
            <a:endParaRPr b="0" i="0" sz="2400" u="none" cap="none" strike="noStrike">
              <a:solidFill>
                <a:schemeClr val="dk1"/>
              </a:solidFill>
              <a:latin typeface="Calibri"/>
              <a:ea typeface="Calibri"/>
              <a:cs typeface="Calibri"/>
              <a:sym typeface="Calibri"/>
            </a:endParaRPr>
          </a:p>
        </p:txBody>
      </p:sp>
      <p:sp>
        <p:nvSpPr>
          <p:cNvPr id="135" name="Google Shape;135;g3d836f29ee0_0_0"/>
          <p:cNvSpPr/>
          <p:nvPr/>
        </p:nvSpPr>
        <p:spPr>
          <a:xfrm>
            <a:off x="685800" y="1097280"/>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836f29ee0_0_0"/>
          <p:cNvSpPr/>
          <p:nvPr/>
        </p:nvSpPr>
        <p:spPr>
          <a:xfrm>
            <a:off x="914400" y="1056126"/>
            <a:ext cx="7315200" cy="20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AR Fit Prediction</a:t>
            </a:r>
            <a:endParaRPr b="0" i="0" sz="1600" u="none" cap="none" strike="noStrike">
              <a:solidFill>
                <a:schemeClr val="dk1"/>
              </a:solidFill>
              <a:latin typeface="Calibri"/>
              <a:ea typeface="Calibri"/>
              <a:cs typeface="Calibri"/>
              <a:sym typeface="Calibri"/>
            </a:endParaRPr>
          </a:p>
        </p:txBody>
      </p:sp>
      <p:sp>
        <p:nvSpPr>
          <p:cNvPr id="137" name="Google Shape;137;g3d836f29ee0_0_0"/>
          <p:cNvSpPr/>
          <p:nvPr/>
        </p:nvSpPr>
        <p:spPr>
          <a:xfrm>
            <a:off x="914400" y="1490575"/>
            <a:ext cx="7896300" cy="5943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Scan your feet with your phone camera, get AI-powered size recommendations matched to each shoe model.</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67% of shoe returns are due to sizing issues, costing $12-19 per return. Volumental’s 3D scanning cuts returns 25-38%, and Puma reports 42% of AI queries are about sizing/fit.</a:t>
            </a:r>
            <a:endParaRPr sz="1300">
              <a:solidFill>
                <a:srgbClr val="4B5563"/>
              </a:solidFill>
              <a:latin typeface="Inter"/>
              <a:ea typeface="Inter"/>
              <a:cs typeface="Inter"/>
              <a:sym typeface="Inter"/>
            </a:endParaRPr>
          </a:p>
          <a:p>
            <a:pPr indent="-342900" lvl="0" marL="342900" marR="0" rtl="0" algn="l">
              <a:spcBef>
                <a:spcPts val="0"/>
              </a:spcBef>
              <a:spcAft>
                <a:spcPts val="0"/>
              </a:spcAft>
              <a:buClr>
                <a:srgbClr val="4B5563"/>
              </a:buClr>
              <a:buSzPts val="1300"/>
              <a:buFont typeface="Inter"/>
              <a:buChar char="•"/>
            </a:pPr>
            <a:r>
              <a:rPr lang="en-US" sz="1300">
                <a:solidFill>
                  <a:srgbClr val="4B5563"/>
                </a:solidFill>
                <a:latin typeface="Inter"/>
                <a:ea typeface="Inter"/>
                <a:cs typeface="Inter"/>
                <a:sym typeface="Inter"/>
              </a:rPr>
              <a:t>Higher conversion, dramatically fewer returns, lower reverse-logistics cost.</a:t>
            </a:r>
            <a:endParaRPr sz="1300">
              <a:solidFill>
                <a:srgbClr val="4B5563"/>
              </a:solidFill>
              <a:latin typeface="Inter"/>
              <a:ea typeface="Inter"/>
              <a:cs typeface="Inter"/>
              <a:sym typeface="Inter"/>
            </a:endParaRPr>
          </a:p>
        </p:txBody>
      </p:sp>
      <p:sp>
        <p:nvSpPr>
          <p:cNvPr id="138" name="Google Shape;138;g3d836f29ee0_0_0"/>
          <p:cNvSpPr/>
          <p:nvPr/>
        </p:nvSpPr>
        <p:spPr>
          <a:xfrm>
            <a:off x="685800" y="2377440"/>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836f29ee0_0_0"/>
          <p:cNvSpPr/>
          <p:nvPr/>
        </p:nvSpPr>
        <p:spPr>
          <a:xfrm>
            <a:off x="914400" y="2377440"/>
            <a:ext cx="73152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Vernacular + natural-language queries</a:t>
            </a:r>
            <a:endParaRPr b="0" i="0" sz="1600" u="none" cap="none" strike="noStrike">
              <a:solidFill>
                <a:schemeClr val="dk1"/>
              </a:solidFill>
              <a:latin typeface="Calibri"/>
              <a:ea typeface="Calibri"/>
              <a:cs typeface="Calibri"/>
              <a:sym typeface="Calibri"/>
            </a:endParaRPr>
          </a:p>
        </p:txBody>
      </p:sp>
      <p:sp>
        <p:nvSpPr>
          <p:cNvPr id="140" name="Google Shape;140;g3d836f29ee0_0_0"/>
          <p:cNvSpPr/>
          <p:nvPr/>
        </p:nvSpPr>
        <p:spPr>
          <a:xfrm>
            <a:off x="914400" y="2724900"/>
            <a:ext cx="8229600" cy="6402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Hindi, Tamil, Telugu and Bengali queries mapped to the English catalog — “joota” → shoes, “chappal” → sandal, “sports ka joota” → sports shoes.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Natural-language queries like “shoes that won’t hurt my plantar fasciitis” resolve to arch-support shoes instead of 0 results.</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Unlocks tier-2 and tier-3 buyers for whom vernacular and conversational phrasing are the first language of search.</a:t>
            </a:r>
            <a:endParaRPr sz="1300">
              <a:solidFill>
                <a:srgbClr val="4B5563"/>
              </a:solidFill>
              <a:latin typeface="Inter"/>
              <a:ea typeface="Inter"/>
              <a:cs typeface="Inter"/>
              <a:sym typeface="Inter"/>
            </a:endParaRPr>
          </a:p>
        </p:txBody>
      </p:sp>
      <p:sp>
        <p:nvSpPr>
          <p:cNvPr id="141" name="Google Shape;141;g3d836f29ee0_0_0"/>
          <p:cNvSpPr/>
          <p:nvPr/>
        </p:nvSpPr>
        <p:spPr>
          <a:xfrm>
            <a:off x="685800" y="3657600"/>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d836f29ee0_0_0"/>
          <p:cNvSpPr/>
          <p:nvPr/>
        </p:nvSpPr>
        <p:spPr>
          <a:xfrm>
            <a:off x="914400" y="3783675"/>
            <a:ext cx="7315200" cy="166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827"/>
              </a:buClr>
              <a:buSzPts val="1600"/>
              <a:buFont typeface="Inter"/>
              <a:buNone/>
            </a:pPr>
            <a:r>
              <a:rPr b="1" lang="en-US" sz="1600">
                <a:solidFill>
                  <a:srgbClr val="111827"/>
                </a:solidFill>
                <a:latin typeface="Inter"/>
                <a:ea typeface="Inter"/>
                <a:cs typeface="Inter"/>
                <a:sym typeface="Inter"/>
              </a:rPr>
              <a:t>App Storefront on ChatGPT</a:t>
            </a:r>
            <a:endParaRPr b="1" sz="1600">
              <a:solidFill>
                <a:srgbClr val="111827"/>
              </a:solidFill>
              <a:latin typeface="Inter"/>
              <a:ea typeface="Inter"/>
              <a:cs typeface="Inter"/>
              <a:sym typeface="Inter"/>
            </a:endParaRPr>
          </a:p>
        </p:txBody>
      </p:sp>
      <p:sp>
        <p:nvSpPr>
          <p:cNvPr id="143" name="Google Shape;143;g3d836f29ee0_0_0"/>
          <p:cNvSpPr/>
          <p:nvPr/>
        </p:nvSpPr>
        <p:spPr>
          <a:xfrm>
            <a:off x="914400" y="3905525"/>
            <a:ext cx="8155200" cy="931500"/>
          </a:xfrm>
          <a:prstGeom prst="rect">
            <a:avLst/>
          </a:prstGeom>
          <a:noFill/>
          <a:ln>
            <a:noFill/>
          </a:ln>
        </p:spPr>
        <p:txBody>
          <a:bodyPr anchorCtr="0" anchor="ctr" bIns="0" lIns="0" spcFirstLastPara="1" rIns="0" wrap="square" tIns="0">
            <a:noAutofit/>
          </a:bodyPr>
          <a:lstStyle/>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40% of buyers now start their product research on ChatGPT / Gemini / Perplexity before visiting a brand site.</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Your catalog becomes shoppable inside the AI conversation — size, cushioning, arch support, and activity fit surfaced natively.</a:t>
            </a:r>
            <a:endParaRPr sz="1300">
              <a:solidFill>
                <a:srgbClr val="4B5563"/>
              </a:solidFill>
              <a:latin typeface="Inter"/>
              <a:ea typeface="Inter"/>
              <a:cs typeface="Inter"/>
              <a:sym typeface="Inter"/>
            </a:endParaRPr>
          </a:p>
          <a:p>
            <a:pPr indent="-342900" lvl="0" marL="342900" marR="0" rtl="0" algn="l">
              <a:spcBef>
                <a:spcPts val="400"/>
              </a:spcBef>
              <a:spcAft>
                <a:spcPts val="0"/>
              </a:spcAft>
              <a:buClr>
                <a:srgbClr val="4B5563"/>
              </a:buClr>
              <a:buSzPts val="1300"/>
              <a:buFont typeface="Inter"/>
              <a:buChar char="•"/>
            </a:pPr>
            <a:r>
              <a:rPr lang="en-US" sz="1300">
                <a:solidFill>
                  <a:srgbClr val="4B5563"/>
                </a:solidFill>
                <a:latin typeface="Inter"/>
                <a:ea typeface="Inter"/>
                <a:cs typeface="Inter"/>
                <a:sym typeface="Inter"/>
              </a:rPr>
              <a:t>Puma’s AI assistant drives 7x conversion. Indian footwear e-commerce ($5B, growing 9.7% CAGR) is ready for the same.</a:t>
            </a:r>
            <a:endParaRPr sz="1300">
              <a:solidFill>
                <a:srgbClr val="4B5563"/>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nvSpPr>
        <p:spPr>
          <a:xfrm>
            <a:off x="378375" y="239300"/>
            <a:ext cx="8572500" cy="42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Examples of queries with intent being mapped to keywords using knowledge context graph</a:t>
            </a:r>
            <a:endParaRPr b="1" i="0" sz="1500" u="none" cap="none" strike="noStrike">
              <a:solidFill>
                <a:srgbClr val="000000"/>
              </a:solidFill>
              <a:latin typeface="Arial"/>
              <a:ea typeface="Arial"/>
              <a:cs typeface="Arial"/>
              <a:sym typeface="Arial"/>
            </a:endParaRPr>
          </a:p>
        </p:txBody>
      </p:sp>
      <p:pic>
        <p:nvPicPr>
          <p:cNvPr id="150" name="Picture 149" descr="shoes_graph.png"/>
          <p:cNvPicPr>
            <a:picLocks noChangeAspect="1"/>
          </p:cNvPicPr>
          <p:nvPr/>
        </p:nvPicPr>
        <p:blipFill>
          <a:blip r:embed="rId4"/>
          <a:stretch>
            <a:fillRect/>
          </a:stretch>
        </p:blipFill>
        <p:spPr>
          <a:xfrm>
            <a:off x="152400" y="812300"/>
            <a:ext cx="8839197" cy="408039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08950" y="177335"/>
            <a:ext cx="7772400" cy="594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300" u="none" cap="none" strike="noStrike">
                <a:solidFill>
                  <a:srgbClr val="111827"/>
                </a:solidFill>
                <a:latin typeface="Inter"/>
                <a:ea typeface="Inter"/>
                <a:cs typeface="Inter"/>
                <a:sym typeface="Inter"/>
              </a:rPr>
              <a:t>Your AI sales associate doesn't just search — it sells</a:t>
            </a:r>
            <a:endParaRPr b="0" i="0" sz="2300" u="none" cap="none" strike="noStrike">
              <a:solidFill>
                <a:schemeClr val="dk1"/>
              </a:solidFill>
              <a:latin typeface="Calibri"/>
              <a:ea typeface="Calibri"/>
              <a:cs typeface="Calibri"/>
              <a:sym typeface="Calibri"/>
            </a:endParaRPr>
          </a:p>
        </p:txBody>
      </p:sp>
      <p:sp>
        <p:nvSpPr>
          <p:cNvPr id="157" name="Google Shape;157;p12"/>
          <p:cNvSpPr/>
          <p:nvPr/>
        </p:nvSpPr>
        <p:spPr>
          <a:xfrm>
            <a:off x="308950" y="908855"/>
            <a:ext cx="54900" cy="10515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58" name="Google Shape;158;p12"/>
          <p:cNvSpPr/>
          <p:nvPr/>
        </p:nvSpPr>
        <p:spPr>
          <a:xfrm>
            <a:off x="537550" y="867701"/>
            <a:ext cx="7315200" cy="20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Guided discovery → conversion lift</a:t>
            </a:r>
            <a:endParaRPr b="0" i="0" u="none" cap="none" strike="noStrike">
              <a:solidFill>
                <a:schemeClr val="dk1"/>
              </a:solidFill>
              <a:latin typeface="Calibri"/>
              <a:ea typeface="Calibri"/>
              <a:cs typeface="Calibri"/>
              <a:sym typeface="Calibri"/>
            </a:endParaRPr>
          </a:p>
        </p:txBody>
      </p:sp>
      <p:sp>
        <p:nvSpPr>
          <p:cNvPr id="159" name="Google Shape;159;p12"/>
          <p:cNvSpPr/>
          <p:nvPr/>
        </p:nvSpPr>
        <p:spPr>
          <a:xfrm>
            <a:off x="537550" y="1302150"/>
            <a:ext cx="7896300" cy="5943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Like your best sales associate, it clarifies intent instead of dumping a catalog — asks the right follow-up questions (activity, budget, terrain, size/fit) before suggesting anything.</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4x conversion uplift for conversational vs keyword — 12.3% vs 3.1% (Rep AI 2025 Ecommerce Shopper Behavior Report).</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Zalando's AI assistant rollout tied to 18% YoY profitability lift — proof the impact shows up in the P&amp;L.</a:t>
            </a:r>
            <a:endParaRPr b="0" i="0" sz="1100" u="none" cap="none" strike="noStrike">
              <a:solidFill>
                <a:schemeClr val="dk1"/>
              </a:solidFill>
              <a:latin typeface="Calibri"/>
              <a:ea typeface="Calibri"/>
              <a:cs typeface="Calibri"/>
              <a:sym typeface="Calibri"/>
            </a:endParaRPr>
          </a:p>
        </p:txBody>
      </p:sp>
      <p:sp>
        <p:nvSpPr>
          <p:cNvPr id="160" name="Google Shape;160;p12"/>
          <p:cNvSpPr/>
          <p:nvPr/>
        </p:nvSpPr>
        <p:spPr>
          <a:xfrm>
            <a:off x="308950" y="2189015"/>
            <a:ext cx="54900" cy="1051500"/>
          </a:xfrm>
          <a:prstGeom prst="rect">
            <a:avLst/>
          </a:prstGeom>
          <a:solidFill>
            <a:srgbClr val="0596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1" name="Google Shape;161;p12"/>
          <p:cNvSpPr/>
          <p:nvPr/>
        </p:nvSpPr>
        <p:spPr>
          <a:xfrm>
            <a:off x="537550" y="218901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Activity-kit cross-sell → AOV lift</a:t>
            </a:r>
            <a:endParaRPr b="0" i="0" u="none" cap="none" strike="noStrike">
              <a:solidFill>
                <a:schemeClr val="dk1"/>
              </a:solidFill>
              <a:latin typeface="Calibri"/>
              <a:ea typeface="Calibri"/>
              <a:cs typeface="Calibri"/>
              <a:sym typeface="Calibri"/>
            </a:endParaRPr>
          </a:p>
        </p:txBody>
      </p:sp>
      <p:sp>
        <p:nvSpPr>
          <p:cNvPr id="162" name="Google Shape;162;p12"/>
          <p:cNvSpPr/>
          <p:nvPr/>
        </p:nvSpPr>
        <p:spPr>
          <a:xfrm>
            <a:off x="537550" y="2536475"/>
            <a:ext cx="8229600" cy="6402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Assistant knows what pairs with what — matching accessories, complementary items, a matched set — running shoes plus socks plus insoles plus care kit — instead of a single SKU.</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Single-item sessions become complete activity kits — every add-to-cart becomes an opening for a second, third, fourth item.</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Nosto: when search works, 78% of shoppers also buy an additional item — the assistant is the conversion engine for that second buy.</a:t>
            </a:r>
            <a:endParaRPr b="0" i="0" sz="1100" u="none" cap="none" strike="noStrike">
              <a:solidFill>
                <a:schemeClr val="dk1"/>
              </a:solidFill>
              <a:latin typeface="Calibri"/>
              <a:ea typeface="Calibri"/>
              <a:cs typeface="Calibri"/>
              <a:sym typeface="Calibri"/>
            </a:endParaRPr>
          </a:p>
        </p:txBody>
      </p:sp>
      <p:sp>
        <p:nvSpPr>
          <p:cNvPr id="163" name="Google Shape;163;p12"/>
          <p:cNvSpPr/>
          <p:nvPr/>
        </p:nvSpPr>
        <p:spPr>
          <a:xfrm>
            <a:off x="308950" y="3469175"/>
            <a:ext cx="54900" cy="1051500"/>
          </a:xfrm>
          <a:prstGeom prst="rect">
            <a:avLst/>
          </a:prstGeom>
          <a:solidFill>
            <a:srgbClr val="7C3A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200" u="none" cap="none" strike="noStrike">
              <a:solidFill>
                <a:srgbClr val="000000"/>
              </a:solidFill>
              <a:latin typeface="Arial"/>
              <a:ea typeface="Arial"/>
              <a:cs typeface="Arial"/>
              <a:sym typeface="Arial"/>
            </a:endParaRPr>
          </a:p>
        </p:txBody>
      </p:sp>
      <p:sp>
        <p:nvSpPr>
          <p:cNvPr id="164" name="Google Shape;164;p12"/>
          <p:cNvSpPr/>
          <p:nvPr/>
        </p:nvSpPr>
        <p:spPr>
          <a:xfrm>
            <a:off x="537550" y="3469175"/>
            <a:ext cx="7315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1600"/>
              <a:buFont typeface="Inter"/>
              <a:buNone/>
            </a:pPr>
            <a:r>
              <a:rPr b="1" i="0" lang="en-US" u="none" cap="none" strike="noStrike">
                <a:solidFill>
                  <a:srgbClr val="111827"/>
                </a:solidFill>
                <a:latin typeface="Inter"/>
                <a:ea typeface="Inter"/>
                <a:cs typeface="Inter"/>
                <a:sym typeface="Inter"/>
              </a:rPr>
              <a:t>Intent rescue → keep shoppers on site</a:t>
            </a:r>
            <a:endParaRPr b="0" i="0" u="none" cap="none" strike="noStrike">
              <a:solidFill>
                <a:schemeClr val="dk1"/>
              </a:solidFill>
              <a:latin typeface="Calibri"/>
              <a:ea typeface="Calibri"/>
              <a:cs typeface="Calibri"/>
              <a:sym typeface="Calibri"/>
            </a:endParaRPr>
          </a:p>
        </p:txBody>
      </p:sp>
      <p:sp>
        <p:nvSpPr>
          <p:cNvPr id="165" name="Google Shape;165;p12"/>
          <p:cNvSpPr/>
          <p:nvPr/>
        </p:nvSpPr>
        <p:spPr>
          <a:xfrm>
            <a:off x="537550" y="3898950"/>
            <a:ext cx="8155200" cy="749700"/>
          </a:xfrm>
          <a:prstGeom prst="rect">
            <a:avLst/>
          </a:prstGeom>
          <a:noFill/>
          <a:ln>
            <a:noFill/>
          </a:ln>
        </p:spPr>
        <p:txBody>
          <a:bodyPr anchorCtr="0" anchor="ctr" bIns="0" lIns="0" spcFirstLastPara="1" rIns="0" wrap="square" tIns="0">
            <a:noAutofit/>
          </a:bodyPr>
          <a:lstStyle/>
          <a:p>
            <a:pPr indent="-330200" lvl="0" marL="342900" marR="0" rtl="0" algn="l">
              <a:lnSpc>
                <a:spcPct val="100000"/>
              </a:lnSpc>
              <a:spcBef>
                <a:spcPts val="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Vague, intent-shaped queries become a curated shortlist instead of thousands of random results.</a:t>
            </a:r>
            <a:endParaRPr b="0" i="0" sz="1100" u="none" cap="none" strike="noStrike">
              <a:solidFill>
                <a:schemeClr val="dk1"/>
              </a:solidFill>
              <a:latin typeface="Calibri"/>
              <a:ea typeface="Calibri"/>
              <a:cs typeface="Calibri"/>
              <a:sym typeface="Calibri"/>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80% of shoppers leave a site due to poor search — the assistant plugs that leak before the session bounces (Nosto).</a:t>
            </a:r>
            <a:endParaRPr b="0" i="0" sz="1100" u="none" cap="none" strike="noStrike">
              <a:solidFill>
                <a:srgbClr val="4B5563"/>
              </a:solidFill>
              <a:latin typeface="Inter"/>
              <a:ea typeface="Inter"/>
              <a:cs typeface="Inter"/>
              <a:sym typeface="Inter"/>
            </a:endParaRPr>
          </a:p>
          <a:p>
            <a:pPr indent="-330200" lvl="0" marL="342900" marR="0" rtl="0" algn="l">
              <a:lnSpc>
                <a:spcPct val="100000"/>
              </a:lnSpc>
              <a:spcBef>
                <a:spcPts val="400"/>
              </a:spcBef>
              <a:spcAft>
                <a:spcPts val="0"/>
              </a:spcAft>
              <a:buClr>
                <a:srgbClr val="4B5563"/>
              </a:buClr>
              <a:buSzPts val="1100"/>
              <a:buFont typeface="Inter"/>
              <a:buChar char="•"/>
            </a:pPr>
            <a:r>
              <a:rPr b="0" i="0" lang="en-US" sz="1100" u="none" cap="none" strike="noStrike">
                <a:solidFill>
                  <a:srgbClr val="4B5563"/>
                </a:solidFill>
                <a:latin typeface="Inter"/>
                <a:ea typeface="Inter"/>
                <a:cs typeface="Inter"/>
                <a:sym typeface="Inter"/>
              </a:rPr>
              <a:t>Myntra's MyFashionGPT: users 3x more likely to purchase through the assistant than through keyword search.</a:t>
            </a:r>
            <a:endParaRPr b="0" i="0" sz="1100" u="none" cap="none" strike="noStrike">
              <a:solidFill>
                <a:srgbClr val="4B5563"/>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3"/>
          <p:cNvSpPr/>
          <p:nvPr/>
        </p:nvSpPr>
        <p:spPr>
          <a:xfrm>
            <a:off x="0" y="0"/>
            <a:ext cx="9144000" cy="36576"/>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p:nvPr/>
        </p:nvSpPr>
        <p:spPr>
          <a:xfrm>
            <a:off x="685800" y="365760"/>
            <a:ext cx="77724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2800"/>
              <a:buFont typeface="Inter"/>
              <a:buNone/>
            </a:pPr>
            <a:r>
              <a:rPr b="1" i="0" lang="en-US" sz="2800" u="none" cap="none" strike="noStrike">
                <a:solidFill>
                  <a:srgbClr val="111827"/>
                </a:solidFill>
                <a:latin typeface="Inter"/>
                <a:ea typeface="Inter"/>
                <a:cs typeface="Inter"/>
                <a:sym typeface="Inter"/>
              </a:rPr>
              <a:t>How SuperSearch is different</a:t>
            </a:r>
            <a:endParaRPr b="0" i="0" sz="2800" u="none" cap="none" strike="noStrike">
              <a:solidFill>
                <a:schemeClr val="dk1"/>
              </a:solidFill>
              <a:latin typeface="Calibri"/>
              <a:ea typeface="Calibri"/>
              <a:cs typeface="Calibri"/>
              <a:sym typeface="Calibri"/>
            </a:endParaRPr>
          </a:p>
        </p:txBody>
      </p:sp>
      <p:graphicFrame>
        <p:nvGraphicFramePr>
          <p:cNvPr id="173" name="Google Shape;173;p13"/>
          <p:cNvGraphicFramePr/>
          <p:nvPr/>
        </p:nvGraphicFramePr>
        <p:xfrm>
          <a:off x="685800" y="1097280"/>
          <a:ext cx="3000000" cy="3000000"/>
        </p:xfrm>
        <a:graphic>
          <a:graphicData uri="http://schemas.openxmlformats.org/drawingml/2006/table">
            <a:tbl>
              <a:tblPr>
                <a:noFill/>
                <a:tableStyleId>{A667869B-1F53-4C99-AD8D-8728D57326FD}</a:tableStyleId>
              </a:tblPr>
              <a:tblGrid>
                <a:gridCol w="2011675"/>
                <a:gridCol w="1828800"/>
                <a:gridCol w="1920250"/>
                <a:gridCol w="2011675"/>
              </a:tblGrid>
              <a:tr h="365750">
                <a:tc>
                  <a:txBody>
                    <a:bodyPr/>
                    <a:lstStyle/>
                    <a:p>
                      <a:pPr indent="0" lvl="0" marL="0" marR="0" rtl="0" algn="l">
                        <a:lnSpc>
                          <a:spcPct val="100000"/>
                        </a:lnSpc>
                        <a:spcBef>
                          <a:spcPts val="0"/>
                        </a:spcBef>
                        <a:spcAft>
                          <a:spcPts val="0"/>
                        </a:spcAft>
                        <a:buClr>
                          <a:schemeClr val="dk1"/>
                        </a:buClr>
                        <a:buSzPts val="1000"/>
                        <a:buFont typeface="Calibri"/>
                        <a:buNone/>
                      </a:pPr>
                      <a:r>
                        <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Keyword Search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Pure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c>
                  <a:txBody>
                    <a:bodyPr/>
                    <a:lstStyle/>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SuperSearch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FFFFFF"/>
                        </a:buClr>
                        <a:buSzPts val="1000"/>
                        <a:buFont typeface="Inter"/>
                        <a:buNone/>
                      </a:pPr>
                      <a:r>
                        <a:rPr b="1" lang="en-US" sz="1000" u="none" cap="none" strike="noStrike">
                          <a:solidFill>
                            <a:srgbClr val="FFFFFF"/>
                          </a:solidFill>
                          <a:latin typeface="Inter"/>
                          <a:ea typeface="Inter"/>
                          <a:cs typeface="Inter"/>
                          <a:sym typeface="Inter"/>
                        </a:rPr>
                        <a:t>(Graph + LLM)</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solidFill>
                      <a:srgbClr val="111827"/>
                    </a:solidFill>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Simple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white running shoes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well</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Synonym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sneakers / trainers / sports shoes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synonym bridging)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May work</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(depends on training data)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Handles via</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vocabulary graph</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Occasion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shoes for a beach wedding in Goa</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 intent mapping)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suggestions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catalog-aware)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Maps to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products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Conversational query</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comfortable heels for standing all day at work</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supported</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(not designed for this)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Generic answers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97706"/>
                        </a:buClr>
                        <a:buSzPts val="1000"/>
                        <a:buFont typeface="Inter"/>
                        <a:buNone/>
                      </a:pPr>
                      <a:r>
                        <a:rPr lang="en-US" sz="1000" u="none" cap="none" strike="noStrike">
                          <a:solidFill>
                            <a:srgbClr val="D97706"/>
                          </a:solidFill>
                          <a:latin typeface="Inter"/>
                          <a:ea typeface="Inter"/>
                          <a:cs typeface="Inter"/>
                          <a:sym typeface="Inter"/>
                        </a:rPr>
                        <a:t>(not your catalog)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Returns your</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actual inventory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365750">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Cost at scale</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11827"/>
                        </a:buClr>
                        <a:buSzPts val="1000"/>
                        <a:buFont typeface="Inter"/>
                        <a:buNone/>
                      </a:pPr>
                      <a:r>
                        <a:rPr lang="en-US" sz="1000" u="none" cap="none" strike="noStrike">
                          <a:solidFill>
                            <a:srgbClr val="111827"/>
                          </a:solidFill>
                          <a:latin typeface="Inter"/>
                          <a:ea typeface="Inter"/>
                          <a:cs typeface="Inter"/>
                          <a:sym typeface="Inter"/>
                        </a:rPr>
                        <a:t>Low</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High</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(LLM call per query)</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Low</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lang="en-US" sz="1000" u="none" cap="none" strike="noStrike">
                          <a:solidFill>
                            <a:srgbClr val="059669"/>
                          </a:solidFill>
                          <a:latin typeface="Inter"/>
                          <a:ea typeface="Inter"/>
                          <a:cs typeface="Inter"/>
                          <a:sym typeface="Inter"/>
                        </a:rPr>
                        <a:t>(LLM only for edge cases)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r h="411475">
                <a:tc>
                  <a:txBody>
                    <a:bodyPr/>
                    <a:lstStyle/>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Multi-attribute queries</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111827"/>
                        </a:buClr>
                        <a:buSzPts val="1000"/>
                        <a:buFont typeface="Inter"/>
                        <a:buNone/>
                      </a:pPr>
                      <a:r>
                        <a:rPr b="1" lang="en-US" sz="1000" u="none" cap="none" strike="noStrike">
                          <a:solidFill>
                            <a:srgbClr val="111827"/>
                          </a:solidFill>
                          <a:latin typeface="Inter"/>
                          <a:ea typeface="Inter"/>
                          <a:cs typeface="Inter"/>
                          <a:sym typeface="Inter"/>
                        </a:rPr>
                        <a:t>cushioned, wide toe box, arch support, running shoe, within budget</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Accuracy degrades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Prone to</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DC2626"/>
                        </a:buClr>
                        <a:buSzPts val="1000"/>
                        <a:buFont typeface="Inter"/>
                        <a:buNone/>
                      </a:pPr>
                      <a:r>
                        <a:rPr lang="en-US" sz="1000" u="none" cap="none" strike="noStrike">
                          <a:solidFill>
                            <a:srgbClr val="DC2626"/>
                          </a:solidFill>
                          <a:latin typeface="Inter"/>
                          <a:ea typeface="Inter"/>
                          <a:cs typeface="Inter"/>
                          <a:sym typeface="Inter"/>
                        </a:rPr>
                        <a:t>hallucinations</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Much more accurate</a:t>
                      </a:r>
                      <a:endParaRPr sz="1000" u="none" cap="none" strike="noStrike">
                        <a:latin typeface="Inter"/>
                        <a:ea typeface="Inter"/>
                        <a:cs typeface="Inter"/>
                        <a:sym typeface="Inter"/>
                      </a:endParaRPr>
                    </a:p>
                    <a:p>
                      <a:pPr indent="0" lvl="0" marL="0" marR="0" rtl="0" algn="l">
                        <a:lnSpc>
                          <a:spcPct val="100000"/>
                        </a:lnSpc>
                        <a:spcBef>
                          <a:spcPts val="0"/>
                        </a:spcBef>
                        <a:spcAft>
                          <a:spcPts val="0"/>
                        </a:spcAft>
                        <a:buClr>
                          <a:srgbClr val="059669"/>
                        </a:buClr>
                        <a:buSzPts val="1000"/>
                        <a:buFont typeface="Inter"/>
                        <a:buNone/>
                      </a:pPr>
                      <a:r>
                        <a:rPr b="1" lang="en-US" sz="1000" u="none" cap="none" strike="noStrike">
                          <a:solidFill>
                            <a:srgbClr val="059669"/>
                          </a:solidFill>
                          <a:latin typeface="Inter"/>
                          <a:ea typeface="Inter"/>
                          <a:cs typeface="Inter"/>
                          <a:sym typeface="Inter"/>
                        </a:rPr>
                        <a:t>than standard RAG</a:t>
                      </a:r>
                      <a:endParaRPr sz="1000" u="none" cap="none" strike="noStrike">
                        <a:latin typeface="Inter"/>
                        <a:ea typeface="Inter"/>
                        <a:cs typeface="Inter"/>
                        <a:sym typeface="Inter"/>
                      </a:endParaRPr>
                    </a:p>
                  </a:txBody>
                  <a:tcPr marT="50800" marB="50800" marR="76200" marL="76200">
                    <a:lnL cap="flat" cmpd="sng" w="9525">
                      <a:solidFill>
                        <a:srgbClr val="E5E7EB"/>
                      </a:solidFill>
                      <a:prstDash val="solid"/>
                      <a:round/>
                      <a:headEnd len="sm" w="sm" type="none"/>
                      <a:tailEnd len="sm" w="sm" type="none"/>
                    </a:lnL>
                    <a:lnR cap="flat" cmpd="sng" w="9525">
                      <a:solidFill>
                        <a:srgbClr val="E5E7EB"/>
                      </a:solidFill>
                      <a:prstDash val="solid"/>
                      <a:round/>
                      <a:headEnd len="sm" w="sm" type="none"/>
                      <a:tailEnd len="sm" w="sm" type="none"/>
                    </a:lnR>
                    <a:lnT cap="flat" cmpd="sng" w="9525">
                      <a:solidFill>
                        <a:srgbClr val="E5E7EB"/>
                      </a:solidFill>
                      <a:prstDash val="solid"/>
                      <a:round/>
                      <a:headEnd len="sm" w="sm" type="none"/>
                      <a:tailEnd len="sm" w="sm" type="none"/>
                    </a:lnT>
                    <a:lnB cap="flat" cmpd="sng" w="9525">
                      <a:solidFill>
                        <a:srgbClr val="E5E7EB"/>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p:nvPr/>
        </p:nvSpPr>
        <p:spPr>
          <a:xfrm>
            <a:off x="0" y="0"/>
            <a:ext cx="9144000" cy="36600"/>
          </a:xfrm>
          <a:prstGeom prst="rect">
            <a:avLst/>
          </a:prstGeom>
          <a:solidFill>
            <a:srgbClr val="2563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a:off x="685800" y="658330"/>
            <a:ext cx="77724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11827"/>
              </a:buClr>
              <a:buSzPts val="3600"/>
              <a:buFont typeface="Inter"/>
              <a:buNone/>
            </a:pPr>
            <a:r>
              <a:rPr b="1" i="0" lang="en-US" sz="3600" u="none" cap="none" strike="noStrike">
                <a:solidFill>
                  <a:srgbClr val="111827"/>
                </a:solidFill>
                <a:latin typeface="Inter"/>
                <a:ea typeface="Inter"/>
                <a:cs typeface="Inter"/>
                <a:sym typeface="Inter"/>
              </a:rPr>
              <a:t>Let's close the gap.</a:t>
            </a:r>
            <a:endParaRPr b="0" i="0" sz="3600" u="none" cap="none" strike="noStrike">
              <a:solidFill>
                <a:schemeClr val="dk1"/>
              </a:solidFill>
              <a:latin typeface="Calibri"/>
              <a:ea typeface="Calibri"/>
              <a:cs typeface="Calibri"/>
              <a:sym typeface="Calibri"/>
            </a:endParaRPr>
          </a:p>
        </p:txBody>
      </p:sp>
      <p:sp>
        <p:nvSpPr>
          <p:cNvPr id="181" name="Google Shape;181;p14"/>
          <p:cNvSpPr/>
          <p:nvPr/>
        </p:nvSpPr>
        <p:spPr>
          <a:xfrm>
            <a:off x="685800" y="1920250"/>
            <a:ext cx="7553400" cy="178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We can run a full 500-query audit on your site in under a week and show you exactly where you are losing crores in revenue.</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Every query grounded in Google autocomplete. Every result verified against your actual catalog.</a:t>
            </a:r>
            <a:r>
              <a:rPr b="0" i="0" lang="en-US" sz="1500" u="none" cap="none" strike="noStrike">
                <a:solidFill>
                  <a:schemeClr val="dk1"/>
                </a:solidFill>
                <a:latin typeface="Calibri"/>
                <a:ea typeface="Calibri"/>
                <a:cs typeface="Calibri"/>
                <a:sym typeface="Calibri"/>
              </a:rPr>
              <a:t xml:space="preserve"> </a:t>
            </a:r>
            <a:r>
              <a:rPr b="0" i="0" lang="en-US" sz="1500" u="none" cap="none" strike="noStrike">
                <a:solidFill>
                  <a:srgbClr val="4B5563"/>
                </a:solidFill>
                <a:latin typeface="Inter"/>
                <a:ea typeface="Inter"/>
                <a:cs typeface="Inter"/>
                <a:sym typeface="Inter"/>
              </a:rPr>
              <a:t>We have pasted some of the results we obtained from a smaller audit on your website slide 6.</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t/>
            </a:r>
            <a:endParaRPr b="0" i="0" sz="1500" u="none" cap="none" strike="noStrike">
              <a:solidFill>
                <a:srgbClr val="4B5563"/>
              </a:solidFill>
              <a:latin typeface="Inter"/>
              <a:ea typeface="Inter"/>
              <a:cs typeface="Inter"/>
              <a:sym typeface="Inter"/>
            </a:endParaRPr>
          </a:p>
          <a:p>
            <a:pPr indent="0" lvl="0" marL="0" marR="0" rtl="0" algn="l">
              <a:lnSpc>
                <a:spcPct val="100000"/>
              </a:lnSpc>
              <a:spcBef>
                <a:spcPts val="0"/>
              </a:spcBef>
              <a:spcAft>
                <a:spcPts val="0"/>
              </a:spcAft>
              <a:buClr>
                <a:srgbClr val="4B5563"/>
              </a:buClr>
              <a:buSzPts val="1500"/>
              <a:buFont typeface="Inter"/>
              <a:buNone/>
            </a:pPr>
            <a:r>
              <a:rPr b="0" i="0" lang="en-US" sz="1500" u="none" cap="none" strike="noStrike">
                <a:solidFill>
                  <a:srgbClr val="4B5563"/>
                </a:solidFill>
                <a:latin typeface="Inter"/>
                <a:ea typeface="Inter"/>
                <a:cs typeface="Inter"/>
                <a:sym typeface="Inter"/>
              </a:rPr>
              <a:t xml:space="preserve">We can fix your search and upgrade your website from keyword based search bar to intent based AI assistant. </a:t>
            </a:r>
            <a:r>
              <a:rPr b="0" i="0" lang="en-US" sz="1600" u="sng" cap="none" strike="noStrike">
                <a:solidFill>
                  <a:schemeClr val="hlink"/>
                </a:solidFill>
                <a:latin typeface="Inter"/>
                <a:ea typeface="Inter"/>
                <a:cs typeface="Inter"/>
                <a:sym typeface="Inter"/>
                <a:hlinkClick r:id="rId3"/>
              </a:rPr>
              <a:t>book a demo</a:t>
            </a:r>
            <a:r>
              <a:rPr b="0" i="0" lang="en-US" sz="1600" u="none" cap="none" strike="noStrike">
                <a:solidFill>
                  <a:srgbClr val="4B5563"/>
                </a:solidFill>
                <a:latin typeface="Inter"/>
                <a:ea typeface="Inter"/>
                <a:cs typeface="Inter"/>
                <a:sym typeface="Inter"/>
              </a:rPr>
              <a:t xml:space="preserve"> </a:t>
            </a:r>
            <a:endParaRPr b="0" i="0" sz="1500" u="none" cap="none" strike="noStrike">
              <a:solidFill>
                <a:schemeClr val="dk1"/>
              </a:solidFill>
              <a:latin typeface="Calibri"/>
              <a:ea typeface="Calibri"/>
              <a:cs typeface="Calibri"/>
              <a:sym typeface="Calibri"/>
            </a:endParaRPr>
          </a:p>
        </p:txBody>
      </p:sp>
      <p:sp>
        <p:nvSpPr>
          <p:cNvPr id="182" name="Google Shape;182;p14"/>
          <p:cNvSpPr/>
          <p:nvPr/>
        </p:nvSpPr>
        <p:spPr>
          <a:xfrm>
            <a:off x="685800" y="3981001"/>
            <a:ext cx="64008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Shalini Mukhopadhyay  ·  </a:t>
            </a:r>
            <a:r>
              <a:rPr b="0" i="0" lang="en-US" sz="1300" u="sng" cap="none" strike="noStrike">
                <a:solidFill>
                  <a:schemeClr val="dk1"/>
                </a:solidFill>
                <a:latin typeface="Inter"/>
                <a:ea typeface="Inter"/>
                <a:cs typeface="Inter"/>
                <a:sym typeface="Inter"/>
                <a:hlinkClick r:id="rId4">
                  <a:extLst>
                    <a:ext uri="{A12FA001-AC4F-418D-AE19-62706E023703}">
                      <ahyp:hlinkClr val="tx"/>
                    </a:ext>
                  </a:extLst>
                </a:hlinkClick>
              </a:rPr>
              <a:t>shaliniiitkgp2021@gmail.com</a:t>
            </a:r>
            <a:endParaRPr b="0" i="0" sz="13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chemeClr val="dk1"/>
                </a:solidFill>
                <a:latin typeface="Inter"/>
                <a:ea typeface="Inter"/>
                <a:cs typeface="Inter"/>
                <a:sym typeface="Inter"/>
              </a:rPr>
              <a:t xml:space="preserve">Aantriksh Pandya  ·  </a:t>
            </a:r>
            <a:r>
              <a:rPr b="0" i="0" lang="en-US" sz="1300" u="sng" cap="none" strike="noStrike">
                <a:solidFill>
                  <a:schemeClr val="dk1"/>
                </a:solidFill>
                <a:latin typeface="Inter"/>
                <a:ea typeface="Inter"/>
                <a:cs typeface="Inter"/>
                <a:sym typeface="Inter"/>
                <a:hlinkClick r:id="rId5">
                  <a:extLst>
                    <a:ext uri="{A12FA001-AC4F-418D-AE19-62706E023703}">
                      <ahyp:hlinkClr val="tx"/>
                    </a:ext>
                  </a:extLst>
                </a:hlinkClick>
              </a:rPr>
              <a:t>aantriksh.pandya1@gmail.com</a:t>
            </a:r>
            <a:r>
              <a:rPr b="0" i="0" lang="en-US" sz="1300" u="none" cap="none" strike="noStrike">
                <a:solidFill>
                  <a:schemeClr val="dk1"/>
                </a:solidFill>
                <a:latin typeface="Inter"/>
                <a:ea typeface="Inter"/>
                <a:cs typeface="Inter"/>
                <a:sym typeface="Inter"/>
              </a:rPr>
              <a:t xml:space="preserve"> </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9CA3AF"/>
              </a:buClr>
              <a:buSzPts val="1300"/>
              <a:buFont typeface="Inter"/>
              <a:buNone/>
            </a:pPr>
            <a:r>
              <a:rPr b="0" i="0" lang="en-US" sz="1300" u="none" cap="none" strike="noStrike">
                <a:solidFill>
                  <a:srgbClr val="9CA3AF"/>
                </a:solidFill>
                <a:latin typeface="Inter"/>
                <a:ea typeface="Inter"/>
                <a:cs typeface="Inter"/>
                <a:sym typeface="Inter"/>
              </a:rPr>
              <a:t xml:space="preserve"> </a:t>
            </a:r>
            <a:endParaRPr b="0" i="0" sz="1300" u="none" cap="none" strike="noStrike">
              <a:solidFill>
                <a:srgbClr val="9CA3A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