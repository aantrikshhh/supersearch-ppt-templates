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Amazon Rufus</a:t>
            </a:r>
            <a:r>
              <a:rPr b="0" i="0" lang="en-US" sz="1100" u="none" cap="none" strike="noStrike">
                <a:solidFill>
                  <a:srgbClr val="4B5563"/>
                </a:solidFill>
                <a:latin typeface="Inter"/>
                <a:ea typeface="Inter"/>
                <a:cs typeface="Inter"/>
                <a:sym typeface="Inter"/>
              </a:rPr>
              <a:t xml:space="preserve"> — 250M shoppers, +$10B downstream sales, 60% higher purchase likelihood.</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H&amp;M</a:t>
            </a:r>
            <a:r>
              <a:rPr b="0" i="0" lang="en-US" sz="1100" u="none" cap="none" strike="noStrike">
                <a:solidFill>
                  <a:srgbClr val="4B5563"/>
                </a:solidFill>
                <a:latin typeface="Inter"/>
                <a:ea typeface="Inter"/>
                <a:cs typeface="Inter"/>
                <a:sym typeface="Inter"/>
              </a:rPr>
              <a:t xml:space="preserve"> — 18% conversion lift, 12% cart abandonment drop with conversational AI.</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ASOS</a:t>
            </a:r>
            <a:r>
              <a:rPr b="0" i="0" lang="en-US" sz="1100" u="none" cap="none" strike="noStrike">
                <a:solidFill>
                  <a:srgbClr val="4B5563"/>
                </a:solidFill>
                <a:latin typeface="Inter"/>
                <a:ea typeface="Inter"/>
                <a:cs typeface="Inter"/>
                <a:sym typeface="Inter"/>
              </a:rPr>
              <a:t xml:space="preserve"> — AI stylist trained on 100K+ outfits for personalised fashion discovery.</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Zalando</a:t>
            </a:r>
            <a:r>
              <a:rPr b="0" i="0" lang="en-US" sz="1100" u="none" cap="none" strike="noStrike">
                <a:solidFill>
                  <a:srgbClr val="4B5563"/>
                </a:solidFill>
                <a:latin typeface="Inter"/>
                <a:ea typeface="Inter"/>
                <a:cs typeface="Inter"/>
                <a:sym typeface="Inter"/>
              </a:rPr>
              <a:t xml:space="preserve"> — 18% YoY profitability lift partly credited to its conversational shopping assistant.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Klarna</a:t>
            </a:r>
            <a:r>
              <a:rPr b="0" i="0" lang="en-US" sz="1100" u="none" cap="none" strike="noStrike">
                <a:solidFill>
                  <a:srgbClr val="4B5563"/>
                </a:solidFill>
                <a:latin typeface="Inter"/>
                <a:ea typeface="Inter"/>
                <a:cs typeface="Inter"/>
                <a:sym typeface="Inter"/>
              </a:rPr>
              <a:t xml:space="preserve"> — AI shopping assistant across 5.6M+ products, live on ChatGPT.</a:t>
            </a: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Myntra (Maya / MyFashionGPT)</a:t>
            </a:r>
            <a:r>
              <a:rPr i="0" lang="en-US" sz="1100" u="none" cap="none" strike="noStrike">
                <a:solidFill>
                  <a:schemeClr val="dk1"/>
                </a:solidFill>
                <a:latin typeface="Inter"/>
                <a:ea typeface="Inter"/>
                <a:cs typeface="Inter"/>
                <a:sym typeface="Inter"/>
              </a:rPr>
              <a:t xml:space="preserve"> — in-app conversational stylist, users 3x more likely to purchase.</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Meesho (Vaani)</a:t>
            </a:r>
            <a:r>
              <a:rPr i="0" lang="en-US" sz="1100" u="none" cap="none" strike="noStrike">
                <a:solidFill>
                  <a:schemeClr val="dk1"/>
                </a:solidFill>
                <a:latin typeface="Inter"/>
                <a:ea typeface="Inter"/>
                <a:cs typeface="Inter"/>
                <a:sym typeface="Inter"/>
              </a:rPr>
              <a:t xml:space="preserve"> — 1.5M users, 22% higher conversion, lower returns on the AI assistant.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Nykaa Fashion</a:t>
            </a:r>
            <a:r>
              <a:rPr i="0" lang="en-US" sz="1100" u="none" cap="none" strike="noStrike">
                <a:solidFill>
                  <a:schemeClr val="dk1"/>
                </a:solidFill>
                <a:latin typeface="Inter"/>
                <a:ea typeface="Inter"/>
                <a:cs typeface="Inter"/>
                <a:sym typeface="Inter"/>
              </a:rPr>
              <a:t xml:space="preserve"> — rolling out AI-led discovery and style recommendations across the marketplace.</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Flipkart</a:t>
            </a:r>
            <a:r>
              <a:rPr i="0" lang="en-US" sz="1100" u="none" cap="none" strike="noStrike">
                <a:solidFill>
                  <a:schemeClr val="dk1"/>
                </a:solidFill>
                <a:latin typeface="Inter"/>
                <a:ea typeface="Inter"/>
                <a:cs typeface="Inter"/>
                <a:sym typeface="Inter"/>
              </a:rPr>
              <a:t xml:space="preserve"> — generative-AI product search integrated into the fashion storefront.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Ajio, Tata CLiQ</a:t>
            </a:r>
            <a:r>
              <a:rPr i="0" lang="en-US" sz="1100" u="none" cap="none" strike="noStrike">
                <a:solidFill>
                  <a:schemeClr val="dk1"/>
                </a:solidFill>
                <a:latin typeface="Inter"/>
                <a:ea typeface="Inter"/>
                <a:cs typeface="Inter"/>
                <a:sym typeface="Inter"/>
              </a:rPr>
              <a:t xml:space="preserve"> — visual search and AI recommendations across fashion storefronts.</a:t>
            </a: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a:t>
            </a:r>
            <a:r>
              <a:rPr b="1" i="0" lang="en-US" sz="1100" u="none" cap="none" strike="noStrike">
                <a:solidFill>
                  <a:srgbClr val="4B5563"/>
                </a:solidFill>
                <a:latin typeface="Inter"/>
                <a:ea typeface="Inter"/>
                <a:cs typeface="Inter"/>
                <a:sym typeface="Inter"/>
              </a:rPr>
              <a:t>current search bar</a:t>
            </a:r>
            <a:r>
              <a:rPr b="0" i="0" lang="en-US" sz="1100" u="none" cap="none" strike="noStrike">
                <a:solidFill>
                  <a:srgbClr val="4B5563"/>
                </a:solidFill>
                <a:latin typeface="Inter"/>
                <a:ea typeface="Inter"/>
                <a:cs typeface="Inter"/>
                <a:sym typeface="Inter"/>
              </a:rPr>
              <a:t xml:space="preserve"> on your e-commerce website needs the right keywords. It </a:t>
            </a:r>
            <a:r>
              <a:rPr b="1" i="0" lang="en-US" sz="1100" u="none" cap="none" strike="noStrike">
                <a:solidFill>
                  <a:srgbClr val="4B5563"/>
                </a:solidFill>
                <a:latin typeface="Inter"/>
                <a:ea typeface="Inter"/>
                <a:cs typeface="Inter"/>
                <a:sym typeface="Inter"/>
              </a:rPr>
              <a:t>does not understand human language</a:t>
            </a:r>
            <a:r>
              <a:rPr b="0" i="0" lang="en-US" sz="1100" u="none" cap="none" strike="noStrike">
                <a:solidFill>
                  <a:srgbClr val="4B5563"/>
                </a:solidFill>
                <a:latin typeface="Inter"/>
                <a:ea typeface="Inter"/>
                <a:cs typeface="Inter"/>
                <a:sym typeface="Inter"/>
              </a:rPr>
              <a:t>, it cannot match scarf and dupatta, it cannot link “Jaipur in May” to summer and summer to cotton.</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a:t>
            </a:r>
            <a:r>
              <a:rPr lang="en-US" sz="1100">
                <a:solidFill>
                  <a:srgbClr val="4B5563"/>
                </a:solidFill>
                <a:latin typeface="Inter"/>
                <a:ea typeface="Inter"/>
                <a:cs typeface="Inter"/>
                <a:sym typeface="Inter"/>
              </a:rPr>
              <a:t xml:space="preserve">“blazer” or </a:t>
            </a:r>
            <a:r>
              <a:rPr b="0" i="0" lang="en-US" sz="1100" u="none" cap="none" strike="noStrike">
                <a:solidFill>
                  <a:srgbClr val="4B5563"/>
                </a:solidFill>
                <a:latin typeface="Inter"/>
                <a:ea typeface="Inter"/>
                <a:cs typeface="Inter"/>
                <a:sym typeface="Inter"/>
              </a:rPr>
              <a:t xml:space="preserve">“light pink lehenga”, </a:t>
            </a:r>
            <a:r>
              <a:rPr b="1" i="0" lang="en-US" sz="1100" u="none" cap="none" strike="noStrike">
                <a:solidFill>
                  <a:srgbClr val="4B5563"/>
                </a:solidFill>
                <a:latin typeface="Inter"/>
                <a:ea typeface="Inter"/>
                <a:cs typeface="Inter"/>
                <a:sym typeface="Inter"/>
              </a:rPr>
              <a:t>they shop by intents</a:t>
            </a:r>
            <a:r>
              <a:rPr b="0" i="0" lang="en-US" sz="1100" u="none" cap="none" strike="noStrike">
                <a:solidFill>
                  <a:srgbClr val="4B5563"/>
                </a:solidFill>
                <a:latin typeface="Inter"/>
                <a:ea typeface="Inter"/>
                <a:cs typeface="Inter"/>
                <a:sym typeface="Inter"/>
              </a:rPr>
              <a:t xml:space="preserve"> such as “for an office party” or “for a wedding in India in May”.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an outfit for myself, size medium, for my sister’s beach wedding, I like sequins, within budget”</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beach to : pastels/boho, wedding to lehenga/sharara/gown, adds the conditions for sequins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Google Shape;59;p4" title="Screenshot 2026-04-14 at 9.08.05 PM.png"/>
          <p:cNvPicPr preferRelativeResize="0"/>
          <p:nvPr/>
        </p:nvPicPr>
        <p:blipFill rotWithShape="1">
          <a:blip r:embed="rId3">
            <a:alphaModFix/>
          </a:blip>
          <a:srcRect b="0" l="0" r="0" t="0"/>
          <a:stretch/>
        </p:blipFill>
        <p:spPr>
          <a:xfrm>
            <a:off x="2471075" y="2460600"/>
            <a:ext cx="4455051" cy="103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fit/cut and tags such as “summer” or “polka” which an AI agent needs to map intent such as “outfit for 90’s themed bachelorette”  to “polka saree” or “for a Christian wedding” to “non white gown”.</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“red dress” or “summer floral dress”, AI chat assistants need to answer intent based queries like “I want an outfit for my birthday” or “I want an outfit for my college reunion”. They have to map buyer intent to keywords using a knowledge graph and then search the catalog for relevant products using keywords, refer to the diagram on slide 11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“outfit for Ladakh trip”, “what to wear to a friend’s wedding”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Virtual Try-On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Let shoppers visualize fit, drape, and styling across sizes — see how a kurta falls at their height, how a blazer sits on their shoulders, or how a lehenga’s flare looks in motion.</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Brands using virtual try-on have seen return rates drop by up to 40%.</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Higher conversion, fewer returns, and the confidence to buy without visiting a store.</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Vernacular + natural-language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Hindi, Tamil, Telugu and Bengali queries mapped to the English catalog — “salwar suit” → salwar kameez, “dupatta” → stole, “pattu pudavai” → silk saree.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Natural-language queries like “what should I wear to a sangeet if I’m plus-size” resolve to curated outfits instead of 0 results.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Unlocks tier-2 and tier-3 buyers for whom vernacular and conversational phrasing are the first language of search.</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buyers now start their fashion research on ChatGPT / Gemini / Perplexity before visiting a brand site.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catalog surfaces when shoppers ask “what should I wear to a Goa beach wedding” — alongside Myntra, ASOS, and Zalando.</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H&amp;M, ASOS, Zalando and Klarna are already live on ChatGPT. Indian fashion retail is still wide open.</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Picture 149" descr="clothing_western_graph.png"/>
          <p:cNvPicPr>
            <a:picLocks noChangeAspect="1"/>
          </p:cNvPicPr>
          <p:nvPr/>
        </p:nvPicPr>
        <p:blipFill>
          <a:blip r:embed="rId4"/>
          <a:stretch>
            <a:fillRect/>
          </a:stretch>
        </p:blipFill>
        <p:spPr>
          <a:xfrm>
            <a:off x="152400" y="812300"/>
            <a:ext cx="8839197" cy="40803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complete look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full outfits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summer floral dress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dupatta / stole / scarf</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outfit for a summer wedding in Goa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what to wear to a formal dinner date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red, sleeveless, v-neck, medium dress, within budget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