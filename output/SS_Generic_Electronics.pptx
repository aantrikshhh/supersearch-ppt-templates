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3" r:id="rId13"/>
    <p:sldId id="264" r:id="rId14"/>
    <p:sldId id="265" r:id="rId15"/>
    <p:sldId id="266" r:id="rId16"/>
    <p:sldId id="267" r:id="rId17"/>
    <p:sldId id="268" r:id="rId18"/>
    <p:sldId id="269" r:id="rId19"/>
    <p:sldId id="270" r:id="rId20"/>
  </p:sldIdLst>
  <p:sldSz cy="5143500" cx="9144000"/>
  <p:notesSz cx="5143500" cy="9144000"/>
  <p:embeddedFontLst>
    <p:embeddedFont>
      <p:font typeface="Inter"/>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5" roundtripDataSignature="AMtx7mjAXWUe55wi30lXcQrFr6CVs98lt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667869B-1F53-4C99-AD8D-8728D57326FD}">
  <a:tblStyle styleId="{A667869B-1F53-4C99-AD8D-8728D57326FD}"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font" Target="fonts/Inter-regular.fntdata"/><Relationship Id="rId22" Type="http://schemas.openxmlformats.org/officeDocument/2006/relationships/font" Target="fonts/Inter-bold.fntdata"/><Relationship Id="rId23" Type="http://schemas.openxmlformats.org/officeDocument/2006/relationships/font" Target="fonts/Inter-italic.fntdata"/><Relationship Id="rId24" Type="http://schemas.openxmlformats.org/officeDocument/2006/relationships/font" Target="fonts/Inter-boldItalic.fntdata"/><Relationship Id="rId2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 name="Google Shape;2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 name="Google Shape;2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 name="Google Shape;4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 name="Google Shape;4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 name="Google Shape;55;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 name="Google Shape;6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e03a3b1c68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 name="Google Shape;81;g3e03a3b1c68_0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 name="Google Shape;82;g3e03a3b1c68_0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 name="Google Shape;99;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 name="Google Shape;10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d836f29ee0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d836f29ee0_0_1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 name="Google Shape;124;g3d836f29ee0_0_1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d836f29ee0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g3d836f29ee0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 name="Google Shape;131;g3d836f29ee0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7" name="Google Shape;147;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 name="Google Shape;15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9" name="Google Shape;16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7" name="Google Shape;177;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supersearch.onrender.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supersearch.onrender.com/" TargetMode="External"/><Relationship Id="rId4" Type="http://schemas.openxmlformats.org/officeDocument/2006/relationships/hyperlink" Target="mailto:shaliniiitkgp2021@gmail.com" TargetMode="External"/><Relationship Id="rId5" Type="http://schemas.openxmlformats.org/officeDocument/2006/relationships/hyperlink" Target="mailto:aantriksh.pandya1@gmail.com"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1"/>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1"/>
          <p:cNvSpPr/>
          <p:nvPr/>
        </p:nvSpPr>
        <p:spPr>
          <a:xfrm>
            <a:off x="685800" y="1280160"/>
            <a:ext cx="77724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4400"/>
              <a:buFont typeface="Inter"/>
              <a:buNone/>
            </a:pPr>
            <a:r>
              <a:rPr b="1" i="0" lang="en-US" sz="4400" u="none" cap="none" strike="noStrike">
                <a:solidFill>
                  <a:srgbClr val="111827"/>
                </a:solidFill>
                <a:latin typeface="Inter"/>
                <a:ea typeface="Inter"/>
                <a:cs typeface="Inter"/>
                <a:sym typeface="Inter"/>
              </a:rPr>
              <a:t>SuperSearch</a:t>
            </a:r>
            <a:endParaRPr b="0" i="0" sz="4400" u="none" cap="none" strike="noStrike">
              <a:solidFill>
                <a:schemeClr val="dk1"/>
              </a:solidFill>
              <a:latin typeface="Calibri"/>
              <a:ea typeface="Calibri"/>
              <a:cs typeface="Calibri"/>
              <a:sym typeface="Calibri"/>
            </a:endParaRPr>
          </a:p>
        </p:txBody>
      </p:sp>
      <p:sp>
        <p:nvSpPr>
          <p:cNvPr id="18" name="Google Shape;18;p1"/>
          <p:cNvSpPr/>
          <p:nvPr/>
        </p:nvSpPr>
        <p:spPr>
          <a:xfrm>
            <a:off x="685800" y="2180251"/>
            <a:ext cx="6550500" cy="754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600"/>
              <a:buFont typeface="Inter"/>
              <a:buNone/>
            </a:pPr>
            <a:r>
              <a:rPr b="0" i="0" lang="en-US" sz="1600" u="none" cap="none" strike="noStrike">
                <a:solidFill>
                  <a:srgbClr val="4B5563"/>
                </a:solidFill>
                <a:latin typeface="Inter"/>
                <a:ea typeface="Inter"/>
                <a:cs typeface="Inter"/>
                <a:sym typeface="Inter"/>
              </a:rPr>
              <a:t>Conversational AI shopping assistants for for e-commerce websites</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600" u="none" cap="none" strike="noStrike">
              <a:solidFill>
                <a:srgbClr val="4B5563"/>
              </a:solidFill>
              <a:latin typeface="Inter"/>
              <a:ea typeface="Inter"/>
              <a:cs typeface="Inter"/>
              <a:sym typeface="Inter"/>
            </a:endParaRPr>
          </a:p>
        </p:txBody>
      </p:sp>
      <p:sp>
        <p:nvSpPr>
          <p:cNvPr id="19" name="Google Shape;19;p1"/>
          <p:cNvSpPr/>
          <p:nvPr/>
        </p:nvSpPr>
        <p:spPr>
          <a:xfrm>
            <a:off x="685800" y="3154700"/>
            <a:ext cx="5925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300"/>
              <a:buFont typeface="Inter"/>
              <a:buNone/>
            </a:pPr>
            <a:r>
              <a:rPr b="0" i="0" lang="en-US" sz="1300" u="none" cap="none" strike="noStrike">
                <a:solidFill>
                  <a:srgbClr val="4B5563"/>
                </a:solidFill>
                <a:latin typeface="Inter"/>
                <a:ea typeface="Inter"/>
                <a:cs typeface="Inter"/>
                <a:sym typeface="Inter"/>
              </a:rPr>
              <a:t>Aantriksh Pandya . Shalini Mukhopadhyay</a:t>
            </a:r>
            <a:r>
              <a:rPr b="0" i="0" lang="en-US" sz="1300" u="none" cap="none" strike="noStrike">
                <a:solidFill>
                  <a:schemeClr val="dk1"/>
                </a:solidFill>
                <a:latin typeface="Calibri"/>
                <a:ea typeface="Calibri"/>
                <a:cs typeface="Calibri"/>
                <a:sym typeface="Calibri"/>
              </a:rPr>
              <a:t xml:space="preserve">  </a:t>
            </a:r>
            <a:r>
              <a:rPr b="0" i="0" lang="en-US" sz="1300" u="none" cap="none" strike="noStrike">
                <a:solidFill>
                  <a:srgbClr val="4B5563"/>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p:txBody>
      </p:sp>
      <p:sp>
        <p:nvSpPr>
          <p:cNvPr id="20" name="Google Shape;20;p1"/>
          <p:cNvSpPr/>
          <p:nvPr/>
        </p:nvSpPr>
        <p:spPr>
          <a:xfrm>
            <a:off x="685800" y="352044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100"/>
              <a:buFont typeface="Inter"/>
              <a:buNone/>
            </a:pPr>
            <a:r>
              <a:rPr b="0" i="0" lang="en-US" sz="1100" u="none" cap="none" strike="noStrike">
                <a:solidFill>
                  <a:schemeClr val="dk1"/>
                </a:solidFill>
                <a:latin typeface="Inter"/>
                <a:ea typeface="Inter"/>
                <a:cs typeface="Inter"/>
                <a:sym typeface="Inter"/>
              </a:rPr>
              <a:t>Prepared for: {Brand Name}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 name="Shape 25"/>
        <p:cNvGrpSpPr/>
        <p:nvPr/>
      </p:nvGrpSpPr>
      <p:grpSpPr>
        <a:xfrm>
          <a:off x="0" y="0"/>
          <a:ext cx="0" cy="0"/>
          <a:chOff x="0" y="0"/>
          <a:chExt cx="0" cy="0"/>
        </a:xfrm>
      </p:grpSpPr>
      <p:sp>
        <p:nvSpPr>
          <p:cNvPr id="26" name="Google Shape;26;p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p2"/>
          <p:cNvSpPr/>
          <p:nvPr/>
        </p:nvSpPr>
        <p:spPr>
          <a:xfrm>
            <a:off x="685800" y="365750"/>
            <a:ext cx="81357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Ecommerce search is changing forever and AI shopping assistants are here to stay — the numbers are clear</a:t>
            </a:r>
            <a:endParaRPr b="0" i="0" sz="2300" u="none" cap="none" strike="noStrike">
              <a:solidFill>
                <a:schemeClr val="dk1"/>
              </a:solidFill>
              <a:latin typeface="Calibri"/>
              <a:ea typeface="Calibri"/>
              <a:cs typeface="Calibri"/>
              <a:sym typeface="Calibri"/>
            </a:endParaRPr>
          </a:p>
        </p:txBody>
      </p:sp>
      <p:sp>
        <p:nvSpPr>
          <p:cNvPr id="28" name="Google Shape;28;p2"/>
          <p:cNvSpPr/>
          <p:nvPr/>
        </p:nvSpPr>
        <p:spPr>
          <a:xfrm>
            <a:off x="68580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2"/>
          <p:cNvSpPr/>
          <p:nvPr/>
        </p:nvSpPr>
        <p:spPr>
          <a:xfrm>
            <a:off x="86868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58%</a:t>
            </a:r>
            <a:endParaRPr b="0" i="0" sz="3600" u="none" cap="none" strike="noStrike">
              <a:solidFill>
                <a:schemeClr val="dk1"/>
              </a:solidFill>
              <a:latin typeface="Calibri"/>
              <a:ea typeface="Calibri"/>
              <a:cs typeface="Calibri"/>
              <a:sym typeface="Calibri"/>
            </a:endParaRPr>
          </a:p>
        </p:txBody>
      </p:sp>
      <p:sp>
        <p:nvSpPr>
          <p:cNvPr id="30" name="Google Shape;30;p2"/>
          <p:cNvSpPr/>
          <p:nvPr/>
        </p:nvSpPr>
        <p:spPr>
          <a:xfrm>
            <a:off x="766575" y="1783075"/>
            <a:ext cx="2318400" cy="77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of consumers prefer AI shopping assistants</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over keywords (up from 25%</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in 2023)</a:t>
            </a:r>
            <a:endParaRPr b="0" i="0" sz="1200" u="none" cap="none" strike="noStrike">
              <a:solidFill>
                <a:schemeClr val="dk1"/>
              </a:solidFill>
              <a:latin typeface="Calibri"/>
              <a:ea typeface="Calibri"/>
              <a:cs typeface="Calibri"/>
              <a:sym typeface="Calibri"/>
            </a:endParaRPr>
          </a:p>
        </p:txBody>
      </p:sp>
      <p:sp>
        <p:nvSpPr>
          <p:cNvPr id="31" name="Google Shape;31;p2"/>
          <p:cNvSpPr/>
          <p:nvPr/>
        </p:nvSpPr>
        <p:spPr>
          <a:xfrm>
            <a:off x="338328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2"/>
          <p:cNvSpPr/>
          <p:nvPr/>
        </p:nvSpPr>
        <p:spPr>
          <a:xfrm>
            <a:off x="356616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4x</a:t>
            </a:r>
            <a:endParaRPr b="0" i="0" sz="3600" u="none" cap="none" strike="noStrike">
              <a:solidFill>
                <a:schemeClr val="dk1"/>
              </a:solidFill>
              <a:latin typeface="Calibri"/>
              <a:ea typeface="Calibri"/>
              <a:cs typeface="Calibri"/>
              <a:sym typeface="Calibri"/>
            </a:endParaRPr>
          </a:p>
        </p:txBody>
      </p:sp>
      <p:sp>
        <p:nvSpPr>
          <p:cNvPr id="33" name="Google Shape;33;p2"/>
          <p:cNvSpPr/>
          <p:nvPr/>
        </p:nvSpPr>
        <p:spPr>
          <a:xfrm>
            <a:off x="356616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higher conversion rates for</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conversational search as compared to keyword search</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(12.3% vs 3.1%, Rep AI)</a:t>
            </a:r>
            <a:endParaRPr b="0" i="0" sz="1200" u="none" cap="none" strike="noStrike">
              <a:solidFill>
                <a:schemeClr val="dk1"/>
              </a:solidFill>
              <a:latin typeface="Calibri"/>
              <a:ea typeface="Calibri"/>
              <a:cs typeface="Calibri"/>
              <a:sym typeface="Calibri"/>
            </a:endParaRPr>
          </a:p>
        </p:txBody>
      </p:sp>
      <p:sp>
        <p:nvSpPr>
          <p:cNvPr id="34" name="Google Shape;34;p2"/>
          <p:cNvSpPr/>
          <p:nvPr/>
        </p:nvSpPr>
        <p:spPr>
          <a:xfrm>
            <a:off x="608076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2"/>
          <p:cNvSpPr/>
          <p:nvPr/>
        </p:nvSpPr>
        <p:spPr>
          <a:xfrm>
            <a:off x="626364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1,300%</a:t>
            </a:r>
            <a:endParaRPr b="0" i="0" sz="3600" u="none" cap="none" strike="noStrike">
              <a:solidFill>
                <a:schemeClr val="dk1"/>
              </a:solidFill>
              <a:latin typeface="Calibri"/>
              <a:ea typeface="Calibri"/>
              <a:cs typeface="Calibri"/>
              <a:sym typeface="Calibri"/>
            </a:endParaRPr>
          </a:p>
        </p:txBody>
      </p:sp>
      <p:sp>
        <p:nvSpPr>
          <p:cNvPr id="36" name="Google Shape;36;p2"/>
          <p:cNvSpPr/>
          <p:nvPr/>
        </p:nvSpPr>
        <p:spPr>
          <a:xfrm>
            <a:off x="626364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YoY growth in AI-referred</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retail traffic</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(Adobe, Holiday 2024)</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685800" y="2814763"/>
            <a:ext cx="7909500" cy="1757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 xml:space="preserve">~60% to 64% of online shoppers </a:t>
            </a:r>
            <a:r>
              <a:rPr b="0" i="0" lang="en-US" sz="1100" u="none" cap="none" strike="noStrike">
                <a:solidFill>
                  <a:srgbClr val="4B5563"/>
                </a:solidFill>
                <a:latin typeface="Inter"/>
                <a:ea typeface="Inter"/>
                <a:cs typeface="Inter"/>
                <a:sym typeface="Inter"/>
              </a:rPr>
              <a:t>have used or plan to use AI for shopping in 2026 (~3B AI shoppers)</a:t>
            </a:r>
            <a:r>
              <a:rPr b="1" i="0" lang="en-US" sz="1100" u="none" cap="none" strike="noStrike">
                <a:solidFill>
                  <a:srgbClr val="4B5563"/>
                </a:solidFill>
                <a:latin typeface="Inter"/>
                <a:ea typeface="Inter"/>
                <a:cs typeface="Inter"/>
                <a:sym typeface="Inter"/>
              </a:rPr>
              <a:t xml:space="preserve">. </a:t>
            </a:r>
            <a:endParaRPr b="1"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1"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7-8 word queries nearly doubled since ChatGPT</a:t>
            </a:r>
            <a:r>
              <a:rPr b="0" i="0" lang="en-US" sz="1100" u="none" cap="none" strike="noStrike">
                <a:solidFill>
                  <a:srgbClr val="4B5563"/>
                </a:solidFill>
                <a:latin typeface="Inter"/>
                <a:ea typeface="Inter"/>
                <a:cs typeface="Inter"/>
                <a:sym typeface="Inter"/>
              </a:rPr>
              <a:t xml:space="preserve"> launched (Search Engine Land), 35% of all search queries are now complete sentences, not fragmented keywords. Conversational search is the new norm.</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79% of customers say they'd find it helpful if AI understood their specific needs (not just keywords) to recommend products in a chat instead of them having to type keywords into a search bar to discover relevant products.</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82% want AI shopping assistants to reduce time</a:t>
            </a:r>
            <a:r>
              <a:rPr b="0" i="0" lang="en-US" sz="1100" u="none" cap="none" strike="noStrike">
                <a:solidFill>
                  <a:srgbClr val="4B5563"/>
                </a:solidFill>
                <a:latin typeface="Inter"/>
                <a:ea typeface="Inter"/>
                <a:cs typeface="Inter"/>
                <a:sym typeface="Inter"/>
              </a:rPr>
              <a:t xml:space="preserve"> spent researching what to buy.</a:t>
            </a:r>
            <a:endParaRPr b="0" i="0" sz="1100" u="none" cap="none" strike="noStrike">
              <a:solidFill>
                <a:schemeClr val="dk1"/>
              </a:solidFill>
              <a:latin typeface="Calibri"/>
              <a:ea typeface="Calibri"/>
              <a:cs typeface="Calibri"/>
              <a:sym typeface="Calibri"/>
            </a:endParaRPr>
          </a:p>
        </p:txBody>
      </p:sp>
      <p:sp>
        <p:nvSpPr>
          <p:cNvPr id="38" name="Google Shape;38;p2"/>
          <p:cNvSpPr/>
          <p:nvPr/>
        </p:nvSpPr>
        <p:spPr>
          <a:xfrm>
            <a:off x="928325" y="4876001"/>
            <a:ext cx="7530000" cy="178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900"/>
              <a:buFont typeface="Inter"/>
              <a:buNone/>
            </a:pPr>
            <a:r>
              <a:rPr b="0" i="0" lang="en-US" sz="900" u="none" cap="none" strike="noStrike">
                <a:solidFill>
                  <a:srgbClr val="666666"/>
                </a:solidFill>
                <a:latin typeface="Inter"/>
                <a:ea typeface="Inter"/>
                <a:cs typeface="Inter"/>
                <a:sym typeface="Inter"/>
              </a:rPr>
              <a:t>Sources: Rep AI 2025, Adobe Analytics, Search Engine Land, Capgemini, Constructor, Nosto</a:t>
            </a:r>
            <a:endParaRPr b="0" i="0" sz="900" u="none" cap="none" strike="noStrike">
              <a:solidFill>
                <a:srgbClr val="666666"/>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 name="Shape 43"/>
        <p:cNvGrpSpPr/>
        <p:nvPr/>
      </p:nvGrpSpPr>
      <p:grpSpPr>
        <a:xfrm>
          <a:off x="0" y="0"/>
          <a:ext cx="0" cy="0"/>
          <a:chOff x="0" y="0"/>
          <a:chExt cx="0" cy="0"/>
        </a:xfrm>
      </p:grpSpPr>
      <p:sp>
        <p:nvSpPr>
          <p:cNvPr id="44" name="Google Shape;44;p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3"/>
          <p:cNvSpPr/>
          <p:nvPr/>
        </p:nvSpPr>
        <p:spPr>
          <a:xfrm>
            <a:off x="367600" y="322625"/>
            <a:ext cx="8776500" cy="594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Competitors are already live with conversational search and seeing massive gains</a:t>
            </a:r>
            <a:endParaRPr b="0" i="0" sz="2200" u="none" cap="none" strike="noStrike">
              <a:solidFill>
                <a:schemeClr val="dk1"/>
              </a:solidFill>
              <a:latin typeface="Calibri"/>
              <a:ea typeface="Calibri"/>
              <a:cs typeface="Calibri"/>
              <a:sym typeface="Calibri"/>
            </a:endParaRPr>
          </a:p>
        </p:txBody>
      </p:sp>
      <p:sp>
        <p:nvSpPr>
          <p:cNvPr id="46" name="Google Shape;46;p3"/>
          <p:cNvSpPr/>
          <p:nvPr/>
        </p:nvSpPr>
        <p:spPr>
          <a:xfrm>
            <a:off x="906749" y="1202975"/>
            <a:ext cx="3517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1600"/>
              <a:buFont typeface="Inter"/>
              <a:buNone/>
            </a:pPr>
            <a:r>
              <a:rPr b="1" i="0" lang="en-US" sz="1600" u="none" cap="none" strike="noStrike">
                <a:solidFill>
                  <a:srgbClr val="2563EB"/>
                </a:solidFill>
                <a:latin typeface="Inter"/>
                <a:ea typeface="Inter"/>
                <a:cs typeface="Inter"/>
                <a:sym typeface="Inter"/>
              </a:rPr>
              <a:t>Global</a:t>
            </a:r>
            <a:endParaRPr b="0" i="0" sz="1600" u="none" cap="none" strike="noStrike">
              <a:solidFill>
                <a:schemeClr val="dk1"/>
              </a:solidFill>
              <a:latin typeface="Calibri"/>
              <a:ea typeface="Calibri"/>
              <a:cs typeface="Calibri"/>
              <a:sym typeface="Calibri"/>
            </a:endParaRPr>
          </a:p>
        </p:txBody>
      </p:sp>
      <p:sp>
        <p:nvSpPr>
          <p:cNvPr id="47" name="Google Shape;47;p3"/>
          <p:cNvSpPr/>
          <p:nvPr/>
        </p:nvSpPr>
        <p:spPr>
          <a:xfrm>
            <a:off x="594050" y="1463050"/>
            <a:ext cx="3978900" cy="260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Best Buy</a:t>
            </a:r>
            <a:r>
              <a:rPr b="0" i="0" lang="en-US" sz="1100" u="none" cap="none" strike="noStrike">
                <a:solidFill>
                  <a:srgbClr val="4B5563"/>
                </a:solidFill>
                <a:latin typeface="Inter"/>
                <a:ea typeface="Inter"/>
                <a:cs typeface="Inter"/>
                <a:sym typeface="Inter"/>
              </a:rPr>
              <a:t xml:space="preserve"> — GenAI shopping assistant (Google Cloud + Accenture, 2024), agentic AI expansion in 2025, catalog live on ChatGPT via the Agentic Commerce Protocol.</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MediaMarktSaturn</a:t>
            </a:r>
            <a:r>
              <a:rPr b="0" i="0" lang="en-US" sz="1100" u="none" cap="none" strike="noStrike">
                <a:solidFill>
                  <a:srgbClr val="4B5563"/>
                </a:solidFill>
                <a:latin typeface="Inter"/>
                <a:ea typeface="Inter"/>
                <a:cs typeface="Inter"/>
                <a:sym typeface="Inter"/>
              </a:rPr>
              <a:t xml:space="preserve"> — Smart Manual chatbot for ~1,900 private-label SKUs plus MyBuddy in-store voice agent on Azure OpenAI.</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Amazon Rufus</a:t>
            </a:r>
            <a:r>
              <a:rPr b="0" i="0" lang="en-US" sz="1100" u="none" cap="none" strike="noStrike">
                <a:solidFill>
                  <a:srgbClr val="4B5563"/>
                </a:solidFill>
                <a:latin typeface="Inter"/>
                <a:ea typeface="Inter"/>
                <a:cs typeface="Inter"/>
                <a:sym typeface="Inter"/>
              </a:rPr>
              <a:t xml:space="preserve"> — live across Amazon India and globally, 250M shoppers, +$10B downstream sales, 60% higher purchase likelihood.</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Walmart Sparky</a:t>
            </a:r>
            <a:r>
              <a:rPr b="0" i="0" lang="en-US" sz="1100" u="none" cap="none" strike="noStrike">
                <a:solidFill>
                  <a:srgbClr val="4B5563"/>
                </a:solidFill>
                <a:latin typeface="Inter"/>
                <a:ea typeface="Inter"/>
                <a:cs typeface="Inter"/>
                <a:sym typeface="Inter"/>
              </a:rPr>
              <a:t xml:space="preserve"> — live in ChatGPT and Google Gemini with integrated checkout.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Home Depot, Lowe’s, Wayfair</a:t>
            </a:r>
            <a:r>
              <a:rPr b="0" i="0" lang="en-US" sz="1100" u="none" cap="none" strike="noStrike">
                <a:solidFill>
                  <a:srgbClr val="4B5563"/>
                </a:solidFill>
                <a:latin typeface="Inter"/>
                <a:ea typeface="Inter"/>
                <a:cs typeface="Inter"/>
                <a:sym typeface="Inter"/>
              </a:rPr>
              <a:t xml:space="preserve"> — all with ChatGPT storefronts and native AI advisors for complex-catalog verticals.</a:t>
            </a:r>
          </a:p>
        </p:txBody>
      </p:sp>
      <p:sp>
        <p:nvSpPr>
          <p:cNvPr id="48" name="Google Shape;48;p3"/>
          <p:cNvSpPr/>
          <p:nvPr/>
        </p:nvSpPr>
        <p:spPr>
          <a:xfrm>
            <a:off x="5025900" y="1202975"/>
            <a:ext cx="3432300" cy="22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C2626"/>
              </a:buClr>
              <a:buSzPts val="1600"/>
              <a:buFont typeface="Inter"/>
              <a:buNone/>
            </a:pPr>
            <a:r>
              <a:rPr b="1" i="0" lang="en-US" sz="1600" u="none" cap="none" strike="noStrike">
                <a:solidFill>
                  <a:srgbClr val="DC2626"/>
                </a:solidFill>
                <a:latin typeface="Inter"/>
                <a:ea typeface="Inter"/>
                <a:cs typeface="Inter"/>
                <a:sym typeface="Inter"/>
              </a:rPr>
              <a:t>India (your direct market)</a:t>
            </a:r>
            <a:endParaRPr b="0" i="0" sz="1600" u="none" cap="none" strike="noStrike">
              <a:solidFill>
                <a:schemeClr val="dk1"/>
              </a:solidFill>
              <a:latin typeface="Calibri"/>
              <a:ea typeface="Calibri"/>
              <a:cs typeface="Calibri"/>
              <a:sym typeface="Calibri"/>
            </a:endParaRPr>
          </a:p>
        </p:txBody>
      </p:sp>
      <p:sp>
        <p:nvSpPr>
          <p:cNvPr id="49" name="Google Shape;49;p3"/>
          <p:cNvSpPr/>
          <p:nvPr/>
        </p:nvSpPr>
        <p:spPr>
          <a:xfrm>
            <a:off x="4709150" y="1630300"/>
            <a:ext cx="3749100" cy="23184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Amazon India (Rufus)</a:t>
            </a:r>
            <a:r>
              <a:rPr i="0" lang="en-US" sz="1100" u="none" cap="none" strike="noStrike">
                <a:solidFill>
                  <a:schemeClr val="dk1"/>
                </a:solidFill>
                <a:latin typeface="Inter"/>
                <a:ea typeface="Inter"/>
                <a:cs typeface="Inter"/>
                <a:sym typeface="Inter"/>
              </a:rPr>
              <a:t xml:space="preserve"> — rolled out to all India customers on app and desktop in late 2025, now answering spec and use-case questions natively.</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Flipkart (Flippi / SLAP)</a:t>
            </a:r>
            <a:r>
              <a:rPr i="0" lang="en-US" sz="1100" u="none" cap="none" strike="noStrike">
                <a:solidFill>
                  <a:schemeClr val="dk1"/>
                </a:solidFill>
                <a:latin typeface="Inter"/>
                <a:ea typeface="Inter"/>
                <a:cs typeface="Inter"/>
                <a:sym typeface="Inter"/>
              </a:rPr>
              <a:t xml:space="preserve"> — Flippi live; SLAP, the next-gen conversational assistant, announced for early 2026.</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Ajio (Reliance Retail)</a:t>
            </a:r>
            <a:r>
              <a:rPr i="0" lang="en-US" sz="1100" u="none" cap="none" strike="noStrike">
                <a:solidFill>
                  <a:schemeClr val="dk1"/>
                </a:solidFill>
                <a:latin typeface="Inter"/>
                <a:ea typeface="Inter"/>
                <a:cs typeface="Inter"/>
                <a:sym typeface="Inter"/>
              </a:rPr>
              <a:t xml:space="preserve"> — visual search via Rezolve live across the storefront.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Tata Neu / Croma</a:t>
            </a:r>
            <a:r>
              <a:rPr i="0" lang="en-US" sz="1100" u="none" cap="none" strike="noStrike">
                <a:solidFill>
                  <a:schemeClr val="dk1"/>
                </a:solidFill>
                <a:latin typeface="Inter"/>
                <a:ea typeface="Inter"/>
                <a:cs typeface="Inter"/>
                <a:sym typeface="Inter"/>
              </a:rPr>
              <a:t xml:space="preserve"> — multilingual chatbot in the Tata super-app; exploring conversational product discovery.</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Reliance Digital, Vijay Sales, Poorvika</a:t>
            </a:r>
            <a:r>
              <a:rPr i="0" lang="en-US" sz="1100" u="none" cap="none" strike="noStrike">
                <a:solidFill>
                  <a:schemeClr val="dk1"/>
                </a:solidFill>
                <a:latin typeface="Inter"/>
                <a:ea typeface="Inter"/>
                <a:cs typeface="Inter"/>
                <a:sym typeface="Inter"/>
              </a:rPr>
              <a:t xml:space="preserve"> — no on-site conversational assistants today. The category is still wide open in Indian consumer electronics.</a:t>
            </a:r>
          </a:p>
        </p:txBody>
      </p:sp>
      <p:sp>
        <p:nvSpPr>
          <p:cNvPr id="50" name="Google Shape;50;p3"/>
          <p:cNvSpPr/>
          <p:nvPr/>
        </p:nvSpPr>
        <p:spPr>
          <a:xfrm>
            <a:off x="685800" y="4290785"/>
            <a:ext cx="7772400" cy="640200"/>
          </a:xfrm>
          <a:prstGeom prst="rect">
            <a:avLst/>
          </a:prstGeom>
          <a:solidFill>
            <a:srgbClr val="EFF6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3"/>
          <p:cNvSpPr/>
          <p:nvPr/>
        </p:nvSpPr>
        <p:spPr>
          <a:xfrm>
            <a:off x="814750" y="4382275"/>
            <a:ext cx="7510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100"/>
              <a:buFont typeface="Inter"/>
              <a:buNone/>
            </a:pPr>
            <a:r>
              <a:rPr b="1" i="0" lang="en-US" sz="1100" u="none" cap="none" strike="noStrike">
                <a:solidFill>
                  <a:srgbClr val="111827"/>
                </a:solidFill>
                <a:latin typeface="Inter"/>
                <a:ea typeface="Inter"/>
                <a:cs typeface="Inter"/>
                <a:sym typeface="Inter"/>
              </a:rPr>
              <a:t xml:space="preserve">Platform shift: </a:t>
            </a:r>
            <a:r>
              <a:rPr b="0" i="0" lang="en-US" sz="1100" u="none" cap="none" strike="noStrike">
                <a:solidFill>
                  <a:srgbClr val="111827"/>
                </a:solidFill>
                <a:latin typeface="Inter"/>
                <a:ea typeface="Inter"/>
                <a:cs typeface="Inter"/>
                <a:sym typeface="Inter"/>
              </a:rPr>
              <a:t>Walmart, Target, Sephora, Nordstrom, Best Buy, Home Depot, Wayfair, Frasers, Sephora, Etsy, Macy’s all have integrated AI shopping assistants on their websites</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4"/>
          <p:cNvSpPr txBox="1"/>
          <p:nvPr/>
        </p:nvSpPr>
        <p:spPr>
          <a:xfrm>
            <a:off x="253350" y="129400"/>
            <a:ext cx="8890500" cy="861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111827"/>
                </a:solidFill>
                <a:latin typeface="Inter"/>
                <a:ea typeface="Inter"/>
                <a:cs typeface="Inter"/>
                <a:sym typeface="Inter"/>
              </a:rPr>
              <a:t>The gap in e-comm search today - shoppers think in problems and intents, search engines think in keywords.</a:t>
            </a:r>
            <a:endParaRPr b="0" i="0" sz="2200" u="none" cap="none" strike="noStrike">
              <a:solidFill>
                <a:schemeClr val="dk1"/>
              </a:solidFill>
              <a:latin typeface="Calibri"/>
              <a:ea typeface="Calibri"/>
              <a:cs typeface="Calibri"/>
              <a:sym typeface="Calibri"/>
            </a:endParaRPr>
          </a:p>
        </p:txBody>
      </p:sp>
      <p:sp>
        <p:nvSpPr>
          <p:cNvPr id="58" name="Google Shape;58;p4"/>
          <p:cNvSpPr txBox="1"/>
          <p:nvPr/>
        </p:nvSpPr>
        <p:spPr>
          <a:xfrm>
            <a:off x="217075" y="1052800"/>
            <a:ext cx="8637300" cy="3709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The current search bar on your e-commerce website needs the right keywords. It does not understand human language, it cannot match phone and smartphone, it cannot link “humid Bengaluru summer” to low-noise and low-noise to inverter.</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But shoppers today do not shop using keywords such as “laptop for coding” or “5-star 1.5 ton inverter AC”, they shop by intents such as “for a small 10x12 bedroom” or “that doesn’t spike my summer bill”.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What is happening is, even if your catalog has all the relevant products, these products are invisible to your buyer.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What an AI Shopping Assistant changes :  “I need a laptop under 60000 with Intel i5, 16GB RAM and SSD for college coding and light gaming”</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chemeClr val="dk1"/>
              </a:buClr>
              <a:buSzPts val="1100"/>
              <a:buFont typeface="Arial"/>
              <a:buNone/>
            </a:pPr>
            <a:r>
              <a:rPr b="0" i="0" lang="en-US" sz="1100" u="none" cap="none" strike="noStrike">
                <a:solidFill>
                  <a:srgbClr val="4B5563"/>
                </a:solidFill>
                <a:latin typeface="Inter"/>
                <a:ea typeface="Inter"/>
                <a:cs typeface="Inter"/>
                <a:sym typeface="Inter"/>
              </a:rPr>
              <a:t>An AI shopping assistant powered by a knowledge graph understands intent + constraints + context, it maps college coding to: Intel i5 / 16GB RAM / SSD / integrated GPU, adds the conditions for price and returns relevant products from the catalog - exactly what the shopper means and wants, not just what they typed.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p:txBody>
      </p:sp>
      <p:pic>
        <p:nvPicPr>
          <p:cNvPr id="59" name="Google Shape;59;p4" title="Screenshot 2026-04-14 at 9.08.05 PM.png"/>
          <p:cNvPicPr preferRelativeResize="0"/>
          <p:nvPr/>
        </p:nvPicPr>
        <p:blipFill rotWithShape="1">
          <a:blip r:embed="rId3">
            <a:alphaModFix/>
          </a:blip>
          <a:srcRect b="0" l="0" r="0" t="0"/>
          <a:stretch/>
        </p:blipFill>
        <p:spPr>
          <a:xfrm>
            <a:off x="2471075" y="2460600"/>
            <a:ext cx="4455051" cy="10314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 name="Shape 64"/>
        <p:cNvGrpSpPr/>
        <p:nvPr/>
      </p:nvGrpSpPr>
      <p:grpSpPr>
        <a:xfrm>
          <a:off x="0" y="0"/>
          <a:ext cx="0" cy="0"/>
          <a:chOff x="0" y="0"/>
          <a:chExt cx="0" cy="0"/>
        </a:xfrm>
      </p:grpSpPr>
      <p:sp>
        <p:nvSpPr>
          <p:cNvPr id="65" name="Google Shape;65;p5"/>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 name="Google Shape;66;p5"/>
          <p:cNvSpPr/>
          <p:nvPr/>
        </p:nvSpPr>
        <p:spPr>
          <a:xfrm>
            <a:off x="488000" y="194225"/>
            <a:ext cx="7860900" cy="59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Why this gap exists — three structural challenges</a:t>
            </a:r>
            <a:endParaRPr b="0" i="0" sz="2200" u="none" cap="none" strike="noStrike">
              <a:solidFill>
                <a:schemeClr val="dk1"/>
              </a:solidFill>
              <a:latin typeface="Calibri"/>
              <a:ea typeface="Calibri"/>
              <a:cs typeface="Calibri"/>
              <a:sym typeface="Calibri"/>
            </a:endParaRPr>
          </a:p>
        </p:txBody>
      </p:sp>
      <p:sp>
        <p:nvSpPr>
          <p:cNvPr id="67" name="Google Shape;67;p5"/>
          <p:cNvSpPr/>
          <p:nvPr/>
        </p:nvSpPr>
        <p:spPr>
          <a:xfrm>
            <a:off x="267050" y="877085"/>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5"/>
          <p:cNvSpPr/>
          <p:nvPr/>
        </p:nvSpPr>
        <p:spPr>
          <a:xfrm>
            <a:off x="267050" y="87708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1</a:t>
            </a:r>
            <a:endParaRPr b="0" i="0" sz="1400" u="none" cap="none" strike="noStrike">
              <a:solidFill>
                <a:schemeClr val="dk1"/>
              </a:solidFill>
              <a:latin typeface="Calibri"/>
              <a:ea typeface="Calibri"/>
              <a:cs typeface="Calibri"/>
              <a:sym typeface="Calibri"/>
            </a:endParaRPr>
          </a:p>
        </p:txBody>
      </p:sp>
      <p:sp>
        <p:nvSpPr>
          <p:cNvPr id="69" name="Google Shape;69;p5"/>
          <p:cNvSpPr/>
          <p:nvPr/>
        </p:nvSpPr>
        <p:spPr>
          <a:xfrm>
            <a:off x="724250" y="867400"/>
            <a:ext cx="7764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Catalogs need tagging and enrichment to be AI agent readable</a:t>
            </a:r>
            <a:endParaRPr b="0" i="0" sz="1600" u="none" cap="none" strike="noStrike">
              <a:solidFill>
                <a:schemeClr val="dk1"/>
              </a:solidFill>
              <a:latin typeface="Calibri"/>
              <a:ea typeface="Calibri"/>
              <a:cs typeface="Calibri"/>
              <a:sym typeface="Calibri"/>
            </a:endParaRPr>
          </a:p>
        </p:txBody>
      </p:sp>
      <p:sp>
        <p:nvSpPr>
          <p:cNvPr id="70" name="Google Shape;70;p5"/>
          <p:cNvSpPr/>
          <p:nvPr/>
        </p:nvSpPr>
        <p:spPr>
          <a:xfrm>
            <a:off x="326250" y="1354925"/>
            <a:ext cx="83424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AI agents waste millions of tokens to understand the actual product in the catalog</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Catalogs today don't expose attributes such as processor/energy-rating and tags such as “inverter” or “copper coil” which an AI agent needs to map intent such as “laptop for a college coder”  to “i5 16GB SSD under 60k” or “for a small bedroom” to “5-star copper-coil inverter AC”.</a:t>
            </a:r>
            <a:endParaRPr b="0" i="0" sz="1200" u="none" cap="none" strike="noStrike">
              <a:solidFill>
                <a:schemeClr val="dk1"/>
              </a:solidFill>
              <a:latin typeface="Calibri"/>
              <a:ea typeface="Calibri"/>
              <a:cs typeface="Calibri"/>
              <a:sym typeface="Calibri"/>
            </a:endParaRPr>
          </a:p>
        </p:txBody>
      </p:sp>
      <p:sp>
        <p:nvSpPr>
          <p:cNvPr id="71" name="Google Shape;71;p5"/>
          <p:cNvSpPr/>
          <p:nvPr/>
        </p:nvSpPr>
        <p:spPr>
          <a:xfrm>
            <a:off x="267050" y="2312477"/>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5"/>
          <p:cNvSpPr/>
          <p:nvPr/>
        </p:nvSpPr>
        <p:spPr>
          <a:xfrm>
            <a:off x="267050" y="2396620"/>
            <a:ext cx="320100" cy="126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2</a:t>
            </a:r>
            <a:endParaRPr b="0" i="0" sz="1400" u="none" cap="none" strike="noStrike">
              <a:solidFill>
                <a:schemeClr val="dk1"/>
              </a:solidFill>
              <a:latin typeface="Calibri"/>
              <a:ea typeface="Calibri"/>
              <a:cs typeface="Calibri"/>
              <a:sym typeface="Calibri"/>
            </a:endParaRPr>
          </a:p>
        </p:txBody>
      </p:sp>
      <p:sp>
        <p:nvSpPr>
          <p:cNvPr id="73" name="Google Shape;73;p5"/>
          <p:cNvSpPr/>
          <p:nvPr/>
        </p:nvSpPr>
        <p:spPr>
          <a:xfrm>
            <a:off x="733650" y="2312487"/>
            <a:ext cx="75276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Conversational search needs a knowledge graph to map intent to keywords</a:t>
            </a:r>
            <a:endParaRPr b="0" i="0" sz="1600" u="none" cap="none" strike="noStrike">
              <a:solidFill>
                <a:schemeClr val="dk1"/>
              </a:solidFill>
              <a:latin typeface="Calibri"/>
              <a:ea typeface="Calibri"/>
              <a:cs typeface="Calibri"/>
              <a:sym typeface="Calibri"/>
            </a:endParaRPr>
          </a:p>
        </p:txBody>
      </p:sp>
      <p:sp>
        <p:nvSpPr>
          <p:cNvPr id="74" name="Google Shape;74;p5"/>
          <p:cNvSpPr/>
          <p:nvPr/>
        </p:nvSpPr>
        <p:spPr>
          <a:xfrm>
            <a:off x="369650" y="2712925"/>
            <a:ext cx="8081700" cy="854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Unlike traditional search bars that only cater to keyword matching for direct queries like “smart TV 55 inch 4K” or “16GB RAM”, AI chat assistants need to answer intent based queries like “I want appliances for my new flat” or “I want a laptop good for Photoshop and light gaming”. They have to map buyer intent to keywords using a knowledge graph and then search the catalog for relevant products using keywords, refer to the diagram in the next slide for an example</a:t>
            </a:r>
            <a:endParaRPr b="0" i="0" sz="1200" u="none" cap="none" strike="noStrike">
              <a:solidFill>
                <a:schemeClr val="dk1"/>
              </a:solidFill>
              <a:latin typeface="Calibri"/>
              <a:ea typeface="Calibri"/>
              <a:cs typeface="Calibri"/>
              <a:sym typeface="Calibri"/>
            </a:endParaRPr>
          </a:p>
        </p:txBody>
      </p:sp>
      <p:sp>
        <p:nvSpPr>
          <p:cNvPr id="75" name="Google Shape;75;p5"/>
          <p:cNvSpPr/>
          <p:nvPr/>
        </p:nvSpPr>
        <p:spPr>
          <a:xfrm>
            <a:off x="267050" y="3757583"/>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5"/>
          <p:cNvSpPr/>
          <p:nvPr/>
        </p:nvSpPr>
        <p:spPr>
          <a:xfrm>
            <a:off x="267050" y="375754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3</a:t>
            </a:r>
            <a:endParaRPr b="0" i="0" sz="1400" u="none" cap="none" strike="noStrike">
              <a:solidFill>
                <a:schemeClr val="dk1"/>
              </a:solidFill>
              <a:latin typeface="Calibri"/>
              <a:ea typeface="Calibri"/>
              <a:cs typeface="Calibri"/>
              <a:sym typeface="Calibri"/>
            </a:endParaRPr>
          </a:p>
        </p:txBody>
      </p:sp>
      <p:sp>
        <p:nvSpPr>
          <p:cNvPr id="77" name="Google Shape;77;p5"/>
          <p:cNvSpPr/>
          <p:nvPr/>
        </p:nvSpPr>
        <p:spPr>
          <a:xfrm>
            <a:off x="724250" y="3757570"/>
            <a:ext cx="6400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LLMs alone can't reason over catalogs to answer human queries</a:t>
            </a:r>
            <a:endParaRPr b="0" i="0" sz="1600" u="none" cap="none" strike="noStrike">
              <a:solidFill>
                <a:schemeClr val="dk1"/>
              </a:solidFill>
              <a:latin typeface="Calibri"/>
              <a:ea typeface="Calibri"/>
              <a:cs typeface="Calibri"/>
              <a:sym typeface="Calibri"/>
            </a:endParaRPr>
          </a:p>
        </p:txBody>
      </p:sp>
      <p:sp>
        <p:nvSpPr>
          <p:cNvPr id="78" name="Google Shape;78;p5"/>
          <p:cNvSpPr/>
          <p:nvPr/>
        </p:nvSpPr>
        <p:spPr>
          <a:xfrm>
            <a:off x="407450" y="4077650"/>
            <a:ext cx="80061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LLMs give generic answers, they have not been trained on proprietary e-commerce data.They also take time to give answers(100ms-2s latency vs sub-20ms graph traversal)</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Knowledge context graph gives LLM the extra data that they need to map intent to keywords like a human</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8"/>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a:off x="254475" y="290775"/>
            <a:ext cx="87936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lang="en-US" sz="2300">
                <a:solidFill>
                  <a:srgbClr val="111827"/>
                </a:solidFill>
                <a:latin typeface="Inter"/>
                <a:ea typeface="Inter"/>
                <a:cs typeface="Inter"/>
                <a:sym typeface="Inter"/>
              </a:rPr>
              <a:t>We ran an audit on the &lt;&gt;website to see what fails today</a:t>
            </a:r>
            <a:endParaRPr b="0" i="0" sz="2300" u="none" cap="none" strike="noStrike">
              <a:solidFill>
                <a:schemeClr val="dk1"/>
              </a:solidFill>
              <a:latin typeface="Calibri"/>
              <a:ea typeface="Calibri"/>
              <a:cs typeface="Calibri"/>
              <a:sym typeface="Calibri"/>
            </a:endParaRPr>
          </a:p>
        </p:txBody>
      </p:sp>
      <p:graphicFrame>
        <p:nvGraphicFramePr>
          <p:cNvPr id="86" name="Google Shape;86;p8"/>
          <p:cNvGraphicFramePr/>
          <p:nvPr/>
        </p:nvGraphicFramePr>
        <p:xfrm>
          <a:off x="254475" y="979872"/>
          <a:ext cx="3000000" cy="3000000"/>
        </p:xfrm>
        <a:graphic>
          <a:graphicData uri="http://schemas.openxmlformats.org/drawingml/2006/table">
            <a:tbl>
              <a:tblPr>
                <a:noFill/>
                <a:tableStyleId>{A667869B-1F53-4C99-AD8D-8728D57326FD}</a:tableStyleId>
              </a:tblPr>
              <a:tblGrid>
                <a:gridCol w="2732400"/>
                <a:gridCol w="1377250"/>
                <a:gridCol w="4525400"/>
              </a:tblGrid>
              <a:tr h="368075">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the shopper searches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Search returns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exists in the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bl>
          </a:graphicData>
        </a:graphic>
      </p:graphicFrame>
      <p:sp>
        <p:nvSpPr>
          <p:cNvPr id="87" name="Google Shape;87;p8"/>
          <p:cNvSpPr/>
          <p:nvPr/>
        </p:nvSpPr>
        <p:spPr>
          <a:xfrm>
            <a:off x="254475" y="4552499"/>
            <a:ext cx="863520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CA3AF"/>
              </a:buClr>
              <a:buSzPts val="1100"/>
              <a:buFont typeface="Inter"/>
              <a:buNone/>
            </a:pPr>
            <a:r>
              <a:rPr b="0" i="1" lang="en-US" sz="1100" u="none" cap="none" strike="noStrike">
                <a:solidFill>
                  <a:schemeClr val="dk1"/>
                </a:solidFill>
                <a:latin typeface="Inter"/>
                <a:ea typeface="Inter"/>
                <a:cs typeface="Inter"/>
                <a:sym typeface="Inter"/>
              </a:rPr>
              <a:t xml:space="preserve">Every query is grounded in Google autocomplete — real shoppers type these. The products exist. The search can't connect the two. </a:t>
            </a:r>
            <a:r>
              <a:rPr i="1" lang="en-US" sz="1100">
                <a:solidFill>
                  <a:schemeClr val="dk1"/>
                </a:solidFill>
                <a:latin typeface="Inter"/>
                <a:ea typeface="Inter"/>
                <a:cs typeface="Inter"/>
                <a:sym typeface="Inter"/>
              </a:rPr>
              <a:t>For a more detailed report see the report attached with the email.</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Placeholder 1"/>
          <p:cNvSpPr/>
          <p:nvPr/>
        </p:nvSpPr>
        <p:spPr>
          <a:xfrm>
            <a:off x="0" y="0"/>
            <a:ext cx="4175109" cy="235052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#1</a:t>
            </a:r>
          </a:p>
          <a:p>
            <a:pPr algn="ctr"/>
            <a:r>
              <a:rPr lang="en-US" sz="1100" i="1">
                <a:solidFill>
                  <a:srgbClr val="999999"/>
                </a:solidFill>
                <a:latin typeface="Inter"/>
              </a:rPr>
              <a:t>paste the search-results screenshot for the most egregious failing query here</a:t>
            </a:r>
          </a:p>
        </p:txBody>
      </p:sp>
      <p:sp>
        <p:nvSpPr>
          <p:cNvPr id="94" name="Placeholder 2"/>
          <p:cNvSpPr/>
          <p:nvPr/>
        </p:nvSpPr>
        <p:spPr>
          <a:xfrm>
            <a:off x="4968925" y="5"/>
            <a:ext cx="4175078" cy="2350520"/>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#2</a:t>
            </a:r>
          </a:p>
          <a:p>
            <a:pPr algn="ctr"/>
            <a:r>
              <a:rPr lang="en-US" sz="1100" i="1">
                <a:solidFill>
                  <a:srgbClr val="999999"/>
                </a:solidFill>
                <a:latin typeface="Inter"/>
              </a:rPr>
              <a:t>paste the search-results screenshot for the most egregious failing query here</a:t>
            </a:r>
          </a:p>
        </p:txBody>
      </p:sp>
      <p:sp>
        <p:nvSpPr>
          <p:cNvPr id="95" name="Placeholder 3"/>
          <p:cNvSpPr/>
          <p:nvPr/>
        </p:nvSpPr>
        <p:spPr>
          <a:xfrm>
            <a:off x="0" y="2801079"/>
            <a:ext cx="4175099" cy="235054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#3</a:t>
            </a:r>
          </a:p>
          <a:p>
            <a:pPr algn="ctr"/>
            <a:r>
              <a:rPr lang="en-US" sz="1100" i="1">
                <a:solidFill>
                  <a:srgbClr val="999999"/>
                </a:solidFill>
                <a:latin typeface="Inter"/>
              </a:rPr>
              <a:t>paste the search-results screenshot for the most egregious failing query here</a:t>
            </a:r>
          </a:p>
        </p:txBody>
      </p:sp>
      <p:sp>
        <p:nvSpPr>
          <p:cNvPr id="96" name="Placeholder 4"/>
          <p:cNvSpPr/>
          <p:nvPr/>
        </p:nvSpPr>
        <p:spPr>
          <a:xfrm>
            <a:off x="4968925" y="2801118"/>
            <a:ext cx="4175073" cy="235050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#4</a:t>
            </a:r>
          </a:p>
          <a:p>
            <a:pPr algn="ctr"/>
            <a:r>
              <a:rPr lang="en-US" sz="1100" i="1">
                <a:solidFill>
                  <a:srgbClr val="999999"/>
                </a:solidFill>
                <a:latin typeface="Inter"/>
              </a:rPr>
              <a:t>paste the search-results screenshot for the most egregious failing query here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9"/>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9"/>
          <p:cNvSpPr/>
          <p:nvPr/>
        </p:nvSpPr>
        <p:spPr>
          <a:xfrm>
            <a:off x="685800" y="365750"/>
            <a:ext cx="81552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500" u="none" cap="none" strike="noStrike">
                <a:solidFill>
                  <a:srgbClr val="111827"/>
                </a:solidFill>
                <a:latin typeface="Inter"/>
                <a:ea typeface="Inter"/>
                <a:cs typeface="Inter"/>
                <a:sym typeface="Inter"/>
              </a:rPr>
              <a:t xml:space="preserve">What SuperSearch builds for you </a:t>
            </a:r>
            <a:r>
              <a:rPr b="1" lang="en-US" sz="2500">
                <a:solidFill>
                  <a:srgbClr val="111827"/>
                </a:solidFill>
                <a:latin typeface="Inter"/>
                <a:ea typeface="Inter"/>
                <a:cs typeface="Inter"/>
                <a:sym typeface="Inter"/>
              </a:rPr>
              <a:t>- current offerings</a:t>
            </a:r>
            <a:endParaRPr b="0" i="0" sz="2500" u="none" cap="none" strike="noStrike">
              <a:solidFill>
                <a:schemeClr val="dk1"/>
              </a:solidFill>
              <a:latin typeface="Calibri"/>
              <a:ea typeface="Calibri"/>
              <a:cs typeface="Calibri"/>
              <a:sym typeface="Calibri"/>
            </a:endParaRPr>
          </a:p>
        </p:txBody>
      </p:sp>
      <p:sp>
        <p:nvSpPr>
          <p:cNvPr id="112" name="Google Shape;112;p9"/>
          <p:cNvSpPr/>
          <p:nvPr/>
        </p:nvSpPr>
        <p:spPr>
          <a:xfrm>
            <a:off x="685800" y="1097280"/>
            <a:ext cx="54864" cy="105156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9"/>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AI Shopping Assistant on Website that can understand user intent</a:t>
            </a:r>
            <a:endParaRPr b="0" i="0" sz="1600" u="none" cap="none" strike="noStrike">
              <a:solidFill>
                <a:schemeClr val="dk1"/>
              </a:solidFill>
              <a:latin typeface="Calibri"/>
              <a:ea typeface="Calibri"/>
              <a:cs typeface="Calibri"/>
              <a:sym typeface="Calibri"/>
            </a:endParaRPr>
          </a:p>
        </p:txBody>
      </p:sp>
      <p:sp>
        <p:nvSpPr>
          <p:cNvPr id="114" name="Google Shape;114;p9"/>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Chat-based shopping: voice, image, and text input</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Lower cost per query - Graph handles 90%+ of queries, LLM tokens only for edge cases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intent based queries such as “appliances for a new flat”, “quiet washing machine that fits my bathroom” handled just like in ChatGPT and Amazon Rufus, giving buyer a full conversational experience.</a:t>
            </a:r>
            <a:endParaRPr b="0" i="0" sz="1300" u="none" cap="none" strike="noStrike">
              <a:solidFill>
                <a:schemeClr val="dk1"/>
              </a:solidFill>
              <a:latin typeface="Calibri"/>
              <a:ea typeface="Calibri"/>
              <a:cs typeface="Calibri"/>
              <a:sym typeface="Calibri"/>
            </a:endParaRPr>
          </a:p>
        </p:txBody>
      </p:sp>
      <p:sp>
        <p:nvSpPr>
          <p:cNvPr id="115" name="Google Shape;115;p9"/>
          <p:cNvSpPr/>
          <p:nvPr/>
        </p:nvSpPr>
        <p:spPr>
          <a:xfrm>
            <a:off x="685800" y="2377440"/>
            <a:ext cx="54864" cy="105156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9"/>
          <p:cNvSpPr/>
          <p:nvPr/>
        </p:nvSpPr>
        <p:spPr>
          <a:xfrm>
            <a:off x="914400" y="237744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 Tagging + Enrichment</a:t>
            </a:r>
            <a:endParaRPr b="0" i="0" sz="1600" u="none" cap="none" strike="noStrike">
              <a:solidFill>
                <a:schemeClr val="dk1"/>
              </a:solidFill>
              <a:latin typeface="Calibri"/>
              <a:ea typeface="Calibri"/>
              <a:cs typeface="Calibri"/>
              <a:sym typeface="Calibri"/>
            </a:endParaRPr>
          </a:p>
        </p:txBody>
      </p:sp>
      <p:sp>
        <p:nvSpPr>
          <p:cNvPr id="117" name="Google Shape;117;p9"/>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merchant catalogs synced to unified schema that AI agents can read with no token wastage</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Synonyms, spell check, use-case tagging, intent mapping, attribute enrichment across your catalog</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AI agents can directly search the catalog to answer user queries</a:t>
            </a:r>
            <a:endParaRPr b="0" i="0" sz="1300" u="none" cap="none" strike="noStrike">
              <a:solidFill>
                <a:schemeClr val="dk1"/>
              </a:solidFill>
              <a:latin typeface="Calibri"/>
              <a:ea typeface="Calibri"/>
              <a:cs typeface="Calibri"/>
              <a:sym typeface="Calibri"/>
            </a:endParaRPr>
          </a:p>
        </p:txBody>
      </p:sp>
      <p:sp>
        <p:nvSpPr>
          <p:cNvPr id="118" name="Google Shape;118;p9"/>
          <p:cNvSpPr/>
          <p:nvPr/>
        </p:nvSpPr>
        <p:spPr>
          <a:xfrm>
            <a:off x="685800" y="3657600"/>
            <a:ext cx="54864" cy="105156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 name="Google Shape;119;p9"/>
          <p:cNvSpPr/>
          <p:nvPr/>
        </p:nvSpPr>
        <p:spPr>
          <a:xfrm>
            <a:off x="914400" y="365760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Intent-Aware Knowledge Graph</a:t>
            </a:r>
            <a:endParaRPr b="0" i="0" sz="1600" u="none" cap="none" strike="noStrike">
              <a:solidFill>
                <a:schemeClr val="dk1"/>
              </a:solidFill>
              <a:latin typeface="Calibri"/>
              <a:ea typeface="Calibri"/>
              <a:cs typeface="Calibri"/>
              <a:sym typeface="Calibri"/>
            </a:endParaRPr>
          </a:p>
        </p:txBody>
      </p:sp>
      <p:sp>
        <p:nvSpPr>
          <p:cNvPr id="120" name="Google Shape;120;p9"/>
          <p:cNvSpPr/>
          <p:nvPr/>
        </p:nvSpPr>
        <p:spPr>
          <a:xfrm>
            <a:off x="914400" y="4087375"/>
            <a:ext cx="8155200" cy="749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Maps user intent to keywords in PDP’s without spending millions of dollars in LLM tokens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Sub-20ms graph traversal vs 100ms-2s for LLM inference</a:t>
            </a:r>
            <a:r>
              <a:rPr b="0" i="0" lang="en-US" sz="1300" u="none" cap="none" strike="noStrike">
                <a:solidFill>
                  <a:schemeClr val="dk1"/>
                </a:solidFill>
                <a:latin typeface="Calibri"/>
                <a:ea typeface="Calibri"/>
                <a:cs typeface="Calibri"/>
                <a:sym typeface="Calibri"/>
              </a:rPr>
              <a:t>, w</a:t>
            </a:r>
            <a:r>
              <a:rPr b="0" i="0" lang="en-US" sz="1300" u="none" cap="none" strike="noStrike">
                <a:solidFill>
                  <a:srgbClr val="4B5563"/>
                </a:solidFill>
                <a:latin typeface="Inter"/>
                <a:ea typeface="Inter"/>
                <a:cs typeface="Inter"/>
                <a:sym typeface="Inter"/>
              </a:rPr>
              <a:t>orks for 5K-50K+ SKU catalogs</a:t>
            </a:r>
            <a:endParaRPr b="0" i="0" sz="13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Enables AI shopping assistant to answer all intent/event/activity based queries asked by a buyer facilitating a truly realistic online shopping experience and boosting conversion</a:t>
            </a:r>
            <a:endParaRPr b="0" i="0" sz="1300" u="none" cap="none" strike="noStrike">
              <a:solidFill>
                <a:srgbClr val="4B5563"/>
              </a:solidFill>
              <a:latin typeface="Inter"/>
              <a:ea typeface="Inter"/>
              <a:cs typeface="Inter"/>
              <a:sym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g3d836f29ee0_0_17"/>
          <p:cNvSpPr txBox="1"/>
          <p:nvPr/>
        </p:nvSpPr>
        <p:spPr>
          <a:xfrm>
            <a:off x="410725" y="260850"/>
            <a:ext cx="8475600" cy="78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000"/>
              <a:t>The future of e-commerce - shopping assistants, virtual try-on, multilingual queries and discovery through apps on LLM platforms.</a:t>
            </a:r>
            <a:endParaRPr b="1" sz="2000"/>
          </a:p>
        </p:txBody>
      </p:sp>
      <p:sp>
        <p:nvSpPr>
          <p:cNvPr id="127" name="Google Shape;127;g3d836f29ee0_0_17"/>
          <p:cNvSpPr txBox="1"/>
          <p:nvPr/>
        </p:nvSpPr>
        <p:spPr>
          <a:xfrm>
            <a:off x="345025" y="1274475"/>
            <a:ext cx="8238300" cy="342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 xml:space="preserve">Buyers today are increasingly looking for virtual try-on to make more informed </a:t>
            </a:r>
            <a:r>
              <a:rPr lang="en-US"/>
              <a:t>decisions</a:t>
            </a:r>
            <a:r>
              <a:rPr lang="en-US"/>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More and more numbers of queries are being asked in multilingual languages as e-commerce spreads to tier 2 and 3 cities.</a:t>
            </a:r>
            <a:endParaRPr/>
          </a:p>
          <a:p>
            <a:pPr indent="0" lvl="0" marL="0" rtl="0" algn="l">
              <a:spcBef>
                <a:spcPts val="0"/>
              </a:spcBef>
              <a:spcAft>
                <a:spcPts val="0"/>
              </a:spcAft>
              <a:buNone/>
            </a:pPr>
            <a:r>
              <a:t/>
            </a:r>
            <a:endParaRPr/>
          </a:p>
          <a:p>
            <a:pPr indent="0" lvl="0" marL="0" rtl="0" algn="l">
              <a:spcBef>
                <a:spcPts val="0"/>
              </a:spcBef>
              <a:spcAft>
                <a:spcPts val="0"/>
              </a:spcAft>
              <a:buNone/>
            </a:pPr>
            <a:r>
              <a:rPr b="1" lang="en-US"/>
              <a:t xml:space="preserve">40% of shoppers now start their discovery journey on some AI chat agent </a:t>
            </a:r>
            <a:r>
              <a:rPr lang="en-US"/>
              <a:t xml:space="preserve">such as Gemini/ChatGPT/Perplexity.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Before reaching a brand’s website, buyers first discover brand</a:t>
            </a:r>
            <a:r>
              <a:rPr lang="en-US"/>
              <a:t>s</a:t>
            </a:r>
            <a:r>
              <a:rPr lang="en-US"/>
              <a:t xml:space="preserve"> through LLMs. While AEO/GEO ensures that a brand comes up in the LLM’s suggestions, that is just the first part. Brands have to also ensure that buyers can </a:t>
            </a:r>
            <a:r>
              <a:rPr lang="en-US"/>
              <a:t>interact</a:t>
            </a:r>
            <a:r>
              <a:rPr lang="en-US"/>
              <a:t xml:space="preserve"> </a:t>
            </a:r>
            <a:r>
              <a:rPr lang="en-US"/>
              <a:t>with</a:t>
            </a:r>
            <a:r>
              <a:rPr lang="en-US"/>
              <a:t xml:space="preserve"> their catalogs within the LLM chat interface itself so they come to their website and buy.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xml:space="preserve">As a result </a:t>
            </a:r>
            <a:r>
              <a:rPr b="1" lang="en-US"/>
              <a:t>Walmart, Sephora, Instacart, Doordash</a:t>
            </a:r>
            <a:r>
              <a:rPr lang="en-US"/>
              <a:t xml:space="preserve"> have already created apps on top of ChatGPT to capture buyers upfront.</a:t>
            </a:r>
            <a:endParaRPr/>
          </a:p>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 name="Shape 132"/>
        <p:cNvGrpSpPr/>
        <p:nvPr/>
      </p:nvGrpSpPr>
      <p:grpSpPr>
        <a:xfrm>
          <a:off x="0" y="0"/>
          <a:ext cx="0" cy="0"/>
          <a:chOff x="0" y="0"/>
          <a:chExt cx="0" cy="0"/>
        </a:xfrm>
      </p:grpSpPr>
      <p:sp>
        <p:nvSpPr>
          <p:cNvPr id="133" name="Google Shape;133;g3d836f29ee0_0_0"/>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g3d836f29ee0_0_0"/>
          <p:cNvSpPr/>
          <p:nvPr/>
        </p:nvSpPr>
        <p:spPr>
          <a:xfrm>
            <a:off x="685800" y="365750"/>
            <a:ext cx="83082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i="0" lang="en-US" sz="2400" u="none" cap="none" strike="noStrike">
                <a:solidFill>
                  <a:srgbClr val="111827"/>
                </a:solidFill>
                <a:latin typeface="Inter"/>
                <a:ea typeface="Inter"/>
                <a:cs typeface="Inter"/>
                <a:sym typeface="Inter"/>
              </a:rPr>
              <a:t xml:space="preserve">What SuperSearch builds for you - </a:t>
            </a:r>
            <a:r>
              <a:rPr b="1" lang="en-US" sz="2400">
                <a:solidFill>
                  <a:srgbClr val="111827"/>
                </a:solidFill>
                <a:latin typeface="Inter"/>
                <a:ea typeface="Inter"/>
                <a:cs typeface="Inter"/>
                <a:sym typeface="Inter"/>
              </a:rPr>
              <a:t>upcoming offerings</a:t>
            </a:r>
            <a:endParaRPr b="0" i="0" sz="2400" u="none" cap="none" strike="noStrike">
              <a:solidFill>
                <a:schemeClr val="dk1"/>
              </a:solidFill>
              <a:latin typeface="Calibri"/>
              <a:ea typeface="Calibri"/>
              <a:cs typeface="Calibri"/>
              <a:sym typeface="Calibri"/>
            </a:endParaRPr>
          </a:p>
        </p:txBody>
      </p:sp>
      <p:sp>
        <p:nvSpPr>
          <p:cNvPr id="135" name="Google Shape;135;g3d836f29ee0_0_0"/>
          <p:cNvSpPr/>
          <p:nvPr/>
        </p:nvSpPr>
        <p:spPr>
          <a:xfrm>
            <a:off x="685800" y="1097280"/>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g3d836f29ee0_0_0"/>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Virtual Try On / Room Fit</a:t>
            </a:r>
            <a:endParaRPr b="0" i="0" sz="1600" u="none" cap="none" strike="noStrike">
              <a:solidFill>
                <a:schemeClr val="dk1"/>
              </a:solidFill>
              <a:latin typeface="Calibri"/>
              <a:ea typeface="Calibri"/>
              <a:cs typeface="Calibri"/>
              <a:sym typeface="Calibri"/>
            </a:endParaRPr>
          </a:p>
        </p:txBody>
      </p:sp>
      <p:sp>
        <p:nvSpPr>
          <p:cNvPr id="137" name="Google Shape;137;g3d836f29ee0_0_0"/>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See the 55-inch TV on your actual wall, the 1.5 ton split AC above your bed, or the double-door fridge in your kitchen via AR before you commit.</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The #1 return reason in large appliances is “doesn’t fit the space.” AR fit tools cut this dramatically in furniture and are now moving into appliances.</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Higher conversion, fewer returns, lower reverse-logistics cost on high-ticket SKUs.</a:t>
            </a:r>
            <a:endParaRPr sz="1300">
              <a:solidFill>
                <a:srgbClr val="4B5563"/>
              </a:solidFill>
              <a:latin typeface="Inter"/>
              <a:ea typeface="Inter"/>
              <a:cs typeface="Inter"/>
              <a:sym typeface="Inter"/>
            </a:endParaRPr>
          </a:p>
        </p:txBody>
      </p:sp>
      <p:sp>
        <p:nvSpPr>
          <p:cNvPr id="138" name="Google Shape;138;g3d836f29ee0_0_0"/>
          <p:cNvSpPr/>
          <p:nvPr/>
        </p:nvSpPr>
        <p:spPr>
          <a:xfrm>
            <a:off x="685800" y="2377440"/>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g3d836f29ee0_0_0"/>
          <p:cNvSpPr/>
          <p:nvPr/>
        </p:nvSpPr>
        <p:spPr>
          <a:xfrm>
            <a:off x="914400" y="2377440"/>
            <a:ext cx="73152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Vernacular + natural-language queries</a:t>
            </a:r>
            <a:endParaRPr b="0" i="0" sz="1600" u="none" cap="none" strike="noStrike">
              <a:solidFill>
                <a:schemeClr val="dk1"/>
              </a:solidFill>
              <a:latin typeface="Calibri"/>
              <a:ea typeface="Calibri"/>
              <a:cs typeface="Calibri"/>
              <a:sym typeface="Calibri"/>
            </a:endParaRPr>
          </a:p>
        </p:txBody>
      </p:sp>
      <p:sp>
        <p:nvSpPr>
          <p:cNvPr id="140" name="Google Shape;140;g3d836f29ee0_0_0"/>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Hindi, Tamil, Telugu and Bengali queries mapped to the English catalog — “geyser” → water heater, “cooler” → air cooler, “chimney” → kitchen chimney, “fridge” → refrigerator.</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Natural-language queries like “its too hot in my room but i cant afford an ac what are my options” resolve to budget coolers and fans instead of ₹58,990 split ACs.</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Unlocks tier-2 and tier-3 buyers for whom vernacular and conversational phrasing are the first language of search.</a:t>
            </a:r>
            <a:endParaRPr sz="1300">
              <a:solidFill>
                <a:srgbClr val="4B5563"/>
              </a:solidFill>
              <a:latin typeface="Inter"/>
              <a:ea typeface="Inter"/>
              <a:cs typeface="Inter"/>
              <a:sym typeface="Inter"/>
            </a:endParaRPr>
          </a:p>
        </p:txBody>
      </p:sp>
      <p:sp>
        <p:nvSpPr>
          <p:cNvPr id="141" name="Google Shape;141;g3d836f29ee0_0_0"/>
          <p:cNvSpPr/>
          <p:nvPr/>
        </p:nvSpPr>
        <p:spPr>
          <a:xfrm>
            <a:off x="685800" y="3657600"/>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g3d836f29ee0_0_0"/>
          <p:cNvSpPr/>
          <p:nvPr/>
        </p:nvSpPr>
        <p:spPr>
          <a:xfrm>
            <a:off x="914400" y="3783675"/>
            <a:ext cx="7315200" cy="166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App Storefront on ChatGPT</a:t>
            </a:r>
            <a:endParaRPr b="1" sz="1600">
              <a:solidFill>
                <a:srgbClr val="111827"/>
              </a:solidFill>
              <a:latin typeface="Inter"/>
              <a:ea typeface="Inter"/>
              <a:cs typeface="Inter"/>
              <a:sym typeface="Inter"/>
            </a:endParaRPr>
          </a:p>
        </p:txBody>
      </p:sp>
      <p:sp>
        <p:nvSpPr>
          <p:cNvPr id="143" name="Google Shape;143;g3d836f29ee0_0_0"/>
          <p:cNvSpPr/>
          <p:nvPr/>
        </p:nvSpPr>
        <p:spPr>
          <a:xfrm>
            <a:off x="914400" y="3905525"/>
            <a:ext cx="8155200" cy="9315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40% of buyers now start their electronics research on ChatGPT / Gemini / Perplexity before visiting a retailer site.</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Your catalog becomes shoppable inside the AI conversation — specs, prices, energy ratings and compatibility surfaced natively.</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Best Buy, Walmart, Home Depot, Lowe’s and Wayfair are already live on ChatGPT via OpenAI’s Agentic Commerce Protocol. Indian electronics retail is still wide open.</a:t>
            </a:r>
            <a:endParaRPr sz="1300">
              <a:solidFill>
                <a:srgbClr val="4B5563"/>
              </a:solidFill>
              <a:latin typeface="Inter"/>
              <a:ea typeface="Inter"/>
              <a:cs typeface="Inter"/>
              <a:sym typeface="Inte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1"/>
          <p:cNvSpPr txBox="1"/>
          <p:nvPr/>
        </p:nvSpPr>
        <p:spPr>
          <a:xfrm>
            <a:off x="378375" y="239300"/>
            <a:ext cx="8572500" cy="42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Examples of queries with intent being mapped to keywords using knowledge context graph</a:t>
            </a:r>
            <a:endParaRPr b="1" i="0" sz="1500" u="none" cap="none" strike="noStrike">
              <a:solidFill>
                <a:srgbClr val="000000"/>
              </a:solidFill>
              <a:latin typeface="Arial"/>
              <a:ea typeface="Arial"/>
              <a:cs typeface="Arial"/>
              <a:sym typeface="Arial"/>
            </a:endParaRPr>
          </a:p>
        </p:txBody>
      </p:sp>
      <p:pic>
        <p:nvPicPr>
          <p:cNvPr id="150" name="Picture 149" descr="electronics_graph.png"/>
          <p:cNvPicPr>
            <a:picLocks noChangeAspect="1"/>
          </p:cNvPicPr>
          <p:nvPr/>
        </p:nvPicPr>
        <p:blipFill>
          <a:blip r:embed="rId4"/>
          <a:stretch>
            <a:fillRect/>
          </a:stretch>
        </p:blipFill>
        <p:spPr>
          <a:xfrm>
            <a:off x="152400" y="812300"/>
            <a:ext cx="8839197" cy="408039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 name="Google Shape;156;p12"/>
          <p:cNvSpPr/>
          <p:nvPr/>
        </p:nvSpPr>
        <p:spPr>
          <a:xfrm>
            <a:off x="308950" y="177335"/>
            <a:ext cx="77724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An AI shopping assistant doesn't just search — it sells</a:t>
            </a:r>
            <a:endParaRPr b="0" i="0" sz="2300" u="none" cap="none" strike="noStrike">
              <a:solidFill>
                <a:schemeClr val="dk1"/>
              </a:solidFill>
              <a:latin typeface="Calibri"/>
              <a:ea typeface="Calibri"/>
              <a:cs typeface="Calibri"/>
              <a:sym typeface="Calibri"/>
            </a:endParaRPr>
          </a:p>
        </p:txBody>
      </p:sp>
      <p:sp>
        <p:nvSpPr>
          <p:cNvPr id="157" name="Google Shape;157;p12"/>
          <p:cNvSpPr/>
          <p:nvPr/>
        </p:nvSpPr>
        <p:spPr>
          <a:xfrm>
            <a:off x="308950" y="908855"/>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58" name="Google Shape;158;p12"/>
          <p:cNvSpPr/>
          <p:nvPr/>
        </p:nvSpPr>
        <p:spPr>
          <a:xfrm>
            <a:off x="537550" y="867701"/>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Guided discovery → conversion lift</a:t>
            </a:r>
            <a:endParaRPr b="0" i="0" u="none" cap="none" strike="noStrike">
              <a:solidFill>
                <a:schemeClr val="dk1"/>
              </a:solidFill>
              <a:latin typeface="Calibri"/>
              <a:ea typeface="Calibri"/>
              <a:cs typeface="Calibri"/>
              <a:sym typeface="Calibri"/>
            </a:endParaRPr>
          </a:p>
        </p:txBody>
      </p:sp>
      <p:sp>
        <p:nvSpPr>
          <p:cNvPr id="159" name="Google Shape;159;p12"/>
          <p:cNvSpPr/>
          <p:nvPr/>
        </p:nvSpPr>
        <p:spPr>
          <a:xfrm>
            <a:off x="537550" y="1302150"/>
            <a:ext cx="7896300" cy="5943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Clarifies intent instead of dumping a catalog — asks the right follow-up questions (occasion, budget, use-case, size/fit) before suggesting anything.</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4x conversion uplift for conversational vs keyword — 12.3% vs 3.1% (Rep AI 2025 Ecommerce Shopper Behavior Report).</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Zalando's AI assistant rollout tied to 18% YoY profitability lift — proof the impact shows up in the P&amp;L.</a:t>
            </a:r>
            <a:endParaRPr b="0" i="0" sz="1100" u="none" cap="none" strike="noStrike">
              <a:solidFill>
                <a:schemeClr val="dk1"/>
              </a:solidFill>
              <a:latin typeface="Calibri"/>
              <a:ea typeface="Calibri"/>
              <a:cs typeface="Calibri"/>
              <a:sym typeface="Calibri"/>
            </a:endParaRPr>
          </a:p>
        </p:txBody>
      </p:sp>
      <p:sp>
        <p:nvSpPr>
          <p:cNvPr id="160" name="Google Shape;160;p12"/>
          <p:cNvSpPr/>
          <p:nvPr/>
        </p:nvSpPr>
        <p:spPr>
          <a:xfrm>
            <a:off x="308950" y="2189015"/>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1" name="Google Shape;161;p12"/>
          <p:cNvSpPr/>
          <p:nvPr/>
        </p:nvSpPr>
        <p:spPr>
          <a:xfrm>
            <a:off x="537550" y="218901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Stylist-grade cross-sell → AOV lift</a:t>
            </a:r>
            <a:endParaRPr b="0" i="0" u="none" cap="none" strike="noStrike">
              <a:solidFill>
                <a:schemeClr val="dk1"/>
              </a:solidFill>
              <a:latin typeface="Calibri"/>
              <a:ea typeface="Calibri"/>
              <a:cs typeface="Calibri"/>
              <a:sym typeface="Calibri"/>
            </a:endParaRPr>
          </a:p>
        </p:txBody>
      </p:sp>
      <p:sp>
        <p:nvSpPr>
          <p:cNvPr id="162" name="Google Shape;162;p12"/>
          <p:cNvSpPr/>
          <p:nvPr/>
        </p:nvSpPr>
        <p:spPr>
          <a:xfrm>
            <a:off x="537550" y="2536475"/>
            <a:ext cx="8229600" cy="6402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Assistant knows what pairs with what — matching accessories, complementary items, a matched bundle — TV plus soundbar, camera plus lens plus mic — instead of a single SKU.</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Single-item sessions become full set-ups — every add-to-cart becomes an opening for a second, third, fourth item.</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Nosto: when search works, 78% of shoppers also buy an additional item — the assistant is the conversion engine for that second buy.</a:t>
            </a:r>
            <a:endParaRPr b="0" i="0" sz="1100" u="none" cap="none" strike="noStrike">
              <a:solidFill>
                <a:schemeClr val="dk1"/>
              </a:solidFill>
              <a:latin typeface="Calibri"/>
              <a:ea typeface="Calibri"/>
              <a:cs typeface="Calibri"/>
              <a:sym typeface="Calibri"/>
            </a:endParaRPr>
          </a:p>
        </p:txBody>
      </p:sp>
      <p:sp>
        <p:nvSpPr>
          <p:cNvPr id="163" name="Google Shape;163;p12"/>
          <p:cNvSpPr/>
          <p:nvPr/>
        </p:nvSpPr>
        <p:spPr>
          <a:xfrm>
            <a:off x="308950" y="3469175"/>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4" name="Google Shape;164;p12"/>
          <p:cNvSpPr/>
          <p:nvPr/>
        </p:nvSpPr>
        <p:spPr>
          <a:xfrm>
            <a:off x="537550" y="346917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Intent rescue → keep shoppers on site</a:t>
            </a:r>
            <a:endParaRPr b="0" i="0" u="none" cap="none" strike="noStrike">
              <a:solidFill>
                <a:schemeClr val="dk1"/>
              </a:solidFill>
              <a:latin typeface="Calibri"/>
              <a:ea typeface="Calibri"/>
              <a:cs typeface="Calibri"/>
              <a:sym typeface="Calibri"/>
            </a:endParaRPr>
          </a:p>
        </p:txBody>
      </p:sp>
      <p:sp>
        <p:nvSpPr>
          <p:cNvPr id="165" name="Google Shape;165;p12"/>
          <p:cNvSpPr/>
          <p:nvPr/>
        </p:nvSpPr>
        <p:spPr>
          <a:xfrm>
            <a:off x="537550" y="3898950"/>
            <a:ext cx="8155200" cy="7497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Vague, intent-shaped queries become a curated shortlist instead of thousands of random results.</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80% of shoppers leave a site due to poor search — the assistant plugs that leak before the session bounces (Nosto).</a:t>
            </a:r>
            <a:endParaRPr b="0" i="0" sz="1100" u="none" cap="none" strike="noStrike">
              <a:solidFill>
                <a:srgbClr val="4B5563"/>
              </a:solidFill>
              <a:latin typeface="Inter"/>
              <a:ea typeface="Inter"/>
              <a:cs typeface="Inter"/>
              <a:sym typeface="Inter"/>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Myntra's MyFashionGPT: users 3x more likely to purchase through the assistant than through keyword search.</a:t>
            </a:r>
            <a:endParaRPr b="0" i="0" sz="1100" u="none" cap="none" strike="noStrike">
              <a:solidFill>
                <a:srgbClr val="4B5563"/>
              </a:solidFill>
              <a:latin typeface="Inter"/>
              <a:ea typeface="Inter"/>
              <a:cs typeface="Inter"/>
              <a:sym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 name="Shape 170"/>
        <p:cNvGrpSpPr/>
        <p:nvPr/>
      </p:nvGrpSpPr>
      <p:grpSpPr>
        <a:xfrm>
          <a:off x="0" y="0"/>
          <a:ext cx="0" cy="0"/>
          <a:chOff x="0" y="0"/>
          <a:chExt cx="0" cy="0"/>
        </a:xfrm>
      </p:grpSpPr>
      <p:sp>
        <p:nvSpPr>
          <p:cNvPr id="171" name="Google Shape;171;p1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13"/>
          <p:cNvSpPr/>
          <p:nvPr/>
        </p:nvSpPr>
        <p:spPr>
          <a:xfrm>
            <a:off x="685800" y="365760"/>
            <a:ext cx="777240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800" u="none" cap="none" strike="noStrike">
                <a:solidFill>
                  <a:srgbClr val="111827"/>
                </a:solidFill>
                <a:latin typeface="Inter"/>
                <a:ea typeface="Inter"/>
                <a:cs typeface="Inter"/>
                <a:sym typeface="Inter"/>
              </a:rPr>
              <a:t>How SuperSearch is different</a:t>
            </a:r>
            <a:endParaRPr b="0" i="0" sz="2800" u="none" cap="none" strike="noStrike">
              <a:solidFill>
                <a:schemeClr val="dk1"/>
              </a:solidFill>
              <a:latin typeface="Calibri"/>
              <a:ea typeface="Calibri"/>
              <a:cs typeface="Calibri"/>
              <a:sym typeface="Calibri"/>
            </a:endParaRPr>
          </a:p>
        </p:txBody>
      </p:sp>
      <p:graphicFrame>
        <p:nvGraphicFramePr>
          <p:cNvPr id="173" name="Google Shape;173;p13"/>
          <p:cNvGraphicFramePr/>
          <p:nvPr/>
        </p:nvGraphicFramePr>
        <p:xfrm>
          <a:off x="685800" y="1097280"/>
          <a:ext cx="3000000" cy="3000000"/>
        </p:xfrm>
        <a:graphic>
          <a:graphicData uri="http://schemas.openxmlformats.org/drawingml/2006/table">
            <a:tbl>
              <a:tblPr>
                <a:noFill/>
                <a:tableStyleId>{A667869B-1F53-4C99-AD8D-8728D57326FD}</a:tableStyleId>
              </a:tblPr>
              <a:tblGrid>
                <a:gridCol w="2011675"/>
                <a:gridCol w="1828800"/>
                <a:gridCol w="1920250"/>
                <a:gridCol w="2011675"/>
              </a:tblGrid>
              <a:tr h="365750">
                <a:tc>
                  <a:txBody>
                    <a:bodyPr/>
                    <a:lstStyle/>
                    <a:p>
                      <a:pPr indent="0" lvl="0" marL="0" marR="0" rtl="0" algn="l">
                        <a:lnSpc>
                          <a:spcPct val="100000"/>
                        </a:lnSpc>
                        <a:spcBef>
                          <a:spcPts val="0"/>
                        </a:spcBef>
                        <a:spcAft>
                          <a:spcPts val="0"/>
                        </a:spcAft>
                        <a:buClr>
                          <a:schemeClr val="dk1"/>
                        </a:buClr>
                        <a:buSzPts val="1000"/>
                        <a:buFont typeface="Calibri"/>
                        <a:buNone/>
                      </a:pPr>
                      <a:r>
                        <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Keyword Search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Pure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SuperSearch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(Graph +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Simple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smart tv 55 inch 4K</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Synonym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geyser / chimney / cooler</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synonym bridging)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May work</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(depends on training data)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via</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vocabulary graph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Occasion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appliances for a new 2bhk flat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intent mapping)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suggestions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catalog-aware)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Maps to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products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Conversational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quiet washing machine that fits my bathroom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designed for this)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answers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your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Returns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inventory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Cost at scale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11827"/>
                        </a:buClr>
                        <a:buSzPts val="1000"/>
                        <a:buFont typeface="Inter"/>
                        <a:buNone/>
                      </a:pPr>
                      <a:r>
                        <a:rPr lang="en-US" sz="1000" u="none" cap="none" strike="noStrike">
                          <a:solidFill>
                            <a:srgbClr val="111827"/>
                          </a:solidFill>
                          <a:latin typeface="Inter"/>
                          <a:ea typeface="Inter"/>
                          <a:cs typeface="Inter"/>
                          <a:sym typeface="Inter"/>
                        </a:rPr>
                        <a:t>Low</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High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(LLM call per query)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Low</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(LLM only for edge cases)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Multi-attribute queries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inverter, 1.5 ton, 5 star, copper coil, split ac under 45k</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Accuracy degrades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Prone to</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hallucinations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Much more accurate</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than standard RAG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4"/>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4"/>
          <p:cNvSpPr/>
          <p:nvPr/>
        </p:nvSpPr>
        <p:spPr>
          <a:xfrm>
            <a:off x="685800" y="658330"/>
            <a:ext cx="77724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3600"/>
              <a:buFont typeface="Inter"/>
              <a:buNone/>
            </a:pPr>
            <a:r>
              <a:rPr b="1" i="0" lang="en-US" sz="3600" u="none" cap="none" strike="noStrike">
                <a:solidFill>
                  <a:srgbClr val="111827"/>
                </a:solidFill>
                <a:latin typeface="Inter"/>
                <a:ea typeface="Inter"/>
                <a:cs typeface="Inter"/>
                <a:sym typeface="Inter"/>
              </a:rPr>
              <a:t>Let's close the gap.</a:t>
            </a:r>
            <a:endParaRPr b="0" i="0" sz="3600" u="none" cap="none" strike="noStrike">
              <a:solidFill>
                <a:schemeClr val="dk1"/>
              </a:solidFill>
              <a:latin typeface="Calibri"/>
              <a:ea typeface="Calibri"/>
              <a:cs typeface="Calibri"/>
              <a:sym typeface="Calibri"/>
            </a:endParaRPr>
          </a:p>
        </p:txBody>
      </p:sp>
      <p:sp>
        <p:nvSpPr>
          <p:cNvPr id="181" name="Google Shape;181;p14"/>
          <p:cNvSpPr/>
          <p:nvPr/>
        </p:nvSpPr>
        <p:spPr>
          <a:xfrm>
            <a:off x="685800" y="1920250"/>
            <a:ext cx="7553400" cy="178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We can run a full 500-query audit on your site in under a week and show you exactly where you are losing crores in revenue..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Every query grounded in Google autocomplete. Every result verified against your actual catalog.</a:t>
            </a:r>
            <a:r>
              <a:rPr b="0" i="0" lang="en-US" sz="1500" u="none" cap="none" strike="noStrike">
                <a:solidFill>
                  <a:schemeClr val="dk1"/>
                </a:solidFill>
                <a:latin typeface="Calibri"/>
                <a:ea typeface="Calibri"/>
                <a:cs typeface="Calibri"/>
                <a:sym typeface="Calibri"/>
              </a:rPr>
              <a:t xml:space="preserve"> </a:t>
            </a:r>
            <a:r>
              <a:rPr b="0" i="0" lang="en-US" sz="1500" u="none" cap="none" strike="noStrike">
                <a:solidFill>
                  <a:srgbClr val="4B5563"/>
                </a:solidFill>
                <a:latin typeface="Inter"/>
                <a:ea typeface="Inter"/>
                <a:cs typeface="Inter"/>
                <a:sym typeface="Inter"/>
              </a:rPr>
              <a:t>We have pasted some of the results we obtained from a smaller audit on your website slide 6.</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 xml:space="preserve">We can fix your search and upgrade your website from keyword based search bar to intent based AI assistant. </a:t>
            </a: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500" u="none" cap="none" strike="noStrike">
              <a:solidFill>
                <a:schemeClr val="dk1"/>
              </a:solidFill>
              <a:latin typeface="Calibri"/>
              <a:ea typeface="Calibri"/>
              <a:cs typeface="Calibri"/>
              <a:sym typeface="Calibri"/>
            </a:endParaRPr>
          </a:p>
        </p:txBody>
      </p:sp>
      <p:sp>
        <p:nvSpPr>
          <p:cNvPr id="182" name="Google Shape;182;p14"/>
          <p:cNvSpPr/>
          <p:nvPr/>
        </p:nvSpPr>
        <p:spPr>
          <a:xfrm>
            <a:off x="685800" y="3981001"/>
            <a:ext cx="64008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Shalini Mukhopadhyay  ·  </a:t>
            </a:r>
            <a:r>
              <a:rPr b="0" i="0" lang="en-US" sz="1300" u="sng" cap="none" strike="noStrike">
                <a:solidFill>
                  <a:schemeClr val="dk1"/>
                </a:solidFill>
                <a:latin typeface="Inter"/>
                <a:ea typeface="Inter"/>
                <a:cs typeface="Inter"/>
                <a:sym typeface="Inter"/>
                <a:hlinkClick r:id="rId4">
                  <a:extLst>
                    <a:ext uri="{A12FA001-AC4F-418D-AE19-62706E023703}">
                      <ahyp:hlinkClr val="tx"/>
                    </a:ext>
                  </a:extLst>
                </a:hlinkClick>
              </a:rPr>
              <a:t>shaliniiitkgp2021@gmail.com</a:t>
            </a:r>
            <a:endParaRPr b="0" i="0" sz="1300" u="none" cap="none" strike="noStrike">
              <a:solidFill>
                <a:schemeClr val="dk1"/>
              </a:solidFill>
              <a:latin typeface="Inter"/>
              <a:ea typeface="Inter"/>
              <a:cs typeface="Inter"/>
              <a:sym typeface="Inter"/>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Aantriksh Pandya  ·  </a:t>
            </a:r>
            <a:r>
              <a:rPr b="0" i="0" lang="en-US" sz="1300" u="sng" cap="none" strike="noStrike">
                <a:solidFill>
                  <a:schemeClr val="dk1"/>
                </a:solidFill>
                <a:latin typeface="Inter"/>
                <a:ea typeface="Inter"/>
                <a:cs typeface="Inter"/>
                <a:sym typeface="Inter"/>
                <a:hlinkClick r:id="rId5">
                  <a:extLst>
                    <a:ext uri="{A12FA001-AC4F-418D-AE19-62706E023703}">
                      <ahyp:hlinkClr val="tx"/>
                    </a:ext>
                  </a:extLst>
                </a:hlinkClick>
              </a:rPr>
              <a:t>aantriksh.pandya1@gmail.com</a:t>
            </a:r>
            <a:r>
              <a:rPr b="0" i="0" lang="en-US" sz="1300" u="none" cap="none" strike="noStrike">
                <a:solidFill>
                  <a:schemeClr val="dk1"/>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rgbClr val="9CA3AF"/>
                </a:solidFill>
                <a:latin typeface="Inter"/>
                <a:ea typeface="Inter"/>
                <a:cs typeface="Inter"/>
                <a:sym typeface="Inter"/>
              </a:rPr>
              <a:t xml:space="preserve"> </a:t>
            </a:r>
            <a:endParaRPr b="0" i="0" sz="1300" u="none" cap="none" strike="noStrike">
              <a:solidFill>
                <a:srgbClr val="9CA3AF"/>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