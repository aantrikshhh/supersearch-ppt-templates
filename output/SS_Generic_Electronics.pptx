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4"/>
  </p:sldMasterIdLst>
  <p:notesMasterIdLst>
    <p:notesMasterId r:id="rId5"/>
  </p:notesMasterIdLst>
  <p:sldIdLst>
    <p:sldId id="256" r:id="rId6"/>
    <p:sldId id="257" r:id="rId7"/>
    <p:sldId id="258" r:id="rId8"/>
    <p:sldId id="259" r:id="rId9"/>
    <p:sldId id="260" r:id="rId10"/>
    <p:sldId id="261" r:id="rId11"/>
    <p:sldId id="263" r:id="rId13"/>
    <p:sldId id="264" r:id="rId14"/>
    <p:sldId id="265" r:id="rId15"/>
    <p:sldId id="266" r:id="rId16"/>
    <p:sldId id="267" r:id="rId17"/>
    <p:sldId id="268" r:id="rId18"/>
    <p:sldId id="269" r:id="rId19"/>
    <p:sldId id="270" r:id="rId20"/>
  </p:sldIdLst>
  <p:sldSz cy="5143500" cx="9144000"/>
  <p:notesSz cx="5143500" cy="9144000"/>
  <p:embeddedFontLst>
    <p:embeddedFont>
      <p:font typeface="Inter"/>
      <p:regular r:id="rId21"/>
      <p:bold r:id="rId22"/>
      <p:italic r:id="rId23"/>
      <p:boldItalic r:id="rId24"/>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25" roundtripDataSignature="AMtx7mjAXWUe55wi30lXcQrFr6CVs98ltg=="/>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A667869B-1F53-4C99-AD8D-8728D57326FD}">
  <a:tblStyle styleId="{A667869B-1F53-4C99-AD8D-8728D57326FD}" styleName="Table_0">
    <a:wholeTbl>
      <a:tcTxStyle b="off" i="off">
        <a:font>
          <a:latin typeface="Arial"/>
          <a:ea typeface="Arial"/>
          <a:cs typeface="Arial"/>
        </a:font>
        <a:srgbClr val="000000"/>
      </a:tcTxStyle>
    </a:wholeTbl>
    <a:band1H>
      <a:tcTxStyle b="off" i="off"/>
    </a:band1H>
    <a:band2H>
      <a:tcTxStyle b="off" i="off"/>
    </a:band2H>
    <a:band1V>
      <a:tcTxStyle b="off" i="off"/>
    </a:band1V>
    <a:band2V>
      <a:tcTxStyle b="off" i="off"/>
    </a:band2V>
    <a:lastCol>
      <a:tcTxStyle b="off" i="off"/>
    </a:lastCol>
    <a:firstCol>
      <a:tcTxStyle b="off" i="off"/>
    </a:firstCol>
    <a:lastRow>
      <a:tcTxStyle b="off" i="off"/>
    </a:lastRow>
    <a:seCell>
      <a:tcTxStyle b="off" i="off"/>
    </a:seCell>
    <a:swCell>
      <a:tcTxStyle b="off" i="off"/>
    </a:swCell>
    <a:firstRow>
      <a:tcTxStyle b="off" i="off"/>
    </a:firstRow>
    <a:neCell>
      <a:tcTxStyle b="off" i="off"/>
    </a:neCell>
    <a:nwCell>
      <a:tcTxStyle b="off" i="off"/>
    </a:nwCell>
  </a:tblStyle>
</a:tblStyleLst>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font" Target="fonts/Inter-regular.fntdata"/><Relationship Id="rId22" Type="http://schemas.openxmlformats.org/officeDocument/2006/relationships/font" Target="fonts/Inter-bold.fntdata"/><Relationship Id="rId23" Type="http://schemas.openxmlformats.org/officeDocument/2006/relationships/font" Target="fonts/Inter-italic.fntdata"/><Relationship Id="rId24" Type="http://schemas.openxmlformats.org/officeDocument/2006/relationships/font" Target="fonts/Inter-boldItalic.fntdata"/><Relationship Id="rId25" Type="http://customschemas.google.com/relationships/presentationmetadata" Target="meta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indent="-228600" lvl="1" marL="9144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2pPr>
            <a:lvl3pPr indent="-228600" lvl="2" marL="13716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3pPr>
            <a:lvl4pPr indent="-228600" lvl="3" marL="18288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4pPr>
            <a:lvl5pPr indent="-228600" lvl="4" marL="22860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5pPr>
            <a:lvl6pPr indent="-228600" lvl="5" marL="27432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6pPr>
            <a:lvl7pPr indent="-228600" lvl="6" marL="32004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7pPr>
            <a:lvl8pPr indent="-228600" lvl="7" marL="36576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8pPr>
            <a:lvl9pPr indent="-228600" lvl="8" marL="41148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Arial"/>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 name="Shape 11"/>
        <p:cNvGrpSpPr/>
        <p:nvPr/>
      </p:nvGrpSpPr>
      <p:grpSpPr>
        <a:xfrm>
          <a:off x="0" y="0"/>
          <a:ext cx="0" cy="0"/>
          <a:chOff x="0" y="0"/>
          <a:chExt cx="0" cy="0"/>
        </a:xfrm>
      </p:grpSpPr>
      <p:sp>
        <p:nvSpPr>
          <p:cNvPr id="12" name="Google Shape;12;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 name="Google Shape;13;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 name="Google Shape;14;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 name="Shape 21"/>
        <p:cNvGrpSpPr/>
        <p:nvPr/>
      </p:nvGrpSpPr>
      <p:grpSpPr>
        <a:xfrm>
          <a:off x="0" y="0"/>
          <a:ext cx="0" cy="0"/>
          <a:chOff x="0" y="0"/>
          <a:chExt cx="0" cy="0"/>
        </a:xfrm>
      </p:grpSpPr>
      <p:sp>
        <p:nvSpPr>
          <p:cNvPr id="22" name="Google Shape;22;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 name="Google Shape;23;p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4" name="Google Shape;24;p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 name="Shape 39"/>
        <p:cNvGrpSpPr/>
        <p:nvPr/>
      </p:nvGrpSpPr>
      <p:grpSpPr>
        <a:xfrm>
          <a:off x="0" y="0"/>
          <a:ext cx="0" cy="0"/>
          <a:chOff x="0" y="0"/>
          <a:chExt cx="0" cy="0"/>
        </a:xfrm>
      </p:grpSpPr>
      <p:sp>
        <p:nvSpPr>
          <p:cNvPr id="40" name="Google Shape;40;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1" name="Google Shape;41;p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2" name="Google Shape;42;p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 name="Shape 52"/>
        <p:cNvGrpSpPr/>
        <p:nvPr/>
      </p:nvGrpSpPr>
      <p:grpSpPr>
        <a:xfrm>
          <a:off x="0" y="0"/>
          <a:ext cx="0" cy="0"/>
          <a:chOff x="0" y="0"/>
          <a:chExt cx="0" cy="0"/>
        </a:xfrm>
      </p:grpSpPr>
      <p:sp>
        <p:nvSpPr>
          <p:cNvPr id="53" name="Google Shape;53;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4" name="Google Shape;54;p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5" name="Google Shape;55;p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400"/>
              <a:buFont typeface="Arial"/>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 name="Shape 60"/>
        <p:cNvGrpSpPr/>
        <p:nvPr/>
      </p:nvGrpSpPr>
      <p:grpSpPr>
        <a:xfrm>
          <a:off x="0" y="0"/>
          <a:ext cx="0" cy="0"/>
          <a:chOff x="0" y="0"/>
          <a:chExt cx="0" cy="0"/>
        </a:xfrm>
      </p:grpSpPr>
      <p:sp>
        <p:nvSpPr>
          <p:cNvPr id="61" name="Google Shape;61;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 name="Google Shape;62;p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63" name="Google Shape;63;p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9" name="Shape 79"/>
        <p:cNvGrpSpPr/>
        <p:nvPr/>
      </p:nvGrpSpPr>
      <p:grpSpPr>
        <a:xfrm>
          <a:off x="0" y="0"/>
          <a:ext cx="0" cy="0"/>
          <a:chOff x="0" y="0"/>
          <a:chExt cx="0" cy="0"/>
        </a:xfrm>
      </p:grpSpPr>
      <p:sp>
        <p:nvSpPr>
          <p:cNvPr id="80" name="Google Shape;80;g3e03a3b1c68_0_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1" name="Google Shape;81;g3e03a3b1c68_0_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2" name="Google Shape;82;g3e03a3b1c68_0_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 name="Shape 96"/>
        <p:cNvGrpSpPr/>
        <p:nvPr/>
      </p:nvGrpSpPr>
      <p:grpSpPr>
        <a:xfrm>
          <a:off x="0" y="0"/>
          <a:ext cx="0" cy="0"/>
          <a:chOff x="0" y="0"/>
          <a:chExt cx="0" cy="0"/>
        </a:xfrm>
      </p:grpSpPr>
      <p:sp>
        <p:nvSpPr>
          <p:cNvPr id="97" name="Google Shape;97;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8" name="Google Shape;98;p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9" name="Google Shape;99;p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400"/>
              <a:buFont typeface="Arial"/>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 name="Shape 105"/>
        <p:cNvGrpSpPr/>
        <p:nvPr/>
      </p:nvGrpSpPr>
      <p:grpSpPr>
        <a:xfrm>
          <a:off x="0" y="0"/>
          <a:ext cx="0" cy="0"/>
          <a:chOff x="0" y="0"/>
          <a:chExt cx="0" cy="0"/>
        </a:xfrm>
      </p:grpSpPr>
      <p:sp>
        <p:nvSpPr>
          <p:cNvPr id="106" name="Google Shape;106;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7" name="Google Shape;107;p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8" name="Google Shape;108;p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g3d836f29ee0_0_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23" name="Google Shape;123;g3d836f29ee0_0_17: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4" name="Google Shape;124;g3d836f29ee0_0_17: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SzPts val="1200"/>
              <a:buFont typeface="Arial"/>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g3d836f29ee0_0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0" name="Google Shape;130;g3d836f29ee0_0_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1" name="Google Shape;131;g3d836f29ee0_0_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 name="Shape 144"/>
        <p:cNvGrpSpPr/>
        <p:nvPr/>
      </p:nvGrpSpPr>
      <p:grpSpPr>
        <a:xfrm>
          <a:off x="0" y="0"/>
          <a:ext cx="0" cy="0"/>
          <a:chOff x="0" y="0"/>
          <a:chExt cx="0" cy="0"/>
        </a:xfrm>
      </p:grpSpPr>
      <p:sp>
        <p:nvSpPr>
          <p:cNvPr id="145" name="Google Shape;145;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6" name="Google Shape;146;p1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7" name="Google Shape;147;p1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400"/>
              <a:buFont typeface="Arial"/>
              <a:buNone/>
            </a:pPr>
            <a:fld id="{00000000-1234-1234-1234-123412341234}" type="slidenum">
              <a:rPr lang="en-US"/>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1" name="Shape 151"/>
        <p:cNvGrpSpPr/>
        <p:nvPr/>
      </p:nvGrpSpPr>
      <p:grpSpPr>
        <a:xfrm>
          <a:off x="0" y="0"/>
          <a:ext cx="0" cy="0"/>
          <a:chOff x="0" y="0"/>
          <a:chExt cx="0" cy="0"/>
        </a:xfrm>
      </p:grpSpPr>
      <p:sp>
        <p:nvSpPr>
          <p:cNvPr id="152" name="Google Shape;152;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3" name="Google Shape;153;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6" name="Shape 166"/>
        <p:cNvGrpSpPr/>
        <p:nvPr/>
      </p:nvGrpSpPr>
      <p:grpSpPr>
        <a:xfrm>
          <a:off x="0" y="0"/>
          <a:ext cx="0" cy="0"/>
          <a:chOff x="0" y="0"/>
          <a:chExt cx="0" cy="0"/>
        </a:xfrm>
      </p:grpSpPr>
      <p:sp>
        <p:nvSpPr>
          <p:cNvPr id="167" name="Google Shape;167;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8" name="Google Shape;168;p1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69" name="Google Shape;169;p1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4" name="Shape 174"/>
        <p:cNvGrpSpPr/>
        <p:nvPr/>
      </p:nvGrpSpPr>
      <p:grpSpPr>
        <a:xfrm>
          <a:off x="0" y="0"/>
          <a:ext cx="0" cy="0"/>
          <a:chOff x="0" y="0"/>
          <a:chExt cx="0" cy="0"/>
        </a:xfrm>
      </p:grpSpPr>
      <p:sp>
        <p:nvSpPr>
          <p:cNvPr id="175" name="Google Shape;175;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6" name="Google Shape;176;p1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77" name="Google Shape;177;p1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0" name="Shape 10"/>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9"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supersearch.onrender.com/"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2.png"/><Relationship Id="rId4" Type="http://schemas.openxmlformats.org/officeDocument/2006/relationships/image" Target="../media/image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hyperlink" Target="https://supersearch.onrender.com/" TargetMode="External"/><Relationship Id="rId4" Type="http://schemas.openxmlformats.org/officeDocument/2006/relationships/hyperlink" Target="mailto:shaliniiitkgp2021@gmail.com" TargetMode="External"/><Relationship Id="rId5" Type="http://schemas.openxmlformats.org/officeDocument/2006/relationships/hyperlink" Target="mailto:aantriksh.pandya1@gmail.com"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 name="Shape 15"/>
        <p:cNvGrpSpPr/>
        <p:nvPr/>
      </p:nvGrpSpPr>
      <p:grpSpPr>
        <a:xfrm>
          <a:off x="0" y="0"/>
          <a:ext cx="0" cy="0"/>
          <a:chOff x="0" y="0"/>
          <a:chExt cx="0" cy="0"/>
        </a:xfrm>
      </p:grpSpPr>
      <p:sp>
        <p:nvSpPr>
          <p:cNvPr id="16" name="Google Shape;16;p1"/>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 name="Google Shape;17;p1"/>
          <p:cNvSpPr/>
          <p:nvPr/>
        </p:nvSpPr>
        <p:spPr>
          <a:xfrm>
            <a:off x="685800" y="1280160"/>
            <a:ext cx="7772400" cy="8229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4400"/>
              <a:buFont typeface="Inter"/>
              <a:buNone/>
            </a:pPr>
            <a:r>
              <a:rPr b="1" i="0" lang="en-US" sz="4400" u="none" cap="none" strike="noStrike">
                <a:solidFill>
                  <a:srgbClr val="111827"/>
                </a:solidFill>
                <a:latin typeface="Inter"/>
                <a:ea typeface="Inter"/>
                <a:cs typeface="Inter"/>
                <a:sym typeface="Inter"/>
              </a:rPr>
              <a:t>SuperSearch</a:t>
            </a:r>
            <a:endParaRPr b="0" i="0" sz="4400" u="none" cap="none" strike="noStrike">
              <a:solidFill>
                <a:schemeClr val="dk1"/>
              </a:solidFill>
              <a:latin typeface="Calibri"/>
              <a:ea typeface="Calibri"/>
              <a:cs typeface="Calibri"/>
              <a:sym typeface="Calibri"/>
            </a:endParaRPr>
          </a:p>
        </p:txBody>
      </p:sp>
      <p:sp>
        <p:nvSpPr>
          <p:cNvPr id="18" name="Google Shape;18;p1"/>
          <p:cNvSpPr/>
          <p:nvPr/>
        </p:nvSpPr>
        <p:spPr>
          <a:xfrm>
            <a:off x="685800" y="2180251"/>
            <a:ext cx="6550500" cy="754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B5563"/>
              </a:buClr>
              <a:buSzPts val="1600"/>
              <a:buFont typeface="Inter"/>
              <a:buNone/>
            </a:pPr>
            <a:r>
              <a:rPr b="0" i="0" lang="en-US" sz="1600" u="none" cap="none" strike="noStrike">
                <a:solidFill>
                  <a:srgbClr val="4B5563"/>
                </a:solidFill>
                <a:latin typeface="Inter"/>
                <a:ea typeface="Inter"/>
                <a:cs typeface="Inter"/>
                <a:sym typeface="Inter"/>
              </a:rPr>
              <a:t>Conversational AI shopping assistants for e-commerce websites</a:t>
            </a:r>
            <a:endParaRPr b="0" i="0" sz="16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4B5563"/>
              </a:buClr>
              <a:buSzPts val="1600"/>
              <a:buFont typeface="Inter"/>
              <a:buNone/>
            </a:pPr>
            <a:r>
              <a:t/>
            </a:r>
            <a:endParaRPr b="0" i="0" sz="16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4B5563"/>
              </a:buClr>
              <a:buSzPts val="1600"/>
              <a:buFont typeface="Inter"/>
              <a:buNone/>
            </a:pPr>
            <a:r>
              <a:rPr b="0" i="0" lang="en-US" sz="1600" u="sng" cap="none" strike="noStrike">
                <a:solidFill>
                  <a:schemeClr val="hlink"/>
                </a:solidFill>
                <a:latin typeface="Inter"/>
                <a:ea typeface="Inter"/>
                <a:cs typeface="Inter"/>
                <a:sym typeface="Inter"/>
                <a:hlinkClick r:id="rId3"/>
              </a:rPr>
              <a:t>book a demo</a:t>
            </a:r>
            <a:r>
              <a:rPr b="0" i="0" lang="en-US" sz="1600" u="none" cap="none" strike="noStrike">
                <a:solidFill>
                  <a:srgbClr val="4B5563"/>
                </a:solidFill>
                <a:latin typeface="Inter"/>
                <a:ea typeface="Inter"/>
                <a:cs typeface="Inter"/>
                <a:sym typeface="Inter"/>
              </a:rPr>
              <a:t xml:space="preserve"> </a:t>
            </a:r>
            <a:endParaRPr b="0" i="0" sz="1600" u="none" cap="none" strike="noStrike">
              <a:solidFill>
                <a:srgbClr val="4B5563"/>
              </a:solidFill>
              <a:latin typeface="Inter"/>
              <a:ea typeface="Inter"/>
              <a:cs typeface="Inter"/>
              <a:sym typeface="Inter"/>
            </a:endParaRPr>
          </a:p>
        </p:txBody>
      </p:sp>
      <p:sp>
        <p:nvSpPr>
          <p:cNvPr id="19" name="Google Shape;19;p1"/>
          <p:cNvSpPr/>
          <p:nvPr/>
        </p:nvSpPr>
        <p:spPr>
          <a:xfrm>
            <a:off x="685800" y="3154700"/>
            <a:ext cx="5925300" cy="274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B5563"/>
              </a:buClr>
              <a:buSzPts val="1300"/>
              <a:buFont typeface="Inter"/>
              <a:buNone/>
            </a:pPr>
            <a:r>
              <a:rPr b="0" i="0" lang="en-US" sz="1300" u="none" cap="none" strike="noStrike">
                <a:solidFill>
                  <a:srgbClr val="4B5563"/>
                </a:solidFill>
                <a:latin typeface="Inter"/>
                <a:ea typeface="Inter"/>
                <a:cs typeface="Inter"/>
                <a:sym typeface="Inter"/>
              </a:rPr>
              <a:t>Aantriksh Pandya . Shalini Mukhopadhyay</a:t>
            </a:r>
            <a:r>
              <a:rPr b="0" i="0" lang="en-US" sz="1300" u="none" cap="none" strike="noStrike">
                <a:solidFill>
                  <a:schemeClr val="dk1"/>
                </a:solidFill>
                <a:latin typeface="Calibri"/>
                <a:ea typeface="Calibri"/>
                <a:cs typeface="Calibri"/>
                <a:sym typeface="Calibri"/>
              </a:rPr>
              <a:t xml:space="preserve">  </a:t>
            </a:r>
            <a:r>
              <a:rPr b="0" i="0" lang="en-US" sz="1300" u="none" cap="none" strike="noStrike">
                <a:solidFill>
                  <a:srgbClr val="4B5563"/>
                </a:solidFill>
                <a:latin typeface="Inter"/>
                <a:ea typeface="Inter"/>
                <a:cs typeface="Inter"/>
                <a:sym typeface="Inter"/>
              </a:rPr>
              <a:t xml:space="preserve"> </a:t>
            </a:r>
            <a:endParaRPr b="0" i="0" sz="1300" u="none" cap="none" strike="noStrike">
              <a:solidFill>
                <a:schemeClr val="dk1"/>
              </a:solidFill>
              <a:latin typeface="Calibri"/>
              <a:ea typeface="Calibri"/>
              <a:cs typeface="Calibri"/>
              <a:sym typeface="Calibri"/>
            </a:endParaRPr>
          </a:p>
        </p:txBody>
      </p:sp>
      <p:sp>
        <p:nvSpPr>
          <p:cNvPr id="20" name="Google Shape;20;p1"/>
          <p:cNvSpPr/>
          <p:nvPr/>
        </p:nvSpPr>
        <p:spPr>
          <a:xfrm>
            <a:off x="685800" y="3520440"/>
            <a:ext cx="548640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9CA3AF"/>
              </a:buClr>
              <a:buSzPts val="1100"/>
              <a:buFont typeface="Inter"/>
              <a:buNone/>
            </a:pPr>
            <a:r>
              <a:rPr b="0" i="0" lang="en-US" sz="1100" u="none" cap="none" strike="noStrike">
                <a:solidFill>
                  <a:schemeClr val="dk1"/>
                </a:solidFill>
                <a:latin typeface="Inter"/>
                <a:ea typeface="Inter"/>
                <a:cs typeface="Inter"/>
                <a:sym typeface="Inter"/>
              </a:rPr>
              <a:t>Prepared for: {Brand Name}</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 name="Shape 25"/>
        <p:cNvGrpSpPr/>
        <p:nvPr/>
      </p:nvGrpSpPr>
      <p:grpSpPr>
        <a:xfrm>
          <a:off x="0" y="0"/>
          <a:ext cx="0" cy="0"/>
          <a:chOff x="0" y="0"/>
          <a:chExt cx="0" cy="0"/>
        </a:xfrm>
      </p:grpSpPr>
      <p:sp>
        <p:nvSpPr>
          <p:cNvPr id="26" name="Google Shape;26;p2"/>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 name="Google Shape;27;p2"/>
          <p:cNvSpPr/>
          <p:nvPr/>
        </p:nvSpPr>
        <p:spPr>
          <a:xfrm>
            <a:off x="685800" y="365750"/>
            <a:ext cx="8135700" cy="594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2800"/>
              <a:buFont typeface="Inter"/>
              <a:buNone/>
            </a:pPr>
            <a:r>
              <a:rPr b="1" i="0" lang="en-US" sz="2300" u="none" cap="none" strike="noStrike">
                <a:solidFill>
                  <a:srgbClr val="111827"/>
                </a:solidFill>
                <a:latin typeface="Inter"/>
                <a:ea typeface="Inter"/>
                <a:cs typeface="Inter"/>
                <a:sym typeface="Inter"/>
              </a:rPr>
              <a:t>Ecommerce search is changing forever and AI shopping assistants are here to stay — the numbers are clear</a:t>
            </a:r>
            <a:endParaRPr b="0" i="0" sz="2300" u="none" cap="none" strike="noStrike">
              <a:solidFill>
                <a:schemeClr val="dk1"/>
              </a:solidFill>
              <a:latin typeface="Calibri"/>
              <a:ea typeface="Calibri"/>
              <a:cs typeface="Calibri"/>
              <a:sym typeface="Calibri"/>
            </a:endParaRPr>
          </a:p>
        </p:txBody>
      </p:sp>
      <p:sp>
        <p:nvSpPr>
          <p:cNvPr id="28" name="Google Shape;28;p2"/>
          <p:cNvSpPr/>
          <p:nvPr/>
        </p:nvSpPr>
        <p:spPr>
          <a:xfrm>
            <a:off x="685800" y="1143000"/>
            <a:ext cx="2514600" cy="1508760"/>
          </a:xfrm>
          <a:prstGeom prst="rect">
            <a:avLst/>
          </a:prstGeom>
          <a:solidFill>
            <a:srgbClr val="F9FAFB"/>
          </a:solidFill>
          <a:ln>
            <a:noFill/>
          </a:ln>
          <a:effectLst>
            <a:outerShdw blurRad="50800" rotWithShape="0" algn="bl" dir="8100000" dist="25400">
              <a:srgbClr val="000000">
                <a:alpha val="7843"/>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 name="Google Shape;29;p2"/>
          <p:cNvSpPr/>
          <p:nvPr/>
        </p:nvSpPr>
        <p:spPr>
          <a:xfrm>
            <a:off x="868680" y="1234440"/>
            <a:ext cx="214884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563EB"/>
              </a:buClr>
              <a:buSzPts val="3600"/>
              <a:buFont typeface="Inter"/>
              <a:buNone/>
            </a:pPr>
            <a:r>
              <a:rPr b="1" i="0" lang="en-US" sz="3600" u="none" cap="none" strike="noStrike">
                <a:solidFill>
                  <a:srgbClr val="2563EB"/>
                </a:solidFill>
                <a:latin typeface="Inter"/>
                <a:ea typeface="Inter"/>
                <a:cs typeface="Inter"/>
                <a:sym typeface="Inter"/>
              </a:rPr>
              <a:t>58%</a:t>
            </a:r>
            <a:endParaRPr b="0" i="0" sz="3600" u="none" cap="none" strike="noStrike">
              <a:solidFill>
                <a:schemeClr val="dk1"/>
              </a:solidFill>
              <a:latin typeface="Calibri"/>
              <a:ea typeface="Calibri"/>
              <a:cs typeface="Calibri"/>
              <a:sym typeface="Calibri"/>
            </a:endParaRPr>
          </a:p>
        </p:txBody>
      </p:sp>
      <p:sp>
        <p:nvSpPr>
          <p:cNvPr id="30" name="Google Shape;30;p2"/>
          <p:cNvSpPr/>
          <p:nvPr/>
        </p:nvSpPr>
        <p:spPr>
          <a:xfrm>
            <a:off x="766575" y="1783075"/>
            <a:ext cx="2318400" cy="777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B5563"/>
              </a:buClr>
              <a:buSzPts val="1200"/>
              <a:buFont typeface="Inter"/>
              <a:buNone/>
            </a:pPr>
            <a:r>
              <a:rPr b="0" i="0" lang="en-US" sz="1200" u="none" cap="none" strike="noStrike">
                <a:solidFill>
                  <a:srgbClr val="4B5563"/>
                </a:solidFill>
                <a:latin typeface="Inter"/>
                <a:ea typeface="Inter"/>
                <a:cs typeface="Inter"/>
                <a:sym typeface="Inter"/>
              </a:rPr>
              <a:t>of consumers prefer AI shopping assistants</a:t>
            </a:r>
            <a:r>
              <a:rPr b="0" i="0" lang="en-US" sz="1200" u="none" cap="none" strike="noStrike">
                <a:solidFill>
                  <a:schemeClr val="dk1"/>
                </a:solidFill>
                <a:latin typeface="Calibri"/>
                <a:ea typeface="Calibri"/>
                <a:cs typeface="Calibri"/>
                <a:sym typeface="Calibri"/>
              </a:rPr>
              <a:t xml:space="preserve"> </a:t>
            </a:r>
            <a:r>
              <a:rPr b="0" i="0" lang="en-US" sz="1200" u="none" cap="none" strike="noStrike">
                <a:solidFill>
                  <a:srgbClr val="4B5563"/>
                </a:solidFill>
                <a:latin typeface="Inter"/>
                <a:ea typeface="Inter"/>
                <a:cs typeface="Inter"/>
                <a:sym typeface="Inter"/>
              </a:rPr>
              <a:t>over keywords (up from 25%</a:t>
            </a:r>
            <a:r>
              <a:rPr b="0" i="0" lang="en-US" sz="1200" u="none" cap="none" strike="noStrike">
                <a:solidFill>
                  <a:schemeClr val="dk1"/>
                </a:solidFill>
                <a:latin typeface="Calibri"/>
                <a:ea typeface="Calibri"/>
                <a:cs typeface="Calibri"/>
                <a:sym typeface="Calibri"/>
              </a:rPr>
              <a:t xml:space="preserve"> </a:t>
            </a:r>
            <a:r>
              <a:rPr b="0" i="0" lang="en-US" sz="1200" u="none" cap="none" strike="noStrike">
                <a:solidFill>
                  <a:srgbClr val="4B5563"/>
                </a:solidFill>
                <a:latin typeface="Inter"/>
                <a:ea typeface="Inter"/>
                <a:cs typeface="Inter"/>
                <a:sym typeface="Inter"/>
              </a:rPr>
              <a:t>in 2023)</a:t>
            </a:r>
            <a:endParaRPr b="0" i="0" sz="1200" u="none" cap="none" strike="noStrike">
              <a:solidFill>
                <a:schemeClr val="dk1"/>
              </a:solidFill>
              <a:latin typeface="Calibri"/>
              <a:ea typeface="Calibri"/>
              <a:cs typeface="Calibri"/>
              <a:sym typeface="Calibri"/>
            </a:endParaRPr>
          </a:p>
        </p:txBody>
      </p:sp>
      <p:sp>
        <p:nvSpPr>
          <p:cNvPr id="31" name="Google Shape;31;p2"/>
          <p:cNvSpPr/>
          <p:nvPr/>
        </p:nvSpPr>
        <p:spPr>
          <a:xfrm>
            <a:off x="3383280" y="1143000"/>
            <a:ext cx="2514600" cy="1508760"/>
          </a:xfrm>
          <a:prstGeom prst="rect">
            <a:avLst/>
          </a:prstGeom>
          <a:solidFill>
            <a:srgbClr val="F9FAFB"/>
          </a:solidFill>
          <a:ln>
            <a:noFill/>
          </a:ln>
          <a:effectLst>
            <a:outerShdw blurRad="50800" rotWithShape="0" algn="bl" dir="8100000" dist="25400">
              <a:srgbClr val="000000">
                <a:alpha val="7843"/>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 name="Google Shape;32;p2"/>
          <p:cNvSpPr/>
          <p:nvPr/>
        </p:nvSpPr>
        <p:spPr>
          <a:xfrm>
            <a:off x="3566160" y="1234440"/>
            <a:ext cx="214884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563EB"/>
              </a:buClr>
              <a:buSzPts val="3600"/>
              <a:buFont typeface="Inter"/>
              <a:buNone/>
            </a:pPr>
            <a:r>
              <a:rPr b="1" i="0" lang="en-US" sz="3600" u="none" cap="none" strike="noStrike">
                <a:solidFill>
                  <a:srgbClr val="2563EB"/>
                </a:solidFill>
                <a:latin typeface="Inter"/>
                <a:ea typeface="Inter"/>
                <a:cs typeface="Inter"/>
                <a:sym typeface="Inter"/>
              </a:rPr>
              <a:t>4x</a:t>
            </a:r>
            <a:endParaRPr b="0" i="0" sz="3600" u="none" cap="none" strike="noStrike">
              <a:solidFill>
                <a:schemeClr val="dk1"/>
              </a:solidFill>
              <a:latin typeface="Calibri"/>
              <a:ea typeface="Calibri"/>
              <a:cs typeface="Calibri"/>
              <a:sym typeface="Calibri"/>
            </a:endParaRPr>
          </a:p>
        </p:txBody>
      </p:sp>
      <p:sp>
        <p:nvSpPr>
          <p:cNvPr id="33" name="Google Shape;33;p2"/>
          <p:cNvSpPr/>
          <p:nvPr/>
        </p:nvSpPr>
        <p:spPr>
          <a:xfrm>
            <a:off x="3566160" y="1783080"/>
            <a:ext cx="2148840" cy="7772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B5563"/>
              </a:buClr>
              <a:buSzPts val="1200"/>
              <a:buFont typeface="Inter"/>
              <a:buNone/>
            </a:pPr>
            <a:r>
              <a:rPr b="0" i="0" lang="en-US" sz="1200" u="none" cap="none" strike="noStrike">
                <a:solidFill>
                  <a:srgbClr val="4B5563"/>
                </a:solidFill>
                <a:latin typeface="Inter"/>
                <a:ea typeface="Inter"/>
                <a:cs typeface="Inter"/>
                <a:sym typeface="Inter"/>
              </a:rPr>
              <a:t>higher conversion rates for</a:t>
            </a:r>
            <a:endParaRPr b="0" i="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4B5563"/>
              </a:buClr>
              <a:buSzPts val="1200"/>
              <a:buFont typeface="Inter"/>
              <a:buNone/>
            </a:pPr>
            <a:r>
              <a:rPr b="0" i="0" lang="en-US" sz="1200" u="none" cap="none" strike="noStrike">
                <a:solidFill>
                  <a:srgbClr val="4B5563"/>
                </a:solidFill>
                <a:latin typeface="Inter"/>
                <a:ea typeface="Inter"/>
                <a:cs typeface="Inter"/>
                <a:sym typeface="Inter"/>
              </a:rPr>
              <a:t>conversational search as compared to keyword search</a:t>
            </a:r>
            <a:endParaRPr b="0" i="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4B5563"/>
              </a:buClr>
              <a:buSzPts val="1200"/>
              <a:buFont typeface="Inter"/>
              <a:buNone/>
            </a:pPr>
            <a:r>
              <a:rPr b="0" i="0" lang="en-US" sz="1200" u="none" cap="none" strike="noStrike">
                <a:solidFill>
                  <a:srgbClr val="4B5563"/>
                </a:solidFill>
                <a:latin typeface="Inter"/>
                <a:ea typeface="Inter"/>
                <a:cs typeface="Inter"/>
                <a:sym typeface="Inter"/>
              </a:rPr>
              <a:t>(12.3% vs 3.1%, Rep AI)</a:t>
            </a:r>
            <a:endParaRPr b="0" i="0" sz="1200" u="none" cap="none" strike="noStrike">
              <a:solidFill>
                <a:schemeClr val="dk1"/>
              </a:solidFill>
              <a:latin typeface="Calibri"/>
              <a:ea typeface="Calibri"/>
              <a:cs typeface="Calibri"/>
              <a:sym typeface="Calibri"/>
            </a:endParaRPr>
          </a:p>
        </p:txBody>
      </p:sp>
      <p:sp>
        <p:nvSpPr>
          <p:cNvPr id="34" name="Google Shape;34;p2"/>
          <p:cNvSpPr/>
          <p:nvPr/>
        </p:nvSpPr>
        <p:spPr>
          <a:xfrm>
            <a:off x="6080760" y="1143000"/>
            <a:ext cx="2514600" cy="1508760"/>
          </a:xfrm>
          <a:prstGeom prst="rect">
            <a:avLst/>
          </a:prstGeom>
          <a:solidFill>
            <a:srgbClr val="F9FAFB"/>
          </a:solidFill>
          <a:ln>
            <a:noFill/>
          </a:ln>
          <a:effectLst>
            <a:outerShdw blurRad="50800" rotWithShape="0" algn="bl" dir="8100000" dist="25400">
              <a:srgbClr val="000000">
                <a:alpha val="7843"/>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 name="Google Shape;35;p2"/>
          <p:cNvSpPr/>
          <p:nvPr/>
        </p:nvSpPr>
        <p:spPr>
          <a:xfrm>
            <a:off x="6263640" y="1234440"/>
            <a:ext cx="214884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563EB"/>
              </a:buClr>
              <a:buSzPts val="3600"/>
              <a:buFont typeface="Inter"/>
              <a:buNone/>
            </a:pPr>
            <a:r>
              <a:rPr b="1" i="0" lang="en-US" sz="3600" u="none" cap="none" strike="noStrike">
                <a:solidFill>
                  <a:srgbClr val="2563EB"/>
                </a:solidFill>
                <a:latin typeface="Inter"/>
                <a:ea typeface="Inter"/>
                <a:cs typeface="Inter"/>
                <a:sym typeface="Inter"/>
              </a:rPr>
              <a:t>1,300%</a:t>
            </a:r>
            <a:endParaRPr b="0" i="0" sz="3600" u="none" cap="none" strike="noStrike">
              <a:solidFill>
                <a:schemeClr val="dk1"/>
              </a:solidFill>
              <a:latin typeface="Calibri"/>
              <a:ea typeface="Calibri"/>
              <a:cs typeface="Calibri"/>
              <a:sym typeface="Calibri"/>
            </a:endParaRPr>
          </a:p>
        </p:txBody>
      </p:sp>
      <p:sp>
        <p:nvSpPr>
          <p:cNvPr id="36" name="Google Shape;36;p2"/>
          <p:cNvSpPr/>
          <p:nvPr/>
        </p:nvSpPr>
        <p:spPr>
          <a:xfrm>
            <a:off x="6263640" y="1783080"/>
            <a:ext cx="2148840" cy="7772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B5563"/>
              </a:buClr>
              <a:buSzPts val="1200"/>
              <a:buFont typeface="Inter"/>
              <a:buNone/>
            </a:pPr>
            <a:r>
              <a:rPr b="0" i="0" lang="en-US" sz="1200" u="none" cap="none" strike="noStrike">
                <a:solidFill>
                  <a:srgbClr val="4B5563"/>
                </a:solidFill>
                <a:latin typeface="Inter"/>
                <a:ea typeface="Inter"/>
                <a:cs typeface="Inter"/>
                <a:sym typeface="Inter"/>
              </a:rPr>
              <a:t>YoY growth in AI-referred</a:t>
            </a:r>
            <a:endParaRPr b="0" i="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4B5563"/>
              </a:buClr>
              <a:buSzPts val="1200"/>
              <a:buFont typeface="Inter"/>
              <a:buNone/>
            </a:pPr>
            <a:r>
              <a:rPr b="0" i="0" lang="en-US" sz="1200" u="none" cap="none" strike="noStrike">
                <a:solidFill>
                  <a:srgbClr val="4B5563"/>
                </a:solidFill>
                <a:latin typeface="Inter"/>
                <a:ea typeface="Inter"/>
                <a:cs typeface="Inter"/>
                <a:sym typeface="Inter"/>
              </a:rPr>
              <a:t>retail traffic</a:t>
            </a:r>
            <a:endParaRPr b="0" i="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4B5563"/>
              </a:buClr>
              <a:buSzPts val="1200"/>
              <a:buFont typeface="Inter"/>
              <a:buNone/>
            </a:pPr>
            <a:r>
              <a:rPr b="0" i="0" lang="en-US" sz="1200" u="none" cap="none" strike="noStrike">
                <a:solidFill>
                  <a:srgbClr val="4B5563"/>
                </a:solidFill>
                <a:latin typeface="Inter"/>
                <a:ea typeface="Inter"/>
                <a:cs typeface="Inter"/>
                <a:sym typeface="Inter"/>
              </a:rPr>
              <a:t>(Adobe, Holiday 2024)</a:t>
            </a:r>
            <a:endParaRPr b="0" i="0" sz="1200" u="none" cap="none" strike="noStrike">
              <a:solidFill>
                <a:schemeClr val="dk1"/>
              </a:solidFill>
              <a:latin typeface="Calibri"/>
              <a:ea typeface="Calibri"/>
              <a:cs typeface="Calibri"/>
              <a:sym typeface="Calibri"/>
            </a:endParaRPr>
          </a:p>
        </p:txBody>
      </p:sp>
      <p:sp>
        <p:nvSpPr>
          <p:cNvPr id="37" name="Google Shape;37;p2"/>
          <p:cNvSpPr/>
          <p:nvPr/>
        </p:nvSpPr>
        <p:spPr>
          <a:xfrm>
            <a:off x="685800" y="2814763"/>
            <a:ext cx="7909500" cy="1757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342900" lvl="0" marL="342900" marR="0" rtl="0" algn="l">
              <a:lnSpc>
                <a:spcPct val="100000"/>
              </a:lnSpc>
              <a:spcBef>
                <a:spcPts val="400"/>
              </a:spcBef>
              <a:spcAft>
                <a:spcPts val="0"/>
              </a:spcAft>
              <a:buClr>
                <a:srgbClr val="4B5563"/>
              </a:buClr>
              <a:buSzPts val="1100"/>
              <a:buFont typeface="Inter"/>
              <a:buChar char="•"/>
            </a:pPr>
            <a:r>
              <a:rPr b="1" i="0" lang="en-US" sz="1100" u="none" cap="none" strike="noStrike">
                <a:solidFill>
                  <a:srgbClr val="4B5563"/>
                </a:solidFill>
                <a:latin typeface="Inter"/>
                <a:ea typeface="Inter"/>
                <a:cs typeface="Inter"/>
                <a:sym typeface="Inter"/>
              </a:rPr>
              <a:t xml:space="preserve">~60% to 64% of online shoppers </a:t>
            </a:r>
            <a:r>
              <a:rPr b="0" i="0" lang="en-US" sz="1100" u="none" cap="none" strike="noStrike">
                <a:solidFill>
                  <a:srgbClr val="4B5563"/>
                </a:solidFill>
                <a:latin typeface="Inter"/>
                <a:ea typeface="Inter"/>
                <a:cs typeface="Inter"/>
                <a:sym typeface="Inter"/>
              </a:rPr>
              <a:t>have used or plan to use AI for shopping in 2026 (~3B AI shoppers)</a:t>
            </a:r>
            <a:r>
              <a:rPr b="1" i="0" lang="en-US" sz="1100" u="none" cap="none" strike="noStrike">
                <a:solidFill>
                  <a:srgbClr val="4B5563"/>
                </a:solidFill>
                <a:latin typeface="Inter"/>
                <a:ea typeface="Inter"/>
                <a:cs typeface="Inter"/>
                <a:sym typeface="Inter"/>
              </a:rPr>
              <a:t xml:space="preserve">. </a:t>
            </a:r>
            <a:endParaRPr b="1" i="0" sz="1100" u="none" cap="none" strike="noStrike">
              <a:solidFill>
                <a:srgbClr val="4B5563"/>
              </a:solidFill>
              <a:latin typeface="Inter"/>
              <a:ea typeface="Inter"/>
              <a:cs typeface="Inter"/>
              <a:sym typeface="Inter"/>
            </a:endParaRPr>
          </a:p>
          <a:p>
            <a:pPr indent="0" lvl="0" marL="457200" marR="0" rtl="0" algn="l">
              <a:lnSpc>
                <a:spcPct val="100000"/>
              </a:lnSpc>
              <a:spcBef>
                <a:spcPts val="400"/>
              </a:spcBef>
              <a:spcAft>
                <a:spcPts val="0"/>
              </a:spcAft>
              <a:buClr>
                <a:srgbClr val="000000"/>
              </a:buClr>
              <a:buSzPts val="1100"/>
              <a:buFont typeface="Arial"/>
              <a:buNone/>
            </a:pPr>
            <a:r>
              <a:t/>
            </a:r>
            <a:endParaRPr b="1" i="0" sz="1100" u="none" cap="none" strike="noStrike">
              <a:solidFill>
                <a:srgbClr val="4B5563"/>
              </a:solidFill>
              <a:latin typeface="Inter"/>
              <a:ea typeface="Inter"/>
              <a:cs typeface="Inter"/>
              <a:sym typeface="Inter"/>
            </a:endParaRPr>
          </a:p>
          <a:p>
            <a:pPr indent="-342900" lvl="0" marL="342900" marR="0" rtl="0" algn="l">
              <a:lnSpc>
                <a:spcPct val="100000"/>
              </a:lnSpc>
              <a:spcBef>
                <a:spcPts val="400"/>
              </a:spcBef>
              <a:spcAft>
                <a:spcPts val="0"/>
              </a:spcAft>
              <a:buClr>
                <a:srgbClr val="4B5563"/>
              </a:buClr>
              <a:buSzPts val="1100"/>
              <a:buFont typeface="Inter"/>
              <a:buChar char="•"/>
            </a:pPr>
            <a:r>
              <a:rPr b="1" i="0" lang="en-US" sz="1100" u="none" cap="none" strike="noStrike">
                <a:solidFill>
                  <a:srgbClr val="4B5563"/>
                </a:solidFill>
                <a:latin typeface="Inter"/>
                <a:ea typeface="Inter"/>
                <a:cs typeface="Inter"/>
                <a:sym typeface="Inter"/>
              </a:rPr>
              <a:t>7-8 word queries nearly doubled since ChatGPT</a:t>
            </a:r>
            <a:r>
              <a:rPr b="0" i="0" lang="en-US" sz="1100" u="none" cap="none" strike="noStrike">
                <a:solidFill>
                  <a:srgbClr val="4B5563"/>
                </a:solidFill>
                <a:latin typeface="Inter"/>
                <a:ea typeface="Inter"/>
                <a:cs typeface="Inter"/>
                <a:sym typeface="Inter"/>
              </a:rPr>
              <a:t xml:space="preserve"> launched (Search Engine Land), 35% of all search queries are now complete sentences, not fragmented keywords. Conversational search is the new norm.</a:t>
            </a:r>
            <a:endParaRPr b="0" i="0" sz="1100" u="none" cap="none" strike="noStrike">
              <a:solidFill>
                <a:srgbClr val="4B5563"/>
              </a:solidFill>
              <a:latin typeface="Inter"/>
              <a:ea typeface="Inter"/>
              <a:cs typeface="Inter"/>
              <a:sym typeface="Inter"/>
            </a:endParaRPr>
          </a:p>
          <a:p>
            <a:pPr indent="0" lvl="0" marL="457200" marR="0" rtl="0" algn="l">
              <a:lnSpc>
                <a:spcPct val="100000"/>
              </a:lnSpc>
              <a:spcBef>
                <a:spcPts val="40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342900" lvl="0" marL="342900" marR="0" rtl="0" algn="l">
              <a:lnSpc>
                <a:spcPct val="100000"/>
              </a:lnSpc>
              <a:spcBef>
                <a:spcPts val="40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79% of customers say they'd find it helpful if AI understood their specific needs (not just keywords) to recommend products in a chat instead of them having to type keywords into a search bar to discover relevant products.</a:t>
            </a:r>
            <a:endParaRPr b="0" i="0" sz="1100" u="none" cap="none" strike="noStrike">
              <a:solidFill>
                <a:srgbClr val="4B5563"/>
              </a:solidFill>
              <a:latin typeface="Inter"/>
              <a:ea typeface="Inter"/>
              <a:cs typeface="Inter"/>
              <a:sym typeface="Inter"/>
            </a:endParaRPr>
          </a:p>
          <a:p>
            <a:pPr indent="0" lvl="0" marL="457200" marR="0" rtl="0" algn="l">
              <a:lnSpc>
                <a:spcPct val="100000"/>
              </a:lnSpc>
              <a:spcBef>
                <a:spcPts val="40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342900" lvl="0" marL="342900" marR="0" rtl="0" algn="l">
              <a:lnSpc>
                <a:spcPct val="100000"/>
              </a:lnSpc>
              <a:spcBef>
                <a:spcPts val="400"/>
              </a:spcBef>
              <a:spcAft>
                <a:spcPts val="0"/>
              </a:spcAft>
              <a:buClr>
                <a:srgbClr val="4B5563"/>
              </a:buClr>
              <a:buSzPts val="1100"/>
              <a:buFont typeface="Inter"/>
              <a:buChar char="•"/>
            </a:pPr>
            <a:r>
              <a:rPr b="1" i="0" lang="en-US" sz="1100" u="none" cap="none" strike="noStrike">
                <a:solidFill>
                  <a:srgbClr val="4B5563"/>
                </a:solidFill>
                <a:latin typeface="Inter"/>
                <a:ea typeface="Inter"/>
                <a:cs typeface="Inter"/>
                <a:sym typeface="Inter"/>
              </a:rPr>
              <a:t>82% want AI shopping assistants to reduce time</a:t>
            </a:r>
            <a:r>
              <a:rPr b="0" i="0" lang="en-US" sz="1100" u="none" cap="none" strike="noStrike">
                <a:solidFill>
                  <a:srgbClr val="4B5563"/>
                </a:solidFill>
                <a:latin typeface="Inter"/>
                <a:ea typeface="Inter"/>
                <a:cs typeface="Inter"/>
                <a:sym typeface="Inter"/>
              </a:rPr>
              <a:t xml:space="preserve"> spent researching what to buy.</a:t>
            </a:r>
            <a:endParaRPr b="0" i="0" sz="1100" u="none" cap="none" strike="noStrike">
              <a:solidFill>
                <a:schemeClr val="dk1"/>
              </a:solidFill>
              <a:latin typeface="Calibri"/>
              <a:ea typeface="Calibri"/>
              <a:cs typeface="Calibri"/>
              <a:sym typeface="Calibri"/>
            </a:endParaRPr>
          </a:p>
        </p:txBody>
      </p:sp>
      <p:sp>
        <p:nvSpPr>
          <p:cNvPr id="38" name="Google Shape;38;p2"/>
          <p:cNvSpPr/>
          <p:nvPr/>
        </p:nvSpPr>
        <p:spPr>
          <a:xfrm>
            <a:off x="928325" y="4876001"/>
            <a:ext cx="7530000" cy="178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9CA3AF"/>
              </a:buClr>
              <a:buSzPts val="900"/>
              <a:buFont typeface="Inter"/>
              <a:buNone/>
            </a:pPr>
            <a:r>
              <a:rPr b="0" i="0" lang="en-US" sz="900" u="none" cap="none" strike="noStrike">
                <a:solidFill>
                  <a:srgbClr val="666666"/>
                </a:solidFill>
                <a:latin typeface="Inter"/>
                <a:ea typeface="Inter"/>
                <a:cs typeface="Inter"/>
                <a:sym typeface="Inter"/>
              </a:rPr>
              <a:t>Sources: Rep AI 2025, Adobe Analytics, Search Engine Land, Capgemini, Constructor, Nosto</a:t>
            </a:r>
            <a:endParaRPr b="0" i="0" sz="900" u="none" cap="none" strike="noStrike">
              <a:solidFill>
                <a:srgbClr val="666666"/>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3" name="Shape 43"/>
        <p:cNvGrpSpPr/>
        <p:nvPr/>
      </p:nvGrpSpPr>
      <p:grpSpPr>
        <a:xfrm>
          <a:off x="0" y="0"/>
          <a:ext cx="0" cy="0"/>
          <a:chOff x="0" y="0"/>
          <a:chExt cx="0" cy="0"/>
        </a:xfrm>
      </p:grpSpPr>
      <p:sp>
        <p:nvSpPr>
          <p:cNvPr id="44" name="Google Shape;44;p3"/>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 name="Google Shape;45;p3"/>
          <p:cNvSpPr/>
          <p:nvPr/>
        </p:nvSpPr>
        <p:spPr>
          <a:xfrm>
            <a:off x="367600" y="322625"/>
            <a:ext cx="8776500" cy="5943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11827"/>
              </a:buClr>
              <a:buSzPts val="2800"/>
              <a:buFont typeface="Inter"/>
              <a:buNone/>
            </a:pPr>
            <a:r>
              <a:rPr b="1" i="0" lang="en-US" sz="2200" u="none" cap="none" strike="noStrike">
                <a:solidFill>
                  <a:srgbClr val="111827"/>
                </a:solidFill>
                <a:latin typeface="Inter"/>
                <a:ea typeface="Inter"/>
                <a:cs typeface="Inter"/>
                <a:sym typeface="Inter"/>
              </a:rPr>
              <a:t>Competitors are already live with conversational search and seeing massive gains</a:t>
            </a:r>
            <a:endParaRPr b="0" i="0" sz="2200" u="none" cap="none" strike="noStrike">
              <a:solidFill>
                <a:schemeClr val="dk1"/>
              </a:solidFill>
              <a:latin typeface="Calibri"/>
              <a:ea typeface="Calibri"/>
              <a:cs typeface="Calibri"/>
              <a:sym typeface="Calibri"/>
            </a:endParaRPr>
          </a:p>
        </p:txBody>
      </p:sp>
      <p:sp>
        <p:nvSpPr>
          <p:cNvPr id="46" name="Google Shape;46;p3"/>
          <p:cNvSpPr/>
          <p:nvPr/>
        </p:nvSpPr>
        <p:spPr>
          <a:xfrm>
            <a:off x="906749" y="1202975"/>
            <a:ext cx="3517200" cy="274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563EB"/>
              </a:buClr>
              <a:buSzPts val="1600"/>
              <a:buFont typeface="Inter"/>
              <a:buNone/>
            </a:pPr>
            <a:r>
              <a:rPr b="1" i="0" lang="en-US" sz="1600" u="none" cap="none" strike="noStrike">
                <a:solidFill>
                  <a:srgbClr val="2563EB"/>
                </a:solidFill>
                <a:latin typeface="Inter"/>
                <a:ea typeface="Inter"/>
                <a:cs typeface="Inter"/>
                <a:sym typeface="Inter"/>
              </a:rPr>
              <a:t>Global</a:t>
            </a:r>
            <a:endParaRPr b="0" i="0" sz="1600" u="none" cap="none" strike="noStrike">
              <a:solidFill>
                <a:schemeClr val="dk1"/>
              </a:solidFill>
              <a:latin typeface="Calibri"/>
              <a:ea typeface="Calibri"/>
              <a:cs typeface="Calibri"/>
              <a:sym typeface="Calibri"/>
            </a:endParaRPr>
          </a:p>
        </p:txBody>
      </p:sp>
      <p:sp>
        <p:nvSpPr>
          <p:cNvPr id="47" name="Google Shape;47;p3"/>
          <p:cNvSpPr/>
          <p:nvPr/>
        </p:nvSpPr>
        <p:spPr>
          <a:xfrm>
            <a:off x="594050" y="1463050"/>
            <a:ext cx="3978900" cy="26043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Best Buy</a:t>
            </a:r>
            <a:r>
              <a:rPr b="0" i="0" lang="en-US" sz="1100" u="none" cap="none" strike="noStrike">
                <a:solidFill>
                  <a:srgbClr val="4B5563"/>
                </a:solidFill>
                <a:latin typeface="Inter"/>
                <a:ea typeface="Inter"/>
                <a:cs typeface="Inter"/>
                <a:sym typeface="Inter"/>
              </a:rPr>
              <a:t xml:space="preserve"> — GenAI shopping assistant (Google Cloud + Accenture, 2024), agentic AI expansion in 2025, catalog live on ChatGPT via the Agentic Commerce Protocol.</a:t>
            </a:r>
          </a:p>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MediaMarktSaturn</a:t>
            </a:r>
            <a:r>
              <a:rPr b="0" i="0" lang="en-US" sz="1100" u="none" cap="none" strike="noStrike">
                <a:solidFill>
                  <a:srgbClr val="4B5563"/>
                </a:solidFill>
                <a:latin typeface="Inter"/>
                <a:ea typeface="Inter"/>
                <a:cs typeface="Inter"/>
                <a:sym typeface="Inter"/>
              </a:rPr>
              <a:t xml:space="preserve"> — Smart Manual chatbot for ~1,900 private-label SKUs plus MyBuddy in-store voice agent on Azure OpenAI.</a:t>
            </a:r>
          </a:p>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Amazon Rufus</a:t>
            </a:r>
            <a:r>
              <a:rPr b="0" i="0" lang="en-US" sz="1100" u="none" cap="none" strike="noStrike">
                <a:solidFill>
                  <a:srgbClr val="4B5563"/>
                </a:solidFill>
                <a:latin typeface="Inter"/>
                <a:ea typeface="Inter"/>
                <a:cs typeface="Inter"/>
                <a:sym typeface="Inter"/>
              </a:rPr>
              <a:t xml:space="preserve"> — live across Amazon India and globally, 250M shoppers, +$10B downstream sales, 60% higher purchase likelihood.</a:t>
            </a:r>
          </a:p>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Walmart Sparky</a:t>
            </a:r>
            <a:r>
              <a:rPr b="0" i="0" lang="en-US" sz="1100" u="none" cap="none" strike="noStrike">
                <a:solidFill>
                  <a:srgbClr val="4B5563"/>
                </a:solidFill>
                <a:latin typeface="Inter"/>
                <a:ea typeface="Inter"/>
                <a:cs typeface="Inter"/>
                <a:sym typeface="Inter"/>
              </a:rPr>
              <a:t xml:space="preserve"> — live in ChatGPT and Google Gemini with integrated checkout.</a:t>
            </a:r>
          </a:p>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Home Depot, Lowe’s, Wayfair</a:t>
            </a:r>
            <a:r>
              <a:rPr b="0" i="0" lang="en-US" sz="1100" u="none" cap="none" strike="noStrike">
                <a:solidFill>
                  <a:srgbClr val="4B5563"/>
                </a:solidFill>
                <a:latin typeface="Inter"/>
                <a:ea typeface="Inter"/>
                <a:cs typeface="Inter"/>
                <a:sym typeface="Inter"/>
              </a:rPr>
              <a:t xml:space="preserve"> — all with ChatGPT storefronts and native AI advisors for complex-catalog verticals.</a:t>
            </a:r>
          </a:p>
        </p:txBody>
      </p:sp>
      <p:sp>
        <p:nvSpPr>
          <p:cNvPr id="48" name="Google Shape;48;p3"/>
          <p:cNvSpPr/>
          <p:nvPr/>
        </p:nvSpPr>
        <p:spPr>
          <a:xfrm>
            <a:off x="5025900" y="1202975"/>
            <a:ext cx="3432300" cy="226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DC2626"/>
              </a:buClr>
              <a:buSzPts val="1600"/>
              <a:buFont typeface="Inter"/>
              <a:buNone/>
            </a:pPr>
            <a:r>
              <a:rPr b="1" i="0" lang="en-US" sz="1600" u="none" cap="none" strike="noStrike">
                <a:solidFill>
                  <a:srgbClr val="DC2626"/>
                </a:solidFill>
                <a:latin typeface="Inter"/>
                <a:ea typeface="Inter"/>
                <a:cs typeface="Inter"/>
                <a:sym typeface="Inter"/>
              </a:rPr>
              <a:t>India (your direct market)</a:t>
            </a:r>
            <a:endParaRPr b="0" i="0" sz="1600" u="none" cap="none" strike="noStrike">
              <a:solidFill>
                <a:schemeClr val="dk1"/>
              </a:solidFill>
              <a:latin typeface="Calibri"/>
              <a:ea typeface="Calibri"/>
              <a:cs typeface="Calibri"/>
              <a:sym typeface="Calibri"/>
            </a:endParaRPr>
          </a:p>
        </p:txBody>
      </p:sp>
      <p:sp>
        <p:nvSpPr>
          <p:cNvPr id="49" name="Google Shape;49;p3"/>
          <p:cNvSpPr/>
          <p:nvPr/>
        </p:nvSpPr>
        <p:spPr>
          <a:xfrm>
            <a:off x="4709150" y="1630300"/>
            <a:ext cx="3749100" cy="23184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 xml:space="preserve">Amazon India (Rufus)</a:t>
            </a:r>
            <a:r>
              <a:rPr i="0" lang="en-US" sz="1100" u="none" cap="none" strike="noStrike">
                <a:solidFill>
                  <a:schemeClr val="dk1"/>
                </a:solidFill>
                <a:latin typeface="Inter"/>
                <a:ea typeface="Inter"/>
                <a:cs typeface="Inter"/>
                <a:sym typeface="Inter"/>
              </a:rPr>
              <a:t xml:space="preserve"> — rolled out to all India customers on app and desktop in late 2025, now answering spec and use-case questions natively.</a:t>
            </a:r>
          </a:p>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 xml:space="preserve">Flipkart (Flippi / SLAP)</a:t>
            </a:r>
            <a:r>
              <a:rPr i="0" lang="en-US" sz="1100" u="none" cap="none" strike="noStrike">
                <a:solidFill>
                  <a:schemeClr val="dk1"/>
                </a:solidFill>
                <a:latin typeface="Inter"/>
                <a:ea typeface="Inter"/>
                <a:cs typeface="Inter"/>
                <a:sym typeface="Inter"/>
              </a:rPr>
              <a:t xml:space="preserve"> — Flippi live; SLAP, the next-gen conversational assistant, announced for early 2026.</a:t>
            </a:r>
          </a:p>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 xml:space="preserve">Ajio (Reliance Retail)</a:t>
            </a:r>
            <a:r>
              <a:rPr i="0" lang="en-US" sz="1100" u="none" cap="none" strike="noStrike">
                <a:solidFill>
                  <a:schemeClr val="dk1"/>
                </a:solidFill>
                <a:latin typeface="Inter"/>
                <a:ea typeface="Inter"/>
                <a:cs typeface="Inter"/>
                <a:sym typeface="Inter"/>
              </a:rPr>
              <a:t xml:space="preserve"> — visual search via Rezolve live across the storefront.</a:t>
            </a:r>
          </a:p>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 xml:space="preserve">Tata Neu / Croma</a:t>
            </a:r>
            <a:r>
              <a:rPr i="0" lang="en-US" sz="1100" u="none" cap="none" strike="noStrike">
                <a:solidFill>
                  <a:schemeClr val="dk1"/>
                </a:solidFill>
                <a:latin typeface="Inter"/>
                <a:ea typeface="Inter"/>
                <a:cs typeface="Inter"/>
                <a:sym typeface="Inter"/>
              </a:rPr>
              <a:t xml:space="preserve"> — multilingual chatbot in the Tata super-app; exploring conversational product discovery.</a:t>
            </a:r>
          </a:p>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 xml:space="preserve">Reliance Digital, Vijay Sales, Poorvika</a:t>
            </a:r>
            <a:r>
              <a:rPr i="0" lang="en-US" sz="1100" u="none" cap="none" strike="noStrike">
                <a:solidFill>
                  <a:schemeClr val="dk1"/>
                </a:solidFill>
                <a:latin typeface="Inter"/>
                <a:ea typeface="Inter"/>
                <a:cs typeface="Inter"/>
                <a:sym typeface="Inter"/>
              </a:rPr>
              <a:t xml:space="preserve"> — no on-site conversational assistants today. The category is still wide open in Indian consumer electronics.</a:t>
            </a:r>
          </a:p>
        </p:txBody>
      </p:sp>
      <p:sp>
        <p:nvSpPr>
          <p:cNvPr id="50" name="Google Shape;50;p3"/>
          <p:cNvSpPr/>
          <p:nvPr/>
        </p:nvSpPr>
        <p:spPr>
          <a:xfrm>
            <a:off x="685800" y="4290785"/>
            <a:ext cx="7772400" cy="640200"/>
          </a:xfrm>
          <a:prstGeom prst="rect">
            <a:avLst/>
          </a:prstGeom>
          <a:solidFill>
            <a:srgbClr val="EFF6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 name="Google Shape;51;p3"/>
          <p:cNvSpPr/>
          <p:nvPr/>
        </p:nvSpPr>
        <p:spPr>
          <a:xfrm>
            <a:off x="814750" y="4382275"/>
            <a:ext cx="751080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100"/>
              <a:buFont typeface="Inter"/>
              <a:buNone/>
            </a:pPr>
            <a:r>
              <a:rPr b="1" i="0" lang="en-US" sz="1100" u="none" cap="none" strike="noStrike">
                <a:solidFill>
                  <a:srgbClr val="111827"/>
                </a:solidFill>
                <a:latin typeface="Inter"/>
                <a:ea typeface="Inter"/>
                <a:cs typeface="Inter"/>
                <a:sym typeface="Inter"/>
              </a:rPr>
              <a:t xml:space="preserve">Platform shift: </a:t>
            </a:r>
            <a:r>
              <a:rPr b="0" i="0" lang="en-US" sz="1100" u="none" cap="none" strike="noStrike">
                <a:solidFill>
                  <a:srgbClr val="111827"/>
                </a:solidFill>
                <a:latin typeface="Inter"/>
                <a:ea typeface="Inter"/>
                <a:cs typeface="Inter"/>
                <a:sym typeface="Inter"/>
              </a:rPr>
              <a:t>Walmart, Target, Sephora, Nordstrom, Best Buy, Home Depot, Wayfair, Frasers, Sephora, Etsy, Macy’s all have integrated AI shopping assistants on their websites</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 name="Shape 56"/>
        <p:cNvGrpSpPr/>
        <p:nvPr/>
      </p:nvGrpSpPr>
      <p:grpSpPr>
        <a:xfrm>
          <a:off x="0" y="0"/>
          <a:ext cx="0" cy="0"/>
          <a:chOff x="0" y="0"/>
          <a:chExt cx="0" cy="0"/>
        </a:xfrm>
      </p:grpSpPr>
      <p:sp>
        <p:nvSpPr>
          <p:cNvPr id="57" name="Google Shape;57;p4"/>
          <p:cNvSpPr txBox="1"/>
          <p:nvPr/>
        </p:nvSpPr>
        <p:spPr>
          <a:xfrm>
            <a:off x="253350" y="129400"/>
            <a:ext cx="8890500" cy="861900"/>
          </a:xfrm>
          <a:prstGeom prst="rect">
            <a:avLst/>
          </a:prstGeom>
          <a:noFill/>
          <a:ln>
            <a:noFill/>
          </a:ln>
        </p:spPr>
        <p:txBody>
          <a:bodyPr anchorCtr="0" anchor="t" bIns="91425" lIns="91425" spcFirstLastPara="1" rIns="91425" wrap="square" tIns="91425">
            <a:spAutoFit/>
          </a:bodyPr>
          <a:lstStyle/>
          <a:p>
            <a:pPr indent="0" lvl="0" marL="0" marR="0" rtl="0" algn="ctr">
              <a:lnSpc>
                <a:spcPct val="100000"/>
              </a:lnSpc>
              <a:spcBef>
                <a:spcPts val="0"/>
              </a:spcBef>
              <a:spcAft>
                <a:spcPts val="0"/>
              </a:spcAft>
              <a:buClr>
                <a:srgbClr val="000000"/>
              </a:buClr>
              <a:buSzPts val="2200"/>
              <a:buFont typeface="Arial"/>
              <a:buNone/>
            </a:pPr>
            <a:r>
              <a:rPr b="1" i="0" lang="en-US" sz="2200" u="none" cap="none" strike="noStrike">
                <a:solidFill>
                  <a:srgbClr val="111827"/>
                </a:solidFill>
                <a:latin typeface="Inter"/>
                <a:ea typeface="Inter"/>
                <a:cs typeface="Inter"/>
                <a:sym typeface="Inter"/>
              </a:rPr>
              <a:t>The gap in e-comm search today - shoppers think in problems and intents, search engines think in keywords.</a:t>
            </a:r>
            <a:endParaRPr b="0" i="0" sz="2200" u="none" cap="none" strike="noStrike">
              <a:solidFill>
                <a:schemeClr val="dk1"/>
              </a:solidFill>
              <a:latin typeface="Calibri"/>
              <a:ea typeface="Calibri"/>
              <a:cs typeface="Calibri"/>
              <a:sym typeface="Calibri"/>
            </a:endParaRPr>
          </a:p>
        </p:txBody>
      </p:sp>
      <p:sp>
        <p:nvSpPr>
          <p:cNvPr id="58" name="Google Shape;58;p4"/>
          <p:cNvSpPr txBox="1"/>
          <p:nvPr/>
        </p:nvSpPr>
        <p:spPr>
          <a:xfrm>
            <a:off x="217075" y="1052800"/>
            <a:ext cx="8637300" cy="37092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The current search bar on your e-commerce website needs the right keywords. It does not understand human language, it cannot match phone and smartphone, it cannot link “hot summer in Chennai” to cooling and cooling to energy-efficient inverter AC.</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But shoppers today do not shop using keywords such as “split AC” or “gaming laptop”, they shop by intents such as “for a small 10x12 bedroom” or “that won’t spike my electricity bill”.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What is happening is, even if your catalog has all the relevant products, these products are invisible to your buyer.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What an AI Sales Associate changes :  “I need a laptop with Intel i5, 16GB RAM and SSD for college coding and light gaming, within budget”</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chemeClr val="dk1"/>
              </a:buClr>
              <a:buSzPts val="1100"/>
              <a:buFont typeface="Arial"/>
              <a:buNone/>
            </a:pPr>
            <a:r>
              <a:rPr b="0" i="0" lang="en-US" sz="1100" u="none" cap="none" strike="noStrike">
                <a:solidFill>
                  <a:srgbClr val="4B5563"/>
                </a:solidFill>
                <a:latin typeface="Inter"/>
                <a:ea typeface="Inter"/>
                <a:cs typeface="Inter"/>
                <a:sym typeface="Inter"/>
              </a:rPr>
              <a:t>An AI sales associate powered by a knowledge graph understands intent + constraints + context, it maps college coding to: Intel i5 / 16GB RAM / SSD / dedicated GPU, adds the conditions for budget and returns relevant products from the catalog - exactly what the shopper means and wants, not just what they typed.</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                                                                                                                                                                                                                                                                                                                                                                                                                                      </a:t>
            </a:r>
            <a:endParaRPr b="0" i="0" sz="1100" u="none" cap="none" strike="noStrike">
              <a:solidFill>
                <a:srgbClr val="4B5563"/>
              </a:solidFill>
              <a:latin typeface="Inter"/>
              <a:ea typeface="Inter"/>
              <a:cs typeface="Inter"/>
              <a:sym typeface="Inter"/>
            </a:endParaRPr>
          </a:p>
        </p:txBody>
      </p:sp>
      <p:pic>
        <p:nvPicPr>
          <p:cNvPr id="59" name="Picture 58" descr="electronics_table.png"/>
          <p:cNvPicPr>
            <a:picLocks noChangeAspect="1"/>
          </p:cNvPicPr>
          <p:nvPr/>
        </p:nvPicPr>
        <p:blipFill>
          <a:blip r:embed="rId4"/>
          <a:stretch>
            <a:fillRect/>
          </a:stretch>
        </p:blipFill>
        <p:spPr>
          <a:xfrm>
            <a:off x="2471075" y="2460600"/>
            <a:ext cx="4455051" cy="10314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4" name="Shape 64"/>
        <p:cNvGrpSpPr/>
        <p:nvPr/>
      </p:nvGrpSpPr>
      <p:grpSpPr>
        <a:xfrm>
          <a:off x="0" y="0"/>
          <a:ext cx="0" cy="0"/>
          <a:chOff x="0" y="0"/>
          <a:chExt cx="0" cy="0"/>
        </a:xfrm>
      </p:grpSpPr>
      <p:sp>
        <p:nvSpPr>
          <p:cNvPr id="65" name="Google Shape;65;p5"/>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 name="Google Shape;66;p5"/>
          <p:cNvSpPr/>
          <p:nvPr/>
        </p:nvSpPr>
        <p:spPr>
          <a:xfrm>
            <a:off x="488000" y="194225"/>
            <a:ext cx="7860900" cy="591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2800"/>
              <a:buFont typeface="Inter"/>
              <a:buNone/>
            </a:pPr>
            <a:r>
              <a:rPr b="1" i="0" lang="en-US" sz="2200" u="none" cap="none" strike="noStrike">
                <a:solidFill>
                  <a:srgbClr val="111827"/>
                </a:solidFill>
                <a:latin typeface="Inter"/>
                <a:ea typeface="Inter"/>
                <a:cs typeface="Inter"/>
                <a:sym typeface="Inter"/>
              </a:rPr>
              <a:t>Why this gap exists — three structural challenges</a:t>
            </a:r>
            <a:endParaRPr b="0" i="0" sz="2200" u="none" cap="none" strike="noStrike">
              <a:solidFill>
                <a:schemeClr val="dk1"/>
              </a:solidFill>
              <a:latin typeface="Calibri"/>
              <a:ea typeface="Calibri"/>
              <a:cs typeface="Calibri"/>
              <a:sym typeface="Calibri"/>
            </a:endParaRPr>
          </a:p>
        </p:txBody>
      </p:sp>
      <p:sp>
        <p:nvSpPr>
          <p:cNvPr id="67" name="Google Shape;67;p5"/>
          <p:cNvSpPr/>
          <p:nvPr/>
        </p:nvSpPr>
        <p:spPr>
          <a:xfrm>
            <a:off x="267050" y="877085"/>
            <a:ext cx="320100" cy="320100"/>
          </a:xfrm>
          <a:prstGeom prst="ellipse">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 name="Google Shape;68;p5"/>
          <p:cNvSpPr/>
          <p:nvPr/>
        </p:nvSpPr>
        <p:spPr>
          <a:xfrm>
            <a:off x="267050" y="877085"/>
            <a:ext cx="320100" cy="3201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400"/>
              <a:buFont typeface="Inter"/>
              <a:buNone/>
            </a:pPr>
            <a:r>
              <a:rPr b="1" i="0" lang="en-US" sz="1400" u="none" cap="none" strike="noStrike">
                <a:solidFill>
                  <a:srgbClr val="FFFFFF"/>
                </a:solidFill>
                <a:latin typeface="Inter"/>
                <a:ea typeface="Inter"/>
                <a:cs typeface="Inter"/>
                <a:sym typeface="Inter"/>
              </a:rPr>
              <a:t>1</a:t>
            </a:r>
            <a:endParaRPr b="0" i="0" sz="1400" u="none" cap="none" strike="noStrike">
              <a:solidFill>
                <a:schemeClr val="dk1"/>
              </a:solidFill>
              <a:latin typeface="Calibri"/>
              <a:ea typeface="Calibri"/>
              <a:cs typeface="Calibri"/>
              <a:sym typeface="Calibri"/>
            </a:endParaRPr>
          </a:p>
        </p:txBody>
      </p:sp>
      <p:sp>
        <p:nvSpPr>
          <p:cNvPr id="69" name="Google Shape;69;p5"/>
          <p:cNvSpPr/>
          <p:nvPr/>
        </p:nvSpPr>
        <p:spPr>
          <a:xfrm>
            <a:off x="724250" y="867400"/>
            <a:ext cx="7764900" cy="320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sz="1600" u="none" cap="none" strike="noStrike">
                <a:solidFill>
                  <a:srgbClr val="111827"/>
                </a:solidFill>
                <a:latin typeface="Inter"/>
                <a:ea typeface="Inter"/>
                <a:cs typeface="Inter"/>
                <a:sym typeface="Inter"/>
              </a:rPr>
              <a:t>Catalogs need tagging and enrichment to be AI agent readable</a:t>
            </a:r>
            <a:endParaRPr b="0" i="0" sz="1600" u="none" cap="none" strike="noStrike">
              <a:solidFill>
                <a:schemeClr val="dk1"/>
              </a:solidFill>
              <a:latin typeface="Calibri"/>
              <a:ea typeface="Calibri"/>
              <a:cs typeface="Calibri"/>
              <a:sym typeface="Calibri"/>
            </a:endParaRPr>
          </a:p>
        </p:txBody>
      </p:sp>
      <p:sp>
        <p:nvSpPr>
          <p:cNvPr id="70" name="Google Shape;70;p5"/>
          <p:cNvSpPr/>
          <p:nvPr/>
        </p:nvSpPr>
        <p:spPr>
          <a:xfrm>
            <a:off x="326250" y="1354925"/>
            <a:ext cx="8342400" cy="6519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200"/>
              <a:buFont typeface="Inter"/>
              <a:buChar char="•"/>
            </a:pPr>
            <a:r>
              <a:rPr b="0" i="0" lang="en-US" sz="1200" u="none" cap="none" strike="noStrike">
                <a:solidFill>
                  <a:srgbClr val="4B5563"/>
                </a:solidFill>
                <a:latin typeface="Inter"/>
                <a:ea typeface="Inter"/>
                <a:cs typeface="Inter"/>
                <a:sym typeface="Inter"/>
              </a:rPr>
              <a:t>AI agents waste millions of tokens to understand the actual product in the catalog</a:t>
            </a:r>
            <a:endParaRPr b="0" i="0" sz="1200" u="none" cap="none" strike="noStrike">
              <a:solidFill>
                <a:schemeClr val="dk1"/>
              </a:solidFill>
              <a:latin typeface="Calibri"/>
              <a:ea typeface="Calibri"/>
              <a:cs typeface="Calibri"/>
              <a:sym typeface="Calibri"/>
            </a:endParaRPr>
          </a:p>
          <a:p>
            <a:pPr indent="-342900" lvl="0" marL="342900" marR="0" rtl="0" algn="l">
              <a:lnSpc>
                <a:spcPct val="100000"/>
              </a:lnSpc>
              <a:spcBef>
                <a:spcPts val="300"/>
              </a:spcBef>
              <a:spcAft>
                <a:spcPts val="0"/>
              </a:spcAft>
              <a:buClr>
                <a:srgbClr val="4B5563"/>
              </a:buClr>
              <a:buSzPts val="1200"/>
              <a:buFont typeface="Inter"/>
              <a:buChar char="•"/>
            </a:pPr>
            <a:r>
              <a:rPr b="0" i="0" lang="en-US" sz="1200" u="none" cap="none" strike="noStrike">
                <a:solidFill>
                  <a:srgbClr val="4B5563"/>
                </a:solidFill>
                <a:latin typeface="Inter"/>
                <a:ea typeface="Inter"/>
                <a:cs typeface="Inter"/>
                <a:sym typeface="Inter"/>
              </a:rPr>
              <a:t>Catalogs today don't expose attributes such as processor/energy-rating and tags such as “inverter” or “copper coil” which an AI agent needs to map intent such as “laptop for a college coder”  to “i5 16GB SSD laptop” or “for a small bedroom” to “5-star copper-coil inverter AC”.</a:t>
            </a:r>
            <a:endParaRPr b="0" i="0" sz="1200" u="none" cap="none" strike="noStrike">
              <a:solidFill>
                <a:schemeClr val="dk1"/>
              </a:solidFill>
              <a:latin typeface="Calibri"/>
              <a:ea typeface="Calibri"/>
              <a:cs typeface="Calibri"/>
              <a:sym typeface="Calibri"/>
            </a:endParaRPr>
          </a:p>
        </p:txBody>
      </p:sp>
      <p:sp>
        <p:nvSpPr>
          <p:cNvPr id="71" name="Google Shape;71;p5"/>
          <p:cNvSpPr/>
          <p:nvPr/>
        </p:nvSpPr>
        <p:spPr>
          <a:xfrm>
            <a:off x="267050" y="2312477"/>
            <a:ext cx="320100" cy="320100"/>
          </a:xfrm>
          <a:prstGeom prst="ellipse">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 name="Google Shape;72;p5"/>
          <p:cNvSpPr/>
          <p:nvPr/>
        </p:nvSpPr>
        <p:spPr>
          <a:xfrm>
            <a:off x="267050" y="2396620"/>
            <a:ext cx="320100" cy="1263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400"/>
              <a:buFont typeface="Inter"/>
              <a:buNone/>
            </a:pPr>
            <a:r>
              <a:rPr b="1" i="0" lang="en-US" sz="1400" u="none" cap="none" strike="noStrike">
                <a:solidFill>
                  <a:srgbClr val="FFFFFF"/>
                </a:solidFill>
                <a:latin typeface="Inter"/>
                <a:ea typeface="Inter"/>
                <a:cs typeface="Inter"/>
                <a:sym typeface="Inter"/>
              </a:rPr>
              <a:t>2</a:t>
            </a:r>
            <a:endParaRPr b="0" i="0" sz="1400" u="none" cap="none" strike="noStrike">
              <a:solidFill>
                <a:schemeClr val="dk1"/>
              </a:solidFill>
              <a:latin typeface="Calibri"/>
              <a:ea typeface="Calibri"/>
              <a:cs typeface="Calibri"/>
              <a:sym typeface="Calibri"/>
            </a:endParaRPr>
          </a:p>
        </p:txBody>
      </p:sp>
      <p:sp>
        <p:nvSpPr>
          <p:cNvPr id="73" name="Google Shape;73;p5"/>
          <p:cNvSpPr/>
          <p:nvPr/>
        </p:nvSpPr>
        <p:spPr>
          <a:xfrm>
            <a:off x="733650" y="2312487"/>
            <a:ext cx="7527600" cy="320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sz="1600" u="none" cap="none" strike="noStrike">
                <a:solidFill>
                  <a:srgbClr val="111827"/>
                </a:solidFill>
                <a:latin typeface="Inter"/>
                <a:ea typeface="Inter"/>
                <a:cs typeface="Inter"/>
                <a:sym typeface="Inter"/>
              </a:rPr>
              <a:t>Conversational search needs a knowledge graph to map intent to keywords</a:t>
            </a:r>
            <a:endParaRPr b="0" i="0" sz="1600" u="none" cap="none" strike="noStrike">
              <a:solidFill>
                <a:schemeClr val="dk1"/>
              </a:solidFill>
              <a:latin typeface="Calibri"/>
              <a:ea typeface="Calibri"/>
              <a:cs typeface="Calibri"/>
              <a:sym typeface="Calibri"/>
            </a:endParaRPr>
          </a:p>
        </p:txBody>
      </p:sp>
      <p:sp>
        <p:nvSpPr>
          <p:cNvPr id="74" name="Google Shape;74;p5"/>
          <p:cNvSpPr/>
          <p:nvPr/>
        </p:nvSpPr>
        <p:spPr>
          <a:xfrm>
            <a:off x="369650" y="2712925"/>
            <a:ext cx="8081700" cy="8547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200"/>
              <a:buFont typeface="Inter"/>
              <a:buChar char="•"/>
            </a:pPr>
            <a:r>
              <a:rPr b="0" i="0" lang="en-US" sz="1200" u="none" cap="none" strike="noStrike">
                <a:solidFill>
                  <a:srgbClr val="4B5563"/>
                </a:solidFill>
                <a:latin typeface="Inter"/>
                <a:ea typeface="Inter"/>
                <a:cs typeface="Inter"/>
                <a:sym typeface="Inter"/>
              </a:rPr>
              <a:t>Unlike traditional search bars that only cater to keyword matching for direct queries like “smart TV 55 inch 4K” or “refrigerator”, AI chat assistants need to answer intent based queries like “I want appliances for my new flat” or “I want a laptop good for Photoshop and light gaming”. They have to map buyer intent to keywords using a knowledge graph and then search the catalog for relevant products using keywords, refer to the diagram on slide 11 for an example</a:t>
            </a:r>
            <a:endParaRPr b="0" i="0" sz="1200" u="none" cap="none" strike="noStrike">
              <a:solidFill>
                <a:schemeClr val="dk1"/>
              </a:solidFill>
              <a:latin typeface="Calibri"/>
              <a:ea typeface="Calibri"/>
              <a:cs typeface="Calibri"/>
              <a:sym typeface="Calibri"/>
            </a:endParaRPr>
          </a:p>
        </p:txBody>
      </p:sp>
      <p:sp>
        <p:nvSpPr>
          <p:cNvPr id="75" name="Google Shape;75;p5"/>
          <p:cNvSpPr/>
          <p:nvPr/>
        </p:nvSpPr>
        <p:spPr>
          <a:xfrm>
            <a:off x="267050" y="3757583"/>
            <a:ext cx="320100" cy="320100"/>
          </a:xfrm>
          <a:prstGeom prst="ellipse">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 name="Google Shape;76;p5"/>
          <p:cNvSpPr/>
          <p:nvPr/>
        </p:nvSpPr>
        <p:spPr>
          <a:xfrm>
            <a:off x="267050" y="3757545"/>
            <a:ext cx="320100" cy="3201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400"/>
              <a:buFont typeface="Inter"/>
              <a:buNone/>
            </a:pPr>
            <a:r>
              <a:rPr b="1" i="0" lang="en-US" sz="1400" u="none" cap="none" strike="noStrike">
                <a:solidFill>
                  <a:srgbClr val="FFFFFF"/>
                </a:solidFill>
                <a:latin typeface="Inter"/>
                <a:ea typeface="Inter"/>
                <a:cs typeface="Inter"/>
                <a:sym typeface="Inter"/>
              </a:rPr>
              <a:t>3</a:t>
            </a:r>
            <a:endParaRPr b="0" i="0" sz="1400" u="none" cap="none" strike="noStrike">
              <a:solidFill>
                <a:schemeClr val="dk1"/>
              </a:solidFill>
              <a:latin typeface="Calibri"/>
              <a:ea typeface="Calibri"/>
              <a:cs typeface="Calibri"/>
              <a:sym typeface="Calibri"/>
            </a:endParaRPr>
          </a:p>
        </p:txBody>
      </p:sp>
      <p:sp>
        <p:nvSpPr>
          <p:cNvPr id="77" name="Google Shape;77;p5"/>
          <p:cNvSpPr/>
          <p:nvPr/>
        </p:nvSpPr>
        <p:spPr>
          <a:xfrm>
            <a:off x="724250" y="3757570"/>
            <a:ext cx="6400800" cy="320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sz="1600" u="none" cap="none" strike="noStrike">
                <a:solidFill>
                  <a:srgbClr val="111827"/>
                </a:solidFill>
                <a:latin typeface="Inter"/>
                <a:ea typeface="Inter"/>
                <a:cs typeface="Inter"/>
                <a:sym typeface="Inter"/>
              </a:rPr>
              <a:t>LLMs alone can't reason over catalogs to answer human queries</a:t>
            </a:r>
            <a:endParaRPr b="0" i="0" sz="1600" u="none" cap="none" strike="noStrike">
              <a:solidFill>
                <a:schemeClr val="dk1"/>
              </a:solidFill>
              <a:latin typeface="Calibri"/>
              <a:ea typeface="Calibri"/>
              <a:cs typeface="Calibri"/>
              <a:sym typeface="Calibri"/>
            </a:endParaRPr>
          </a:p>
        </p:txBody>
      </p:sp>
      <p:sp>
        <p:nvSpPr>
          <p:cNvPr id="78" name="Google Shape;78;p5"/>
          <p:cNvSpPr/>
          <p:nvPr/>
        </p:nvSpPr>
        <p:spPr>
          <a:xfrm>
            <a:off x="407450" y="4077650"/>
            <a:ext cx="8006100" cy="6519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200"/>
              <a:buFont typeface="Inter"/>
              <a:buChar char="•"/>
            </a:pPr>
            <a:r>
              <a:rPr b="0" i="0" lang="en-US" sz="1200" u="none" cap="none" strike="noStrike">
                <a:solidFill>
                  <a:srgbClr val="4B5563"/>
                </a:solidFill>
                <a:latin typeface="Inter"/>
                <a:ea typeface="Inter"/>
                <a:cs typeface="Inter"/>
                <a:sym typeface="Inter"/>
              </a:rPr>
              <a:t>LLMs give generic answers, they have not been trained on proprietary e-commerce data.They also take time to give answers(100ms-2s latency vs sub-20ms graph traversal)</a:t>
            </a:r>
            <a:endParaRPr b="0" i="0" sz="1200" u="none" cap="none" strike="noStrike">
              <a:solidFill>
                <a:schemeClr val="dk1"/>
              </a:solidFill>
              <a:latin typeface="Calibri"/>
              <a:ea typeface="Calibri"/>
              <a:cs typeface="Calibri"/>
              <a:sym typeface="Calibri"/>
            </a:endParaRPr>
          </a:p>
          <a:p>
            <a:pPr indent="-342900" lvl="0" marL="342900" marR="0" rtl="0" algn="l">
              <a:lnSpc>
                <a:spcPct val="100000"/>
              </a:lnSpc>
              <a:spcBef>
                <a:spcPts val="0"/>
              </a:spcBef>
              <a:spcAft>
                <a:spcPts val="0"/>
              </a:spcAft>
              <a:buClr>
                <a:srgbClr val="4B5563"/>
              </a:buClr>
              <a:buSzPts val="1200"/>
              <a:buFont typeface="Inter"/>
              <a:buChar char="•"/>
            </a:pPr>
            <a:r>
              <a:rPr b="0" i="0" lang="en-US" sz="1200" u="none" cap="none" strike="noStrike">
                <a:solidFill>
                  <a:srgbClr val="4B5563"/>
                </a:solidFill>
                <a:latin typeface="Inter"/>
                <a:ea typeface="Inter"/>
                <a:cs typeface="Inter"/>
                <a:sym typeface="Inter"/>
              </a:rPr>
              <a:t>Knowledge context graph gives LLM the extra data that they need to map intent to keywords like a human</a:t>
            </a:r>
            <a:endParaRPr b="0" i="0" sz="1200" u="none" cap="none" strike="noStrike">
              <a:solidFill>
                <a:schemeClr val="dk1"/>
              </a:solidFill>
              <a:latin typeface="Calibri"/>
              <a:ea typeface="Calibri"/>
              <a:cs typeface="Calibri"/>
              <a:sym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3" name="Shape 83"/>
        <p:cNvGrpSpPr/>
        <p:nvPr/>
      </p:nvGrpSpPr>
      <p:grpSpPr>
        <a:xfrm>
          <a:off x="0" y="0"/>
          <a:ext cx="0" cy="0"/>
          <a:chOff x="0" y="0"/>
          <a:chExt cx="0" cy="0"/>
        </a:xfrm>
      </p:grpSpPr>
      <p:sp>
        <p:nvSpPr>
          <p:cNvPr id="84" name="Google Shape;84;p8"/>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 name="Google Shape;85;p8"/>
          <p:cNvSpPr/>
          <p:nvPr/>
        </p:nvSpPr>
        <p:spPr>
          <a:xfrm>
            <a:off x="254475" y="290775"/>
            <a:ext cx="8793600" cy="594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11827"/>
              </a:buClr>
              <a:buSzPts val="2800"/>
              <a:buFont typeface="Inter"/>
              <a:buNone/>
            </a:pPr>
            <a:r>
              <a:rPr b="1" lang="en-US" sz="2300">
                <a:solidFill>
                  <a:srgbClr val="111827"/>
                </a:solidFill>
                <a:latin typeface="Inter"/>
                <a:ea typeface="Inter"/>
                <a:cs typeface="Inter"/>
                <a:sym typeface="Inter"/>
              </a:rPr>
              <a:t>We ran an audit on the &lt;&gt;website to see what fails today</a:t>
            </a:r>
            <a:endParaRPr b="0" i="0" sz="2300" u="none" cap="none" strike="noStrike">
              <a:solidFill>
                <a:schemeClr val="dk1"/>
              </a:solidFill>
              <a:latin typeface="Calibri"/>
              <a:ea typeface="Calibri"/>
              <a:cs typeface="Calibri"/>
              <a:sym typeface="Calibri"/>
            </a:endParaRPr>
          </a:p>
        </p:txBody>
      </p:sp>
      <p:graphicFrame>
        <p:nvGraphicFramePr>
          <p:cNvPr id="86" name="Google Shape;86;p8"/>
          <p:cNvGraphicFramePr/>
          <p:nvPr/>
        </p:nvGraphicFramePr>
        <p:xfrm>
          <a:off x="254475" y="979872"/>
          <a:ext cx="3000000" cy="3000000"/>
        </p:xfrm>
        <a:graphic>
          <a:graphicData uri="http://schemas.openxmlformats.org/drawingml/2006/table">
            <a:tbl>
              <a:tblPr>
                <a:noFill/>
                <a:tableStyleId>{A667869B-1F53-4C99-AD8D-8728D57326FD}</a:tableStyleId>
              </a:tblPr>
              <a:tblGrid>
                <a:gridCol w="2732400"/>
                <a:gridCol w="1377250"/>
                <a:gridCol w="4525400"/>
              </a:tblGrid>
              <a:tr h="368075">
                <a:tc>
                  <a:txBody>
                    <a:bodyPr/>
                    <a:lstStyle/>
                    <a:p>
                      <a:pPr indent="0" lvl="0" marL="0" marR="0" rtl="0" algn="l">
                        <a:spcBef>
                          <a:spcPts val="0"/>
                        </a:spcBef>
                        <a:spcAft>
                          <a:spcPts val="0"/>
                        </a:spcAft>
                        <a:buClr>
                          <a:srgbClr val="FFFFFF"/>
                        </a:buClr>
                        <a:buSzPts val="1000"/>
                        <a:buFont typeface="Inter"/>
                        <a:buNone/>
                      </a:pPr>
                      <a:r>
                        <a:rPr b="1" lang="en-US" sz="1000" u="none" cap="none" strike="noStrike">
                          <a:solidFill>
                            <a:srgbClr val="FFFFFF"/>
                          </a:solidFill>
                          <a:latin typeface="Inter"/>
                          <a:ea typeface="Inter"/>
                          <a:cs typeface="Inter"/>
                          <a:sym typeface="Inter"/>
                        </a:rPr>
                        <a:t>What the shopper searches</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solidFill>
                      <a:srgbClr val="111827"/>
                    </a:solidFill>
                  </a:tcPr>
                </a:tc>
                <a:tc>
                  <a:txBody>
                    <a:bodyPr/>
                    <a:lstStyle/>
                    <a:p>
                      <a:pPr indent="0" lvl="0" marL="0" marR="0" rtl="0" algn="l">
                        <a:spcBef>
                          <a:spcPts val="0"/>
                        </a:spcBef>
                        <a:spcAft>
                          <a:spcPts val="0"/>
                        </a:spcAft>
                        <a:buClr>
                          <a:srgbClr val="FFFFFF"/>
                        </a:buClr>
                        <a:buSzPts val="1000"/>
                        <a:buFont typeface="Inter"/>
                        <a:buNone/>
                      </a:pPr>
                      <a:r>
                        <a:rPr b="1" lang="en-US" sz="1000" u="none" cap="none" strike="noStrike">
                          <a:solidFill>
                            <a:srgbClr val="FFFFFF"/>
                          </a:solidFill>
                          <a:latin typeface="Inter"/>
                          <a:ea typeface="Inter"/>
                          <a:cs typeface="Inter"/>
                          <a:sym typeface="Inter"/>
                        </a:rPr>
                        <a:t>Search returns</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solidFill>
                      <a:srgbClr val="111827"/>
                    </a:solidFill>
                  </a:tcPr>
                </a:tc>
                <a:tc>
                  <a:txBody>
                    <a:bodyPr/>
                    <a:lstStyle/>
                    <a:p>
                      <a:pPr indent="0" lvl="0" marL="0" marR="0" rtl="0" algn="l">
                        <a:spcBef>
                          <a:spcPts val="0"/>
                        </a:spcBef>
                        <a:spcAft>
                          <a:spcPts val="0"/>
                        </a:spcAft>
                        <a:buClr>
                          <a:srgbClr val="FFFFFF"/>
                        </a:buClr>
                        <a:buSzPts val="1000"/>
                        <a:buFont typeface="Inter"/>
                        <a:buNone/>
                      </a:pPr>
                      <a:r>
                        <a:rPr b="1" lang="en-US" sz="1000" u="none" cap="none" strike="noStrike">
                          <a:solidFill>
                            <a:srgbClr val="FFFFFF"/>
                          </a:solidFill>
                          <a:latin typeface="Inter"/>
                          <a:ea typeface="Inter"/>
                          <a:cs typeface="Inter"/>
                          <a:sym typeface="Inter"/>
                        </a:rPr>
                        <a:t>What exists in the catalog</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solidFill>
                      <a:srgbClr val="111827"/>
                    </a:solidFill>
                  </a:tcPr>
                </a:tc>
              </a:tr>
            </a:tbl>
          </a:graphicData>
        </a:graphic>
      </p:graphicFrame>
      <p:sp>
        <p:nvSpPr>
          <p:cNvPr id="87" name="Google Shape;87;p8"/>
          <p:cNvSpPr/>
          <p:nvPr/>
        </p:nvSpPr>
        <p:spPr>
          <a:xfrm>
            <a:off x="254475" y="4552499"/>
            <a:ext cx="8635200" cy="34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CA3AF"/>
              </a:buClr>
              <a:buSzPts val="1100"/>
              <a:buFont typeface="Inter"/>
              <a:buNone/>
            </a:pPr>
            <a:r>
              <a:rPr b="0" i="1" lang="en-US" sz="1100" u="none" cap="none" strike="noStrike">
                <a:solidFill>
                  <a:schemeClr val="dk1"/>
                </a:solidFill>
                <a:latin typeface="Inter"/>
                <a:ea typeface="Inter"/>
                <a:cs typeface="Inter"/>
                <a:sym typeface="Inter"/>
              </a:rPr>
              <a:t xml:space="preserve">Every query is grounded in Google autocomplete — real shoppers type these. The products exist. The search can't connect the two. </a:t>
            </a:r>
            <a:r>
              <a:rPr i="1" lang="en-US" sz="1100">
                <a:solidFill>
                  <a:schemeClr val="dk1"/>
                </a:solidFill>
                <a:latin typeface="Inter"/>
                <a:ea typeface="Inter"/>
                <a:cs typeface="Inter"/>
                <a:sym typeface="Inter"/>
              </a:rPr>
              <a:t>For a more detailed report see the report attached with the email.</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2" name="Shape 92"/>
        <p:cNvGrpSpPr/>
        <p:nvPr/>
      </p:nvGrpSpPr>
      <p:grpSpPr>
        <a:xfrm>
          <a:off x="0" y="0"/>
          <a:ext cx="0" cy="0"/>
          <a:chOff x="0" y="0"/>
          <a:chExt cx="0" cy="0"/>
        </a:xfrm>
      </p:grpSpPr>
      <p:sp>
        <p:nvSpPr>
          <p:cNvPr id="93" name="Placeholder 1"/>
          <p:cNvSpPr/>
          <p:nvPr/>
        </p:nvSpPr>
        <p:spPr>
          <a:xfrm>
            <a:off x="0" y="0"/>
            <a:ext cx="4175109" cy="2350526"/>
          </a:xfrm>
          <a:prstGeom prst="rect">
            <a:avLst/>
          </a:prstGeom>
          <a:solidFill>
            <a:srgbClr val="F5F5F5"/>
          </a:solidFill>
          <a:ln cap="flat" cmpd="sng" w="12700">
            <a:solidFill>
              <a:srgbClr val="999999"/>
            </a:solidFill>
            <a:prstDash val="dash"/>
            <a:round/>
            <a:headEnd len="sm" w="sm" type="none"/>
            <a:tailEnd len="sm" w="sm" type="none"/>
          </a:ln>
        </p:spPr>
        <p:txBody>
          <a:bodyPr anchor="ctr" anchorCtr="1" wrap="square" rtlCol="0">
            <a:normAutofit/>
          </a:bodyPr>
          <a:lstStyle/>
          <a:p>
            <a:pPr algn="ctr"/>
            <a:r>
              <a:rPr lang="en-US" sz="1400" b="1">
                <a:solidFill>
                  <a:srgbClr val="666666"/>
                </a:solidFill>
                <a:latin typeface="Inter"/>
              </a:rPr>
              <a:t>Screenshot of failing query #1</a:t>
            </a:r>
          </a:p>
          <a:p>
            <a:pPr algn="ctr"/>
            <a:r>
              <a:rPr lang="en-US" sz="1100" i="1">
                <a:solidFill>
                  <a:srgbClr val="999999"/>
                </a:solidFill>
                <a:latin typeface="Inter"/>
              </a:rPr>
              <a:t>paste the search-results screenshot for the most egregious failing query here</a:t>
            </a:r>
          </a:p>
        </p:txBody>
      </p:sp>
      <p:sp>
        <p:nvSpPr>
          <p:cNvPr id="94" name="Placeholder 2"/>
          <p:cNvSpPr/>
          <p:nvPr/>
        </p:nvSpPr>
        <p:spPr>
          <a:xfrm>
            <a:off x="4968925" y="5"/>
            <a:ext cx="4175078" cy="2350520"/>
          </a:xfrm>
          <a:prstGeom prst="rect">
            <a:avLst/>
          </a:prstGeom>
          <a:solidFill>
            <a:srgbClr val="F5F5F5"/>
          </a:solidFill>
          <a:ln cap="flat" cmpd="sng" w="12700">
            <a:solidFill>
              <a:srgbClr val="999999"/>
            </a:solidFill>
            <a:prstDash val="dash"/>
            <a:round/>
            <a:headEnd len="sm" w="sm" type="none"/>
            <a:tailEnd len="sm" w="sm" type="none"/>
          </a:ln>
        </p:spPr>
        <p:txBody>
          <a:bodyPr anchor="ctr" anchorCtr="1" wrap="square" rtlCol="0">
            <a:normAutofit/>
          </a:bodyPr>
          <a:lstStyle/>
          <a:p>
            <a:pPr algn="ctr"/>
            <a:r>
              <a:rPr lang="en-US" sz="1400" b="1">
                <a:solidFill>
                  <a:srgbClr val="666666"/>
                </a:solidFill>
                <a:latin typeface="Inter"/>
              </a:rPr>
              <a:t>Screenshot of failing query #2</a:t>
            </a:r>
          </a:p>
          <a:p>
            <a:pPr algn="ctr"/>
            <a:r>
              <a:rPr lang="en-US" sz="1100" i="1">
                <a:solidFill>
                  <a:srgbClr val="999999"/>
                </a:solidFill>
                <a:latin typeface="Inter"/>
              </a:rPr>
              <a:t>paste the search-results screenshot for the most egregious failing query here</a:t>
            </a:r>
          </a:p>
        </p:txBody>
      </p:sp>
      <p:sp>
        <p:nvSpPr>
          <p:cNvPr id="95" name="Placeholder 3"/>
          <p:cNvSpPr/>
          <p:nvPr/>
        </p:nvSpPr>
        <p:spPr>
          <a:xfrm>
            <a:off x="0" y="2801079"/>
            <a:ext cx="4175099" cy="2350546"/>
          </a:xfrm>
          <a:prstGeom prst="rect">
            <a:avLst/>
          </a:prstGeom>
          <a:solidFill>
            <a:srgbClr val="F5F5F5"/>
          </a:solidFill>
          <a:ln cap="flat" cmpd="sng" w="12700">
            <a:solidFill>
              <a:srgbClr val="999999"/>
            </a:solidFill>
            <a:prstDash val="dash"/>
            <a:round/>
            <a:headEnd len="sm" w="sm" type="none"/>
            <a:tailEnd len="sm" w="sm" type="none"/>
          </a:ln>
        </p:spPr>
        <p:txBody>
          <a:bodyPr anchor="ctr" anchorCtr="1" wrap="square" rtlCol="0">
            <a:normAutofit/>
          </a:bodyPr>
          <a:lstStyle/>
          <a:p>
            <a:pPr algn="ctr"/>
            <a:r>
              <a:rPr lang="en-US" sz="1400" b="1">
                <a:solidFill>
                  <a:srgbClr val="666666"/>
                </a:solidFill>
                <a:latin typeface="Inter"/>
              </a:rPr>
              <a:t>Screenshot of failing query #3</a:t>
            </a:r>
          </a:p>
          <a:p>
            <a:pPr algn="ctr"/>
            <a:r>
              <a:rPr lang="en-US" sz="1100" i="1">
                <a:solidFill>
                  <a:srgbClr val="999999"/>
                </a:solidFill>
                <a:latin typeface="Inter"/>
              </a:rPr>
              <a:t>paste the search-results screenshot for the most egregious failing query here</a:t>
            </a:r>
          </a:p>
        </p:txBody>
      </p:sp>
      <p:sp>
        <p:nvSpPr>
          <p:cNvPr id="96" name="Placeholder 4"/>
          <p:cNvSpPr/>
          <p:nvPr/>
        </p:nvSpPr>
        <p:spPr>
          <a:xfrm>
            <a:off x="4968925" y="2801118"/>
            <a:ext cx="4175073" cy="2350506"/>
          </a:xfrm>
          <a:prstGeom prst="rect">
            <a:avLst/>
          </a:prstGeom>
          <a:solidFill>
            <a:srgbClr val="F5F5F5"/>
          </a:solidFill>
          <a:ln cap="flat" cmpd="sng" w="12700">
            <a:solidFill>
              <a:srgbClr val="999999"/>
            </a:solidFill>
            <a:prstDash val="dash"/>
            <a:round/>
            <a:headEnd len="sm" w="sm" type="none"/>
            <a:tailEnd len="sm" w="sm" type="none"/>
          </a:ln>
        </p:spPr>
        <p:txBody>
          <a:bodyPr anchor="ctr" anchorCtr="1" wrap="square" rtlCol="0">
            <a:normAutofit/>
          </a:bodyPr>
          <a:lstStyle/>
          <a:p>
            <a:pPr algn="ctr"/>
            <a:r>
              <a:rPr lang="en-US" sz="1400" b="1">
                <a:solidFill>
                  <a:srgbClr val="666666"/>
                </a:solidFill>
                <a:latin typeface="Inter"/>
              </a:rPr>
              <a:t>Screenshot of failing query #4</a:t>
            </a:r>
          </a:p>
          <a:p>
            <a:pPr algn="ctr"/>
            <a:r>
              <a:rPr lang="en-US" sz="1100" i="1">
                <a:solidFill>
                  <a:srgbClr val="999999"/>
                </a:solidFill>
                <a:latin typeface="Inter"/>
              </a:rPr>
              <a:t>paste the search-results screenshot for the most egregious failing query here</a:t>
            </a: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9" name="Shape 109"/>
        <p:cNvGrpSpPr/>
        <p:nvPr/>
      </p:nvGrpSpPr>
      <p:grpSpPr>
        <a:xfrm>
          <a:off x="0" y="0"/>
          <a:ext cx="0" cy="0"/>
          <a:chOff x="0" y="0"/>
          <a:chExt cx="0" cy="0"/>
        </a:xfrm>
      </p:grpSpPr>
      <p:sp>
        <p:nvSpPr>
          <p:cNvPr id="110" name="Google Shape;110;p9"/>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 name="Google Shape;111;p9"/>
          <p:cNvSpPr/>
          <p:nvPr/>
        </p:nvSpPr>
        <p:spPr>
          <a:xfrm>
            <a:off x="685800" y="365750"/>
            <a:ext cx="8155200" cy="594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2800"/>
              <a:buFont typeface="Inter"/>
              <a:buNone/>
            </a:pPr>
            <a:r>
              <a:rPr b="1" i="0" lang="en-US" sz="2500" u="none" cap="none" strike="noStrike">
                <a:solidFill>
                  <a:srgbClr val="111827"/>
                </a:solidFill>
                <a:latin typeface="Inter"/>
                <a:ea typeface="Inter"/>
                <a:cs typeface="Inter"/>
                <a:sym typeface="Inter"/>
              </a:rPr>
              <a:t xml:space="preserve">What SuperSearch builds for you </a:t>
            </a:r>
            <a:r>
              <a:rPr b="1" lang="en-US" sz="2500">
                <a:solidFill>
                  <a:srgbClr val="111827"/>
                </a:solidFill>
                <a:latin typeface="Inter"/>
                <a:ea typeface="Inter"/>
                <a:cs typeface="Inter"/>
                <a:sym typeface="Inter"/>
              </a:rPr>
              <a:t>- current offerings</a:t>
            </a:r>
            <a:endParaRPr b="0" i="0" sz="2500" u="none" cap="none" strike="noStrike">
              <a:solidFill>
                <a:schemeClr val="dk1"/>
              </a:solidFill>
              <a:latin typeface="Calibri"/>
              <a:ea typeface="Calibri"/>
              <a:cs typeface="Calibri"/>
              <a:sym typeface="Calibri"/>
            </a:endParaRPr>
          </a:p>
        </p:txBody>
      </p:sp>
      <p:sp>
        <p:nvSpPr>
          <p:cNvPr id="112" name="Google Shape;112;p9"/>
          <p:cNvSpPr/>
          <p:nvPr/>
        </p:nvSpPr>
        <p:spPr>
          <a:xfrm>
            <a:off x="685800" y="1097280"/>
            <a:ext cx="54864" cy="1051560"/>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9"/>
          <p:cNvSpPr/>
          <p:nvPr/>
        </p:nvSpPr>
        <p:spPr>
          <a:xfrm>
            <a:off x="914400" y="1056126"/>
            <a:ext cx="7315200" cy="207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sz="1600" u="none" cap="none" strike="noStrike">
                <a:solidFill>
                  <a:srgbClr val="111827"/>
                </a:solidFill>
                <a:latin typeface="Inter"/>
                <a:ea typeface="Inter"/>
                <a:cs typeface="Inter"/>
                <a:sym typeface="Inter"/>
              </a:rPr>
              <a:t>AI Sales Associate on your website that guides buyers to the right purchase</a:t>
            </a:r>
            <a:endParaRPr b="0" i="0" sz="1600" u="none" cap="none" strike="noStrike">
              <a:solidFill>
                <a:schemeClr val="dk1"/>
              </a:solidFill>
              <a:latin typeface="Calibri"/>
              <a:ea typeface="Calibri"/>
              <a:cs typeface="Calibri"/>
              <a:sym typeface="Calibri"/>
            </a:endParaRPr>
          </a:p>
        </p:txBody>
      </p:sp>
      <p:sp>
        <p:nvSpPr>
          <p:cNvPr id="114" name="Google Shape;114;p9"/>
          <p:cNvSpPr/>
          <p:nvPr/>
        </p:nvSpPr>
        <p:spPr>
          <a:xfrm>
            <a:off x="914400" y="1490575"/>
            <a:ext cx="7896300" cy="5943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Acts as a digital sales associate — asks the right questions, understands what the buyer actually needs, and guides them to the right product</a:t>
            </a:r>
            <a:endParaRPr b="0" i="0" sz="1300" u="none" cap="none" strike="noStrike">
              <a:solidFill>
                <a:schemeClr val="dk1"/>
              </a:solidFill>
              <a:latin typeface="Calibri"/>
              <a:ea typeface="Calibri"/>
              <a:cs typeface="Calibri"/>
              <a:sym typeface="Calibri"/>
            </a:endParaRPr>
          </a:p>
          <a:p>
            <a:pPr indent="-342900" lvl="0" marL="342900" marR="0" rtl="0" algn="l">
              <a:lnSpc>
                <a:spcPct val="100000"/>
              </a:lnSpc>
              <a:spcBef>
                <a:spcPts val="40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Drives revenue, not just answers — every conversation is a guided selling opportunity that converts browsers into buyers</a:t>
            </a:r>
            <a:endParaRPr b="0" i="0" sz="1300" u="none" cap="none" strike="noStrike">
              <a:solidFill>
                <a:schemeClr val="dk1"/>
              </a:solidFill>
              <a:latin typeface="Calibri"/>
              <a:ea typeface="Calibri"/>
              <a:cs typeface="Calibri"/>
              <a:sym typeface="Calibri"/>
            </a:endParaRPr>
          </a:p>
          <a:p>
            <a:pPr indent="-342900" lvl="0" marL="342900" marR="0" rtl="0" algn="l">
              <a:lnSpc>
                <a:spcPct val="100000"/>
              </a:lnSpc>
              <a:spcBef>
                <a:spcPts val="40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All intent based queries such as “appliances for a new flat”, “quiet washing machine that fits my bathroom” handled just like in ChatGPT and Amazon Rufus, guiding buyers to a purchase just like your best in-store sales associate would.</a:t>
            </a:r>
            <a:endParaRPr b="0" i="0" sz="1300" u="none" cap="none" strike="noStrike">
              <a:solidFill>
                <a:schemeClr val="dk1"/>
              </a:solidFill>
              <a:latin typeface="Calibri"/>
              <a:ea typeface="Calibri"/>
              <a:cs typeface="Calibri"/>
              <a:sym typeface="Calibri"/>
            </a:endParaRPr>
          </a:p>
        </p:txBody>
      </p:sp>
      <p:sp>
        <p:nvSpPr>
          <p:cNvPr id="115" name="Google Shape;115;p9"/>
          <p:cNvSpPr/>
          <p:nvPr/>
        </p:nvSpPr>
        <p:spPr>
          <a:xfrm>
            <a:off x="685800" y="2377440"/>
            <a:ext cx="54864" cy="1051560"/>
          </a:xfrm>
          <a:prstGeom prst="rect">
            <a:avLst/>
          </a:prstGeom>
          <a:solidFill>
            <a:srgbClr val="05966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 name="Google Shape;116;p9"/>
          <p:cNvSpPr/>
          <p:nvPr/>
        </p:nvSpPr>
        <p:spPr>
          <a:xfrm>
            <a:off x="914400" y="2377440"/>
            <a:ext cx="731520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sz="1600" u="none" cap="none" strike="noStrike">
                <a:solidFill>
                  <a:srgbClr val="111827"/>
                </a:solidFill>
                <a:latin typeface="Inter"/>
                <a:ea typeface="Inter"/>
                <a:cs typeface="Inter"/>
                <a:sym typeface="Inter"/>
              </a:rPr>
              <a:t>Catalog Tagging + Enrichment</a:t>
            </a:r>
            <a:endParaRPr b="0" i="0" sz="1600" u="none" cap="none" strike="noStrike">
              <a:solidFill>
                <a:schemeClr val="dk1"/>
              </a:solidFill>
              <a:latin typeface="Calibri"/>
              <a:ea typeface="Calibri"/>
              <a:cs typeface="Calibri"/>
              <a:sym typeface="Calibri"/>
            </a:endParaRPr>
          </a:p>
        </p:txBody>
      </p:sp>
      <p:sp>
        <p:nvSpPr>
          <p:cNvPr id="117" name="Google Shape;117;p9"/>
          <p:cNvSpPr/>
          <p:nvPr/>
        </p:nvSpPr>
        <p:spPr>
          <a:xfrm>
            <a:off x="914400" y="2724900"/>
            <a:ext cx="8229600" cy="6402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All merchant catalogs synced to unified schema that AI agents can read with no token wastage</a:t>
            </a:r>
            <a:endParaRPr b="0" i="0" sz="1300" u="none" cap="none" strike="noStrike">
              <a:solidFill>
                <a:schemeClr val="dk1"/>
              </a:solidFill>
              <a:latin typeface="Calibri"/>
              <a:ea typeface="Calibri"/>
              <a:cs typeface="Calibri"/>
              <a:sym typeface="Calibri"/>
            </a:endParaRPr>
          </a:p>
          <a:p>
            <a:pPr indent="-342900" lvl="0" marL="342900" marR="0" rtl="0" algn="l">
              <a:lnSpc>
                <a:spcPct val="100000"/>
              </a:lnSpc>
              <a:spcBef>
                <a:spcPts val="40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Synonyms, spell check, use-case tagging, intent mapping, attribute enrichment across your catalog</a:t>
            </a:r>
            <a:endParaRPr b="0" i="0" sz="1300" u="none" cap="none" strike="noStrike">
              <a:solidFill>
                <a:schemeClr val="dk1"/>
              </a:solidFill>
              <a:latin typeface="Calibri"/>
              <a:ea typeface="Calibri"/>
              <a:cs typeface="Calibri"/>
              <a:sym typeface="Calibri"/>
            </a:endParaRPr>
          </a:p>
          <a:p>
            <a:pPr indent="-342900" lvl="0" marL="342900" marR="0" rtl="0" algn="l">
              <a:lnSpc>
                <a:spcPct val="100000"/>
              </a:lnSpc>
              <a:spcBef>
                <a:spcPts val="40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AI agents can directly search the catalog to answer user queries</a:t>
            </a:r>
            <a:endParaRPr b="0" i="0" sz="1300" u="none" cap="none" strike="noStrike">
              <a:solidFill>
                <a:schemeClr val="dk1"/>
              </a:solidFill>
              <a:latin typeface="Calibri"/>
              <a:ea typeface="Calibri"/>
              <a:cs typeface="Calibri"/>
              <a:sym typeface="Calibri"/>
            </a:endParaRPr>
          </a:p>
        </p:txBody>
      </p:sp>
      <p:sp>
        <p:nvSpPr>
          <p:cNvPr id="118" name="Google Shape;118;p9"/>
          <p:cNvSpPr/>
          <p:nvPr/>
        </p:nvSpPr>
        <p:spPr>
          <a:xfrm>
            <a:off x="685800" y="3657600"/>
            <a:ext cx="54864" cy="1051560"/>
          </a:xfrm>
          <a:prstGeom prst="rect">
            <a:avLst/>
          </a:prstGeom>
          <a:solidFill>
            <a:srgbClr val="7C3A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 name="Google Shape;119;p9"/>
          <p:cNvSpPr/>
          <p:nvPr/>
        </p:nvSpPr>
        <p:spPr>
          <a:xfrm>
            <a:off x="914400" y="3657600"/>
            <a:ext cx="731520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sz="1600" u="none" cap="none" strike="noStrike">
                <a:solidFill>
                  <a:srgbClr val="111827"/>
                </a:solidFill>
                <a:latin typeface="Inter"/>
                <a:ea typeface="Inter"/>
                <a:cs typeface="Inter"/>
                <a:sym typeface="Inter"/>
              </a:rPr>
              <a:t>Intent-Aware Knowledge Graph</a:t>
            </a:r>
            <a:endParaRPr b="0" i="0" sz="1600" u="none" cap="none" strike="noStrike">
              <a:solidFill>
                <a:schemeClr val="dk1"/>
              </a:solidFill>
              <a:latin typeface="Calibri"/>
              <a:ea typeface="Calibri"/>
              <a:cs typeface="Calibri"/>
              <a:sym typeface="Calibri"/>
            </a:endParaRPr>
          </a:p>
        </p:txBody>
      </p:sp>
      <p:sp>
        <p:nvSpPr>
          <p:cNvPr id="120" name="Google Shape;120;p9"/>
          <p:cNvSpPr/>
          <p:nvPr/>
        </p:nvSpPr>
        <p:spPr>
          <a:xfrm>
            <a:off x="914400" y="4087375"/>
            <a:ext cx="8155200" cy="7497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Maps user intent to keywords in PDP’s without spending millions of dollars in LLM tokens</a:t>
            </a:r>
            <a:endParaRPr b="0" i="0" sz="1300" u="none" cap="none" strike="noStrike">
              <a:solidFill>
                <a:schemeClr val="dk1"/>
              </a:solidFill>
              <a:latin typeface="Calibri"/>
              <a:ea typeface="Calibri"/>
              <a:cs typeface="Calibri"/>
              <a:sym typeface="Calibri"/>
            </a:endParaRPr>
          </a:p>
          <a:p>
            <a:pPr indent="-342900" lvl="0" marL="342900" marR="0" rtl="0" algn="l">
              <a:lnSpc>
                <a:spcPct val="100000"/>
              </a:lnSpc>
              <a:spcBef>
                <a:spcPts val="40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Sub-20ms graph traversal vs 100ms-2s for LLM inference</a:t>
            </a:r>
            <a:r>
              <a:rPr b="0" i="0" lang="en-US" sz="1300" u="none" cap="none" strike="noStrike">
                <a:solidFill>
                  <a:schemeClr val="dk1"/>
                </a:solidFill>
                <a:latin typeface="Calibri"/>
                <a:ea typeface="Calibri"/>
                <a:cs typeface="Calibri"/>
                <a:sym typeface="Calibri"/>
              </a:rPr>
              <a:t>, w</a:t>
            </a:r>
            <a:r>
              <a:rPr b="0" i="0" lang="en-US" sz="1300" u="none" cap="none" strike="noStrike">
                <a:solidFill>
                  <a:srgbClr val="4B5563"/>
                </a:solidFill>
                <a:latin typeface="Inter"/>
                <a:ea typeface="Inter"/>
                <a:cs typeface="Inter"/>
                <a:sym typeface="Inter"/>
              </a:rPr>
              <a:t>orks for 5K-50K+ SKU catalogs</a:t>
            </a:r>
            <a:endParaRPr b="0" i="0" sz="1300" u="none" cap="none" strike="noStrike">
              <a:solidFill>
                <a:srgbClr val="4B5563"/>
              </a:solidFill>
              <a:latin typeface="Inter"/>
              <a:ea typeface="Inter"/>
              <a:cs typeface="Inter"/>
              <a:sym typeface="Inter"/>
            </a:endParaRPr>
          </a:p>
          <a:p>
            <a:pPr indent="-342900" lvl="0" marL="342900" marR="0" rtl="0" algn="l">
              <a:lnSpc>
                <a:spcPct val="100000"/>
              </a:lnSpc>
              <a:spcBef>
                <a:spcPts val="40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Enables AI shopping assistant to answer all intent/event/activity based queries asked by a buyer facilitating a truly realistic online shopping experience and boosting conversion</a:t>
            </a:r>
            <a:endParaRPr b="0" i="0" sz="1300" u="none" cap="none" strike="noStrike">
              <a:solidFill>
                <a:srgbClr val="4B5563"/>
              </a:solidFill>
              <a:latin typeface="Inter"/>
              <a:ea typeface="Inter"/>
              <a:cs typeface="Inter"/>
              <a:sym typeface="Inte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5" name="Shape 125"/>
        <p:cNvGrpSpPr/>
        <p:nvPr/>
      </p:nvGrpSpPr>
      <p:grpSpPr>
        <a:xfrm>
          <a:off x="0" y="0"/>
          <a:ext cx="0" cy="0"/>
          <a:chOff x="0" y="0"/>
          <a:chExt cx="0" cy="0"/>
        </a:xfrm>
      </p:grpSpPr>
      <p:sp>
        <p:nvSpPr>
          <p:cNvPr id="126" name="Google Shape;126;g3d836f29ee0_0_17"/>
          <p:cNvSpPr txBox="1"/>
          <p:nvPr/>
        </p:nvSpPr>
        <p:spPr>
          <a:xfrm>
            <a:off x="410725" y="260850"/>
            <a:ext cx="8475600" cy="78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US" sz="2000"/>
              <a:t>The future of e-commerce - shopping assistants, AR room visualization, multilingual queries and discovery through apps on LLM platforms.</a:t>
            </a:r>
            <a:endParaRPr b="1" sz="2000"/>
          </a:p>
        </p:txBody>
      </p:sp>
      <p:sp>
        <p:nvSpPr>
          <p:cNvPr id="127" name="Google Shape;127;g3d836f29ee0_0_17"/>
          <p:cNvSpPr txBox="1"/>
          <p:nvPr/>
        </p:nvSpPr>
        <p:spPr>
          <a:xfrm>
            <a:off x="345025" y="1274475"/>
            <a:ext cx="8238300" cy="34290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US"/>
              <a:t xml:space="preserve">Buyers today are increasingly looking for AR room visualization to make more informed decisions.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More and more numbers of queries are being asked in multilingual languages as e-commerce spreads to tier 2 and 3 cities.</a:t>
            </a:r>
            <a:endParaRPr/>
          </a:p>
          <a:p>
            <a:pPr indent="0" lvl="0" marL="0" rtl="0" algn="l">
              <a:spcBef>
                <a:spcPts val="0"/>
              </a:spcBef>
              <a:spcAft>
                <a:spcPts val="0"/>
              </a:spcAft>
              <a:buNone/>
            </a:pPr>
            <a:r>
              <a:t/>
            </a:r>
            <a:endParaRPr/>
          </a:p>
          <a:p>
            <a:pPr indent="0" lvl="0" marL="0" rtl="0" algn="l">
              <a:spcBef>
                <a:spcPts val="0"/>
              </a:spcBef>
              <a:spcAft>
                <a:spcPts val="0"/>
              </a:spcAft>
              <a:buNone/>
            </a:pPr>
            <a:r>
              <a:rPr b="1" lang="en-US"/>
              <a:t xml:space="preserve">40% of shoppers now start their discovery journey on some AI chat agent </a:t>
            </a:r>
            <a:r>
              <a:rPr lang="en-US"/>
              <a:t xml:space="preserve">such as Gemini/ChatGPT/Perplexity.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Before reaching a brand’s website, buyers first discover brand</a:t>
            </a:r>
            <a:r>
              <a:rPr lang="en-US"/>
              <a:t>s</a:t>
            </a:r>
            <a:r>
              <a:rPr lang="en-US"/>
              <a:t xml:space="preserve"> through LLMs. While AEO/GEO ensures that a brand comes up in the LLM’s suggestions, that is just the first part. Brands have to also ensure that buyers can </a:t>
            </a:r>
            <a:r>
              <a:rPr lang="en-US"/>
              <a:t>interact</a:t>
            </a:r>
            <a:r>
              <a:rPr lang="en-US"/>
              <a:t xml:space="preserve"> </a:t>
            </a:r>
            <a:r>
              <a:rPr lang="en-US"/>
              <a:t>with</a:t>
            </a:r>
            <a:r>
              <a:rPr lang="en-US"/>
              <a:t xml:space="preserve"> their catalogs within the LLM chat interface itself so they come to their website and buy.</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 xml:space="preserve">As a result Walmart, Best Buy, Home Depot, Lowe’s have already created apps on top of ChatGPT to capture buyers upfront.</a:t>
            </a:r>
            <a:endParaRPr/>
          </a:p>
          <a:p>
            <a:pPr indent="0" lvl="0" marL="0" rtl="0" algn="l">
              <a:spcBef>
                <a:spcPts val="0"/>
              </a:spcBef>
              <a:spcAft>
                <a:spcPts val="0"/>
              </a:spcAft>
              <a:buNone/>
            </a:pPr>
            <a:r>
              <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2" name="Shape 132"/>
        <p:cNvGrpSpPr/>
        <p:nvPr/>
      </p:nvGrpSpPr>
      <p:grpSpPr>
        <a:xfrm>
          <a:off x="0" y="0"/>
          <a:ext cx="0" cy="0"/>
          <a:chOff x="0" y="0"/>
          <a:chExt cx="0" cy="0"/>
        </a:xfrm>
      </p:grpSpPr>
      <p:sp>
        <p:nvSpPr>
          <p:cNvPr id="133" name="Google Shape;133;g3d836f29ee0_0_0"/>
          <p:cNvSpPr/>
          <p:nvPr/>
        </p:nvSpPr>
        <p:spPr>
          <a:xfrm>
            <a:off x="0" y="0"/>
            <a:ext cx="9144000" cy="36600"/>
          </a:xfrm>
          <a:prstGeom prst="rect">
            <a:avLst/>
          </a:prstGeom>
          <a:solidFill>
            <a:srgbClr val="2563E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 name="Google Shape;134;g3d836f29ee0_0_0"/>
          <p:cNvSpPr/>
          <p:nvPr/>
        </p:nvSpPr>
        <p:spPr>
          <a:xfrm>
            <a:off x="685800" y="365750"/>
            <a:ext cx="8308200" cy="594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11827"/>
              </a:buClr>
              <a:buSzPts val="2800"/>
              <a:buFont typeface="Inter"/>
              <a:buNone/>
            </a:pPr>
            <a:r>
              <a:rPr b="1" i="0" lang="en-US" sz="2400" u="none" cap="none" strike="noStrike">
                <a:solidFill>
                  <a:srgbClr val="111827"/>
                </a:solidFill>
                <a:latin typeface="Inter"/>
                <a:ea typeface="Inter"/>
                <a:cs typeface="Inter"/>
                <a:sym typeface="Inter"/>
              </a:rPr>
              <a:t xml:space="preserve">What SuperSearch builds for you - </a:t>
            </a:r>
            <a:r>
              <a:rPr b="1" lang="en-US" sz="2400">
                <a:solidFill>
                  <a:srgbClr val="111827"/>
                </a:solidFill>
                <a:latin typeface="Inter"/>
                <a:ea typeface="Inter"/>
                <a:cs typeface="Inter"/>
                <a:sym typeface="Inter"/>
              </a:rPr>
              <a:t>upcoming offerings</a:t>
            </a:r>
            <a:endParaRPr b="0" i="0" sz="2400" u="none" cap="none" strike="noStrike">
              <a:solidFill>
                <a:schemeClr val="dk1"/>
              </a:solidFill>
              <a:latin typeface="Calibri"/>
              <a:ea typeface="Calibri"/>
              <a:cs typeface="Calibri"/>
              <a:sym typeface="Calibri"/>
            </a:endParaRPr>
          </a:p>
        </p:txBody>
      </p:sp>
      <p:sp>
        <p:nvSpPr>
          <p:cNvPr id="135" name="Google Shape;135;g3d836f29ee0_0_0"/>
          <p:cNvSpPr/>
          <p:nvPr/>
        </p:nvSpPr>
        <p:spPr>
          <a:xfrm>
            <a:off x="685800" y="1097280"/>
            <a:ext cx="54900" cy="1051500"/>
          </a:xfrm>
          <a:prstGeom prst="rect">
            <a:avLst/>
          </a:prstGeom>
          <a:solidFill>
            <a:srgbClr val="2563E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 name="Google Shape;136;g3d836f29ee0_0_0"/>
          <p:cNvSpPr/>
          <p:nvPr/>
        </p:nvSpPr>
        <p:spPr>
          <a:xfrm>
            <a:off x="914400" y="1056126"/>
            <a:ext cx="7315200" cy="207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11827"/>
              </a:buClr>
              <a:buSzPts val="1600"/>
              <a:buFont typeface="Inter"/>
              <a:buNone/>
            </a:pPr>
            <a:r>
              <a:rPr b="1" lang="en-US" sz="1600">
                <a:solidFill>
                  <a:srgbClr val="111827"/>
                </a:solidFill>
                <a:latin typeface="Inter"/>
                <a:ea typeface="Inter"/>
                <a:cs typeface="Inter"/>
                <a:sym typeface="Inter"/>
              </a:rPr>
              <a:t>AR Room Visualization</a:t>
            </a:r>
            <a:endParaRPr b="0" i="0" sz="1600" u="none" cap="none" strike="noStrike">
              <a:solidFill>
                <a:schemeClr val="dk1"/>
              </a:solidFill>
              <a:latin typeface="Calibri"/>
              <a:ea typeface="Calibri"/>
              <a:cs typeface="Calibri"/>
              <a:sym typeface="Calibri"/>
            </a:endParaRPr>
          </a:p>
        </p:txBody>
      </p:sp>
      <p:sp>
        <p:nvSpPr>
          <p:cNvPr id="137" name="Google Shape;137;g3d836f29ee0_0_0"/>
          <p:cNvSpPr/>
          <p:nvPr/>
        </p:nvSpPr>
        <p:spPr>
          <a:xfrm>
            <a:off x="914400" y="1490575"/>
            <a:ext cx="7896300" cy="594300"/>
          </a:xfrm>
          <a:prstGeom prst="rect">
            <a:avLst/>
          </a:prstGeom>
          <a:noFill/>
          <a:ln>
            <a:noFill/>
          </a:ln>
        </p:spPr>
        <p:txBody>
          <a:bodyPr anchorCtr="0" anchor="ctr" bIns="0" lIns="0" spcFirstLastPara="1" rIns="0" wrap="square" tIns="0">
            <a:noAutofit/>
          </a:bodyPr>
          <a:lstStyle/>
          <a:p>
            <a:pPr indent="-342900" lvl="0" marL="342900" marR="0" rtl="0" algn="l">
              <a:spcBef>
                <a:spcPts val="0"/>
              </a:spcBef>
              <a:spcAft>
                <a:spcPts val="0"/>
              </a:spcAft>
              <a:buClr>
                <a:srgbClr val="4B5563"/>
              </a:buClr>
              <a:buSzPts val="1300"/>
              <a:buFont typeface="Inter"/>
              <a:buChar char="•"/>
            </a:pPr>
            <a:r>
              <a:rPr lang="en-US" sz="1300">
                <a:solidFill>
                  <a:srgbClr val="4B5563"/>
                </a:solidFill>
                <a:latin typeface="Inter"/>
                <a:ea typeface="Inter"/>
                <a:cs typeface="Inter"/>
                <a:sym typeface="Inter"/>
              </a:rPr>
              <a:t>See the 55-inch TV on your actual wall, the 1.5 ton split AC above your bed, or the double-door fridge in your kitchen via AR before you commit.</a:t>
            </a:r>
            <a:endParaRPr sz="1300">
              <a:solidFill>
                <a:srgbClr val="4B5563"/>
              </a:solidFill>
              <a:latin typeface="Inter"/>
              <a:ea typeface="Inter"/>
              <a:cs typeface="Inter"/>
              <a:sym typeface="Inter"/>
            </a:endParaRPr>
          </a:p>
          <a:p>
            <a:pPr indent="-342900" lvl="0" marL="342900" marR="0" rtl="0" algn="l">
              <a:spcBef>
                <a:spcPts val="0"/>
              </a:spcBef>
              <a:spcAft>
                <a:spcPts val="0"/>
              </a:spcAft>
              <a:buClr>
                <a:srgbClr val="4B5563"/>
              </a:buClr>
              <a:buSzPts val="1300"/>
              <a:buFont typeface="Inter"/>
              <a:buChar char="•"/>
            </a:pPr>
            <a:r>
              <a:rPr lang="en-US" sz="1300">
                <a:solidFill>
                  <a:srgbClr val="4B5563"/>
                </a:solidFill>
                <a:latin typeface="Inter"/>
                <a:ea typeface="Inter"/>
                <a:cs typeface="Inter"/>
                <a:sym typeface="Inter"/>
              </a:rPr>
              <a:t>The #1 return reason in large appliances is “doesn’t fit the space.” AR fit tools cut this dramatically in furniture and are now moving into appliances.</a:t>
            </a:r>
            <a:endParaRPr sz="1300">
              <a:solidFill>
                <a:srgbClr val="4B5563"/>
              </a:solidFill>
              <a:latin typeface="Inter"/>
              <a:ea typeface="Inter"/>
              <a:cs typeface="Inter"/>
              <a:sym typeface="Inter"/>
            </a:endParaRPr>
          </a:p>
          <a:p>
            <a:pPr indent="-342900" lvl="0" marL="342900" marR="0" rtl="0" algn="l">
              <a:spcBef>
                <a:spcPts val="0"/>
              </a:spcBef>
              <a:spcAft>
                <a:spcPts val="0"/>
              </a:spcAft>
              <a:buClr>
                <a:srgbClr val="4B5563"/>
              </a:buClr>
              <a:buSzPts val="1300"/>
              <a:buFont typeface="Inter"/>
              <a:buChar char="•"/>
            </a:pPr>
            <a:r>
              <a:rPr lang="en-US" sz="1300">
                <a:solidFill>
                  <a:srgbClr val="4B5563"/>
                </a:solidFill>
                <a:latin typeface="Inter"/>
                <a:ea typeface="Inter"/>
                <a:cs typeface="Inter"/>
                <a:sym typeface="Inter"/>
              </a:rPr>
              <a:t>Higher conversion, fewer returns, lower reverse-logistics cost on high-ticket SKUs.</a:t>
            </a:r>
            <a:endParaRPr sz="1300">
              <a:solidFill>
                <a:srgbClr val="4B5563"/>
              </a:solidFill>
              <a:latin typeface="Inter"/>
              <a:ea typeface="Inter"/>
              <a:cs typeface="Inter"/>
              <a:sym typeface="Inter"/>
            </a:endParaRPr>
          </a:p>
        </p:txBody>
      </p:sp>
      <p:sp>
        <p:nvSpPr>
          <p:cNvPr id="138" name="Google Shape;138;g3d836f29ee0_0_0"/>
          <p:cNvSpPr/>
          <p:nvPr/>
        </p:nvSpPr>
        <p:spPr>
          <a:xfrm>
            <a:off x="685800" y="2377440"/>
            <a:ext cx="54900" cy="1051500"/>
          </a:xfrm>
          <a:prstGeom prst="rect">
            <a:avLst/>
          </a:prstGeom>
          <a:solidFill>
            <a:srgbClr val="05966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 name="Google Shape;139;g3d836f29ee0_0_0"/>
          <p:cNvSpPr/>
          <p:nvPr/>
        </p:nvSpPr>
        <p:spPr>
          <a:xfrm>
            <a:off x="914400" y="2377440"/>
            <a:ext cx="7315200" cy="292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11827"/>
              </a:buClr>
              <a:buSzPts val="1600"/>
              <a:buFont typeface="Inter"/>
              <a:buNone/>
            </a:pPr>
            <a:r>
              <a:rPr b="1" lang="en-US" sz="1600">
                <a:solidFill>
                  <a:srgbClr val="111827"/>
                </a:solidFill>
                <a:latin typeface="Inter"/>
                <a:ea typeface="Inter"/>
                <a:cs typeface="Inter"/>
                <a:sym typeface="Inter"/>
              </a:rPr>
              <a:t>Vernacular + natural-language queries</a:t>
            </a:r>
            <a:endParaRPr b="0" i="0" sz="1600" u="none" cap="none" strike="noStrike">
              <a:solidFill>
                <a:schemeClr val="dk1"/>
              </a:solidFill>
              <a:latin typeface="Calibri"/>
              <a:ea typeface="Calibri"/>
              <a:cs typeface="Calibri"/>
              <a:sym typeface="Calibri"/>
            </a:endParaRPr>
          </a:p>
        </p:txBody>
      </p:sp>
      <p:sp>
        <p:nvSpPr>
          <p:cNvPr id="140" name="Google Shape;140;g3d836f29ee0_0_0"/>
          <p:cNvSpPr/>
          <p:nvPr/>
        </p:nvSpPr>
        <p:spPr>
          <a:xfrm>
            <a:off x="914400" y="2724900"/>
            <a:ext cx="8229600" cy="640200"/>
          </a:xfrm>
          <a:prstGeom prst="rect">
            <a:avLst/>
          </a:prstGeom>
          <a:noFill/>
          <a:ln>
            <a:noFill/>
          </a:ln>
        </p:spPr>
        <p:txBody>
          <a:bodyPr anchorCtr="0" anchor="ctr" bIns="0" lIns="0" spcFirstLastPara="1" rIns="0" wrap="square" tIns="0">
            <a:noAutofit/>
          </a:bodyPr>
          <a:lstStyle/>
          <a:p>
            <a:pPr indent="-342900" lvl="0" marL="342900" marR="0" rtl="0" algn="l">
              <a:spcBef>
                <a:spcPts val="400"/>
              </a:spcBef>
              <a:spcAft>
                <a:spcPts val="0"/>
              </a:spcAft>
              <a:buClr>
                <a:srgbClr val="4B5563"/>
              </a:buClr>
              <a:buSzPts val="1300"/>
              <a:buFont typeface="Inter"/>
              <a:buChar char="•"/>
            </a:pPr>
            <a:r>
              <a:rPr lang="en-US" sz="1300">
                <a:solidFill>
                  <a:srgbClr val="4B5563"/>
                </a:solidFill>
                <a:latin typeface="Inter"/>
                <a:ea typeface="Inter"/>
                <a:cs typeface="Inter"/>
                <a:sym typeface="Inter"/>
              </a:rPr>
              <a:t>Hindi, Tamil, Telugu and Bengali queries mapped to the English catalog — “geyser” → water heater, “cooler” → air cooler, “chimney” → kitchen chimney, “fridge” → refrigerator.</a:t>
            </a:r>
            <a:endParaRPr sz="1300">
              <a:solidFill>
                <a:srgbClr val="4B5563"/>
              </a:solidFill>
              <a:latin typeface="Inter"/>
              <a:ea typeface="Inter"/>
              <a:cs typeface="Inter"/>
              <a:sym typeface="Inter"/>
            </a:endParaRPr>
          </a:p>
          <a:p>
            <a:pPr indent="-342900" lvl="0" marL="342900" marR="0" rtl="0" algn="l">
              <a:spcBef>
                <a:spcPts val="400"/>
              </a:spcBef>
              <a:spcAft>
                <a:spcPts val="0"/>
              </a:spcAft>
              <a:buClr>
                <a:srgbClr val="4B5563"/>
              </a:buClr>
              <a:buSzPts val="1300"/>
              <a:buFont typeface="Inter"/>
              <a:buChar char="•"/>
            </a:pPr>
            <a:r>
              <a:rPr lang="en-US" sz="1300">
                <a:solidFill>
                  <a:srgbClr val="4B5563"/>
                </a:solidFill>
                <a:latin typeface="Inter"/>
                <a:ea typeface="Inter"/>
                <a:cs typeface="Inter"/>
                <a:sym typeface="Inter"/>
              </a:rPr>
              <a:t>Natural-language queries like “its too hot in my room but i cant afford an ac what are my options” resolve to budget coolers and fans instead of expensive split ACs.</a:t>
            </a:r>
            <a:endParaRPr sz="1300">
              <a:solidFill>
                <a:srgbClr val="4B5563"/>
              </a:solidFill>
              <a:latin typeface="Inter"/>
              <a:ea typeface="Inter"/>
              <a:cs typeface="Inter"/>
              <a:sym typeface="Inter"/>
            </a:endParaRPr>
          </a:p>
          <a:p>
            <a:pPr indent="-342900" lvl="0" marL="342900" marR="0" rtl="0" algn="l">
              <a:spcBef>
                <a:spcPts val="400"/>
              </a:spcBef>
              <a:spcAft>
                <a:spcPts val="0"/>
              </a:spcAft>
              <a:buClr>
                <a:srgbClr val="4B5563"/>
              </a:buClr>
              <a:buSzPts val="1300"/>
              <a:buFont typeface="Inter"/>
              <a:buChar char="•"/>
            </a:pPr>
            <a:r>
              <a:rPr lang="en-US" sz="1300">
                <a:solidFill>
                  <a:srgbClr val="4B5563"/>
                </a:solidFill>
                <a:latin typeface="Inter"/>
                <a:ea typeface="Inter"/>
                <a:cs typeface="Inter"/>
                <a:sym typeface="Inter"/>
              </a:rPr>
              <a:t>Unlocks tier-2 and tier-3 buyers for whom vernacular and conversational phrasing are the first language of search.</a:t>
            </a:r>
            <a:endParaRPr sz="1300">
              <a:solidFill>
                <a:srgbClr val="4B5563"/>
              </a:solidFill>
              <a:latin typeface="Inter"/>
              <a:ea typeface="Inter"/>
              <a:cs typeface="Inter"/>
              <a:sym typeface="Inter"/>
            </a:endParaRPr>
          </a:p>
        </p:txBody>
      </p:sp>
      <p:sp>
        <p:nvSpPr>
          <p:cNvPr id="141" name="Google Shape;141;g3d836f29ee0_0_0"/>
          <p:cNvSpPr/>
          <p:nvPr/>
        </p:nvSpPr>
        <p:spPr>
          <a:xfrm>
            <a:off x="685800" y="3657600"/>
            <a:ext cx="54900" cy="1051500"/>
          </a:xfrm>
          <a:prstGeom prst="rect">
            <a:avLst/>
          </a:prstGeom>
          <a:solidFill>
            <a:srgbClr val="7C3A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 name="Google Shape;142;g3d836f29ee0_0_0"/>
          <p:cNvSpPr/>
          <p:nvPr/>
        </p:nvSpPr>
        <p:spPr>
          <a:xfrm>
            <a:off x="914400" y="3783675"/>
            <a:ext cx="7315200" cy="166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11827"/>
              </a:buClr>
              <a:buSzPts val="1600"/>
              <a:buFont typeface="Inter"/>
              <a:buNone/>
            </a:pPr>
            <a:r>
              <a:rPr b="1" lang="en-US" sz="1600">
                <a:solidFill>
                  <a:srgbClr val="111827"/>
                </a:solidFill>
                <a:latin typeface="Inter"/>
                <a:ea typeface="Inter"/>
                <a:cs typeface="Inter"/>
                <a:sym typeface="Inter"/>
              </a:rPr>
              <a:t>App Storefront on ChatGPT</a:t>
            </a:r>
            <a:endParaRPr b="1" sz="1600">
              <a:solidFill>
                <a:srgbClr val="111827"/>
              </a:solidFill>
              <a:latin typeface="Inter"/>
              <a:ea typeface="Inter"/>
              <a:cs typeface="Inter"/>
              <a:sym typeface="Inter"/>
            </a:endParaRPr>
          </a:p>
        </p:txBody>
      </p:sp>
      <p:sp>
        <p:nvSpPr>
          <p:cNvPr id="143" name="Google Shape;143;g3d836f29ee0_0_0"/>
          <p:cNvSpPr/>
          <p:nvPr/>
        </p:nvSpPr>
        <p:spPr>
          <a:xfrm>
            <a:off x="914400" y="3905525"/>
            <a:ext cx="8155200" cy="931500"/>
          </a:xfrm>
          <a:prstGeom prst="rect">
            <a:avLst/>
          </a:prstGeom>
          <a:noFill/>
          <a:ln>
            <a:noFill/>
          </a:ln>
        </p:spPr>
        <p:txBody>
          <a:bodyPr anchorCtr="0" anchor="ctr" bIns="0" lIns="0" spcFirstLastPara="1" rIns="0" wrap="square" tIns="0">
            <a:noAutofit/>
          </a:bodyPr>
          <a:lstStyle/>
          <a:p>
            <a:pPr indent="-342900" lvl="0" marL="342900" marR="0" rtl="0" algn="l">
              <a:spcBef>
                <a:spcPts val="400"/>
              </a:spcBef>
              <a:spcAft>
                <a:spcPts val="0"/>
              </a:spcAft>
              <a:buClr>
                <a:srgbClr val="4B5563"/>
              </a:buClr>
              <a:buSzPts val="1300"/>
              <a:buFont typeface="Inter"/>
              <a:buChar char="•"/>
            </a:pPr>
            <a:r>
              <a:rPr lang="en-US" sz="1300">
                <a:solidFill>
                  <a:srgbClr val="4B5563"/>
                </a:solidFill>
                <a:latin typeface="Inter"/>
                <a:ea typeface="Inter"/>
                <a:cs typeface="Inter"/>
                <a:sym typeface="Inter"/>
              </a:rPr>
              <a:t>40% of buyers now start their electronics research on ChatGPT / Gemini / Perplexity before visiting a retailer site.</a:t>
            </a:r>
            <a:endParaRPr sz="1300">
              <a:solidFill>
                <a:srgbClr val="4B5563"/>
              </a:solidFill>
              <a:latin typeface="Inter"/>
              <a:ea typeface="Inter"/>
              <a:cs typeface="Inter"/>
              <a:sym typeface="Inter"/>
            </a:endParaRPr>
          </a:p>
          <a:p>
            <a:pPr indent="-342900" lvl="0" marL="342900" marR="0" rtl="0" algn="l">
              <a:spcBef>
                <a:spcPts val="400"/>
              </a:spcBef>
              <a:spcAft>
                <a:spcPts val="0"/>
              </a:spcAft>
              <a:buClr>
                <a:srgbClr val="4B5563"/>
              </a:buClr>
              <a:buSzPts val="1300"/>
              <a:buFont typeface="Inter"/>
              <a:buChar char="•"/>
            </a:pPr>
            <a:r>
              <a:rPr lang="en-US" sz="1300">
                <a:solidFill>
                  <a:srgbClr val="4B5563"/>
                </a:solidFill>
                <a:latin typeface="Inter"/>
                <a:ea typeface="Inter"/>
                <a:cs typeface="Inter"/>
                <a:sym typeface="Inter"/>
              </a:rPr>
              <a:t>Your catalog becomes shoppable inside the AI conversation — specs, prices, energy ratings and compatibility surfaced natively.</a:t>
            </a:r>
            <a:endParaRPr sz="1300">
              <a:solidFill>
                <a:srgbClr val="4B5563"/>
              </a:solidFill>
              <a:latin typeface="Inter"/>
              <a:ea typeface="Inter"/>
              <a:cs typeface="Inter"/>
              <a:sym typeface="Inter"/>
            </a:endParaRPr>
          </a:p>
          <a:p>
            <a:pPr indent="-342900" lvl="0" marL="342900" marR="0" rtl="0" algn="l">
              <a:spcBef>
                <a:spcPts val="400"/>
              </a:spcBef>
              <a:spcAft>
                <a:spcPts val="0"/>
              </a:spcAft>
              <a:buClr>
                <a:srgbClr val="4B5563"/>
              </a:buClr>
              <a:buSzPts val="1300"/>
              <a:buFont typeface="Inter"/>
              <a:buChar char="•"/>
            </a:pPr>
            <a:r>
              <a:rPr lang="en-US" sz="1300">
                <a:solidFill>
                  <a:srgbClr val="4B5563"/>
                </a:solidFill>
                <a:latin typeface="Inter"/>
                <a:ea typeface="Inter"/>
                <a:cs typeface="Inter"/>
                <a:sym typeface="Inter"/>
              </a:rPr>
              <a:t>Best Buy, Walmart, Home Depot, Lowe’s and Wayfair are already live on ChatGPT via OpenAI’s Agentic Commerce Protocol. Indian electronics retail is still wide open.</a:t>
            </a:r>
            <a:endParaRPr sz="1300">
              <a:solidFill>
                <a:srgbClr val="4B5563"/>
              </a:solidFill>
              <a:latin typeface="Inter"/>
              <a:ea typeface="Inter"/>
              <a:cs typeface="Inter"/>
              <a:sym typeface="Inte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8" name="Shape 148"/>
        <p:cNvGrpSpPr/>
        <p:nvPr/>
      </p:nvGrpSpPr>
      <p:grpSpPr>
        <a:xfrm>
          <a:off x="0" y="0"/>
          <a:ext cx="0" cy="0"/>
          <a:chOff x="0" y="0"/>
          <a:chExt cx="0" cy="0"/>
        </a:xfrm>
      </p:grpSpPr>
      <p:sp>
        <p:nvSpPr>
          <p:cNvPr id="149" name="Google Shape;149;p11"/>
          <p:cNvSpPr txBox="1"/>
          <p:nvPr/>
        </p:nvSpPr>
        <p:spPr>
          <a:xfrm>
            <a:off x="378375" y="239300"/>
            <a:ext cx="8572500" cy="4206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000000"/>
                </a:solidFill>
                <a:latin typeface="Arial"/>
                <a:ea typeface="Arial"/>
                <a:cs typeface="Arial"/>
                <a:sym typeface="Arial"/>
              </a:rPr>
              <a:t>Examples of queries with intent being mapped to keywords using knowledge context graph</a:t>
            </a:r>
            <a:endParaRPr b="1" i="0" sz="1500" u="none" cap="none" strike="noStrike">
              <a:solidFill>
                <a:srgbClr val="000000"/>
              </a:solidFill>
              <a:latin typeface="Arial"/>
              <a:ea typeface="Arial"/>
              <a:cs typeface="Arial"/>
              <a:sym typeface="Arial"/>
            </a:endParaRPr>
          </a:p>
        </p:txBody>
      </p:sp>
      <p:pic>
        <p:nvPicPr>
          <p:cNvPr id="150" name="Picture 149" descr="electronics_graph.png"/>
          <p:cNvPicPr>
            <a:picLocks noChangeAspect="1"/>
          </p:cNvPicPr>
          <p:nvPr/>
        </p:nvPicPr>
        <p:blipFill>
          <a:blip r:embed="rId4"/>
          <a:stretch>
            <a:fillRect/>
          </a:stretch>
        </p:blipFill>
        <p:spPr>
          <a:xfrm>
            <a:off x="152400" y="812300"/>
            <a:ext cx="8839197" cy="4080397"/>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4" name="Shape 154"/>
        <p:cNvGrpSpPr/>
        <p:nvPr/>
      </p:nvGrpSpPr>
      <p:grpSpPr>
        <a:xfrm>
          <a:off x="0" y="0"/>
          <a:ext cx="0" cy="0"/>
          <a:chOff x="0" y="0"/>
          <a:chExt cx="0" cy="0"/>
        </a:xfrm>
      </p:grpSpPr>
      <p:sp>
        <p:nvSpPr>
          <p:cNvPr id="155" name="Google Shape;155;p12"/>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 name="Google Shape;156;p12"/>
          <p:cNvSpPr/>
          <p:nvPr/>
        </p:nvSpPr>
        <p:spPr>
          <a:xfrm>
            <a:off x="308950" y="177335"/>
            <a:ext cx="7772400" cy="594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2800"/>
              <a:buFont typeface="Inter"/>
              <a:buNone/>
            </a:pPr>
            <a:r>
              <a:rPr b="1" i="0" lang="en-US" sz="2300" u="none" cap="none" strike="noStrike">
                <a:solidFill>
                  <a:srgbClr val="111827"/>
                </a:solidFill>
                <a:latin typeface="Inter"/>
                <a:ea typeface="Inter"/>
                <a:cs typeface="Inter"/>
                <a:sym typeface="Inter"/>
              </a:rPr>
              <a:t>Your AI sales associate doesn't just search — it sells</a:t>
            </a:r>
            <a:endParaRPr b="0" i="0" sz="2300" u="none" cap="none" strike="noStrike">
              <a:solidFill>
                <a:schemeClr val="dk1"/>
              </a:solidFill>
              <a:latin typeface="Calibri"/>
              <a:ea typeface="Calibri"/>
              <a:cs typeface="Calibri"/>
              <a:sym typeface="Calibri"/>
            </a:endParaRPr>
          </a:p>
        </p:txBody>
      </p:sp>
      <p:sp>
        <p:nvSpPr>
          <p:cNvPr id="157" name="Google Shape;157;p12"/>
          <p:cNvSpPr/>
          <p:nvPr/>
        </p:nvSpPr>
        <p:spPr>
          <a:xfrm>
            <a:off x="308950" y="908855"/>
            <a:ext cx="54900" cy="1051500"/>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200" u="none" cap="none" strike="noStrike">
              <a:solidFill>
                <a:srgbClr val="000000"/>
              </a:solidFill>
              <a:latin typeface="Arial"/>
              <a:ea typeface="Arial"/>
              <a:cs typeface="Arial"/>
              <a:sym typeface="Arial"/>
            </a:endParaRPr>
          </a:p>
        </p:txBody>
      </p:sp>
      <p:sp>
        <p:nvSpPr>
          <p:cNvPr id="158" name="Google Shape;158;p12"/>
          <p:cNvSpPr/>
          <p:nvPr/>
        </p:nvSpPr>
        <p:spPr>
          <a:xfrm>
            <a:off x="537550" y="867701"/>
            <a:ext cx="7315200" cy="207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u="none" cap="none" strike="noStrike">
                <a:solidFill>
                  <a:srgbClr val="111827"/>
                </a:solidFill>
                <a:latin typeface="Inter"/>
                <a:ea typeface="Inter"/>
                <a:cs typeface="Inter"/>
                <a:sym typeface="Inter"/>
              </a:rPr>
              <a:t>Guided discovery → conversion lift</a:t>
            </a:r>
            <a:endParaRPr b="0" i="0" u="none" cap="none" strike="noStrike">
              <a:solidFill>
                <a:schemeClr val="dk1"/>
              </a:solidFill>
              <a:latin typeface="Calibri"/>
              <a:ea typeface="Calibri"/>
              <a:cs typeface="Calibri"/>
              <a:sym typeface="Calibri"/>
            </a:endParaRPr>
          </a:p>
        </p:txBody>
      </p:sp>
      <p:sp>
        <p:nvSpPr>
          <p:cNvPr id="159" name="Google Shape;159;p12"/>
          <p:cNvSpPr/>
          <p:nvPr/>
        </p:nvSpPr>
        <p:spPr>
          <a:xfrm>
            <a:off x="537550" y="1302150"/>
            <a:ext cx="7896300" cy="594300"/>
          </a:xfrm>
          <a:prstGeom prst="rect">
            <a:avLst/>
          </a:prstGeom>
          <a:noFill/>
          <a:ln>
            <a:noFill/>
          </a:ln>
        </p:spPr>
        <p:txBody>
          <a:bodyPr anchorCtr="0" anchor="ctr" bIns="0" lIns="0" spcFirstLastPara="1" rIns="0" wrap="square" tIns="0">
            <a:noAutofit/>
          </a:bodyPr>
          <a:lstStyle/>
          <a:p>
            <a:pPr indent="-330200" lvl="0" marL="342900" marR="0" rtl="0" algn="l">
              <a:lnSpc>
                <a:spcPct val="100000"/>
              </a:lnSpc>
              <a:spcBef>
                <a:spcPts val="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Like your best sales associate, it clarifies intent instead of dumping a catalog — asks the right follow-up questions (occasion, budget, use-case, specs/compatibility) before suggesting anything.</a:t>
            </a:r>
            <a:endParaRPr b="0" i="0" sz="1100" u="none" cap="none" strike="noStrike">
              <a:solidFill>
                <a:schemeClr val="dk1"/>
              </a:solidFill>
              <a:latin typeface="Calibri"/>
              <a:ea typeface="Calibri"/>
              <a:cs typeface="Calibri"/>
              <a:sym typeface="Calibri"/>
            </a:endParaRPr>
          </a:p>
          <a:p>
            <a:pPr indent="-330200" lvl="0" marL="342900" marR="0" rtl="0" algn="l">
              <a:lnSpc>
                <a:spcPct val="100000"/>
              </a:lnSpc>
              <a:spcBef>
                <a:spcPts val="40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4x conversion uplift for conversational vs keyword — 12.3% vs 3.1% (Rep AI 2025 Ecommerce Shopper Behavior Report).</a:t>
            </a:r>
            <a:endParaRPr b="0" i="0" sz="1100" u="none" cap="none" strike="noStrike">
              <a:solidFill>
                <a:schemeClr val="dk1"/>
              </a:solidFill>
              <a:latin typeface="Calibri"/>
              <a:ea typeface="Calibri"/>
              <a:cs typeface="Calibri"/>
              <a:sym typeface="Calibri"/>
            </a:endParaRPr>
          </a:p>
          <a:p>
            <a:pPr indent="-330200" lvl="0" marL="342900" marR="0" rtl="0" algn="l">
              <a:lnSpc>
                <a:spcPct val="100000"/>
              </a:lnSpc>
              <a:spcBef>
                <a:spcPts val="40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Best Buy’s GenAI assistant drove agentic AI expansion across the storefront — proof the impact shows up in the P&amp;L.</a:t>
            </a:r>
            <a:endParaRPr b="0" i="0" sz="1100" u="none" cap="none" strike="noStrike">
              <a:solidFill>
                <a:schemeClr val="dk1"/>
              </a:solidFill>
              <a:latin typeface="Calibri"/>
              <a:ea typeface="Calibri"/>
              <a:cs typeface="Calibri"/>
              <a:sym typeface="Calibri"/>
            </a:endParaRPr>
          </a:p>
        </p:txBody>
      </p:sp>
      <p:sp>
        <p:nvSpPr>
          <p:cNvPr id="160" name="Google Shape;160;p12"/>
          <p:cNvSpPr/>
          <p:nvPr/>
        </p:nvSpPr>
        <p:spPr>
          <a:xfrm>
            <a:off x="308950" y="2189015"/>
            <a:ext cx="54900" cy="1051500"/>
          </a:xfrm>
          <a:prstGeom prst="rect">
            <a:avLst/>
          </a:prstGeom>
          <a:solidFill>
            <a:srgbClr val="05966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200" u="none" cap="none" strike="noStrike">
              <a:solidFill>
                <a:srgbClr val="000000"/>
              </a:solidFill>
              <a:latin typeface="Arial"/>
              <a:ea typeface="Arial"/>
              <a:cs typeface="Arial"/>
              <a:sym typeface="Arial"/>
            </a:endParaRPr>
          </a:p>
        </p:txBody>
      </p:sp>
      <p:sp>
        <p:nvSpPr>
          <p:cNvPr id="161" name="Google Shape;161;p12"/>
          <p:cNvSpPr/>
          <p:nvPr/>
        </p:nvSpPr>
        <p:spPr>
          <a:xfrm>
            <a:off x="537550" y="2189015"/>
            <a:ext cx="73152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u="none" cap="none" strike="noStrike">
                <a:solidFill>
                  <a:srgbClr val="111827"/>
                </a:solidFill>
                <a:latin typeface="Inter"/>
                <a:ea typeface="Inter"/>
                <a:cs typeface="Inter"/>
                <a:sym typeface="Inter"/>
              </a:rPr>
              <a:t>Expert-grade bundling → AOV lift</a:t>
            </a:r>
            <a:endParaRPr b="0" i="0" u="none" cap="none" strike="noStrike">
              <a:solidFill>
                <a:schemeClr val="dk1"/>
              </a:solidFill>
              <a:latin typeface="Calibri"/>
              <a:ea typeface="Calibri"/>
              <a:cs typeface="Calibri"/>
              <a:sym typeface="Calibri"/>
            </a:endParaRPr>
          </a:p>
        </p:txBody>
      </p:sp>
      <p:sp>
        <p:nvSpPr>
          <p:cNvPr id="162" name="Google Shape;162;p12"/>
          <p:cNvSpPr/>
          <p:nvPr/>
        </p:nvSpPr>
        <p:spPr>
          <a:xfrm>
            <a:off x="537550" y="2536475"/>
            <a:ext cx="8229600" cy="640200"/>
          </a:xfrm>
          <a:prstGeom prst="rect">
            <a:avLst/>
          </a:prstGeom>
          <a:noFill/>
          <a:ln>
            <a:noFill/>
          </a:ln>
        </p:spPr>
        <p:txBody>
          <a:bodyPr anchorCtr="0" anchor="ctr" bIns="0" lIns="0" spcFirstLastPara="1" rIns="0" wrap="square" tIns="0">
            <a:noAutofit/>
          </a:bodyPr>
          <a:lstStyle/>
          <a:p>
            <a:pPr indent="-330200" lvl="0" marL="342900" marR="0" rtl="0" algn="l">
              <a:lnSpc>
                <a:spcPct val="100000"/>
              </a:lnSpc>
              <a:spcBef>
                <a:spcPts val="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Assistant knows what pairs with what — matching accessories, complementary items, a matched bundle — TV plus soundbar, camera plus lens plus mic — instead of a single SKU.</a:t>
            </a:r>
            <a:endParaRPr b="0" i="0" sz="1100" u="none" cap="none" strike="noStrike">
              <a:solidFill>
                <a:schemeClr val="dk1"/>
              </a:solidFill>
              <a:latin typeface="Calibri"/>
              <a:ea typeface="Calibri"/>
              <a:cs typeface="Calibri"/>
              <a:sym typeface="Calibri"/>
            </a:endParaRPr>
          </a:p>
          <a:p>
            <a:pPr indent="-330200" lvl="0" marL="342900" marR="0" rtl="0" algn="l">
              <a:lnSpc>
                <a:spcPct val="100000"/>
              </a:lnSpc>
              <a:spcBef>
                <a:spcPts val="40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Single-item sessions become full set-ups — every add-to-cart becomes an opening for a second, third, fourth item.</a:t>
            </a:r>
            <a:endParaRPr b="0" i="0" sz="1100" u="none" cap="none" strike="noStrike">
              <a:solidFill>
                <a:schemeClr val="dk1"/>
              </a:solidFill>
              <a:latin typeface="Calibri"/>
              <a:ea typeface="Calibri"/>
              <a:cs typeface="Calibri"/>
              <a:sym typeface="Calibri"/>
            </a:endParaRPr>
          </a:p>
          <a:p>
            <a:pPr indent="-330200" lvl="0" marL="342900" marR="0" rtl="0" algn="l">
              <a:lnSpc>
                <a:spcPct val="100000"/>
              </a:lnSpc>
              <a:spcBef>
                <a:spcPts val="40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Nosto: when search works, 78% of shoppers also buy an additional item — the assistant is the conversion engine for that second buy.</a:t>
            </a:r>
            <a:endParaRPr b="0" i="0" sz="1100" u="none" cap="none" strike="noStrike">
              <a:solidFill>
                <a:schemeClr val="dk1"/>
              </a:solidFill>
              <a:latin typeface="Calibri"/>
              <a:ea typeface="Calibri"/>
              <a:cs typeface="Calibri"/>
              <a:sym typeface="Calibri"/>
            </a:endParaRPr>
          </a:p>
        </p:txBody>
      </p:sp>
      <p:sp>
        <p:nvSpPr>
          <p:cNvPr id="163" name="Google Shape;163;p12"/>
          <p:cNvSpPr/>
          <p:nvPr/>
        </p:nvSpPr>
        <p:spPr>
          <a:xfrm>
            <a:off x="308950" y="3469175"/>
            <a:ext cx="54900" cy="1051500"/>
          </a:xfrm>
          <a:prstGeom prst="rect">
            <a:avLst/>
          </a:prstGeom>
          <a:solidFill>
            <a:srgbClr val="7C3A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200" u="none" cap="none" strike="noStrike">
              <a:solidFill>
                <a:srgbClr val="000000"/>
              </a:solidFill>
              <a:latin typeface="Arial"/>
              <a:ea typeface="Arial"/>
              <a:cs typeface="Arial"/>
              <a:sym typeface="Arial"/>
            </a:endParaRPr>
          </a:p>
        </p:txBody>
      </p:sp>
      <p:sp>
        <p:nvSpPr>
          <p:cNvPr id="164" name="Google Shape;164;p12"/>
          <p:cNvSpPr/>
          <p:nvPr/>
        </p:nvSpPr>
        <p:spPr>
          <a:xfrm>
            <a:off x="537550" y="3469175"/>
            <a:ext cx="73152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u="none" cap="none" strike="noStrike">
                <a:solidFill>
                  <a:srgbClr val="111827"/>
                </a:solidFill>
                <a:latin typeface="Inter"/>
                <a:ea typeface="Inter"/>
                <a:cs typeface="Inter"/>
                <a:sym typeface="Inter"/>
              </a:rPr>
              <a:t>Intent rescue → keep shoppers on site</a:t>
            </a:r>
            <a:endParaRPr b="0" i="0" u="none" cap="none" strike="noStrike">
              <a:solidFill>
                <a:schemeClr val="dk1"/>
              </a:solidFill>
              <a:latin typeface="Calibri"/>
              <a:ea typeface="Calibri"/>
              <a:cs typeface="Calibri"/>
              <a:sym typeface="Calibri"/>
            </a:endParaRPr>
          </a:p>
        </p:txBody>
      </p:sp>
      <p:sp>
        <p:nvSpPr>
          <p:cNvPr id="165" name="Google Shape;165;p12"/>
          <p:cNvSpPr/>
          <p:nvPr/>
        </p:nvSpPr>
        <p:spPr>
          <a:xfrm>
            <a:off x="537550" y="3898950"/>
            <a:ext cx="8155200" cy="749700"/>
          </a:xfrm>
          <a:prstGeom prst="rect">
            <a:avLst/>
          </a:prstGeom>
          <a:noFill/>
          <a:ln>
            <a:noFill/>
          </a:ln>
        </p:spPr>
        <p:txBody>
          <a:bodyPr anchorCtr="0" anchor="ctr" bIns="0" lIns="0" spcFirstLastPara="1" rIns="0" wrap="square" tIns="0">
            <a:noAutofit/>
          </a:bodyPr>
          <a:lstStyle/>
          <a:p>
            <a:pPr indent="-330200" lvl="0" marL="342900" marR="0" rtl="0" algn="l">
              <a:lnSpc>
                <a:spcPct val="100000"/>
              </a:lnSpc>
              <a:spcBef>
                <a:spcPts val="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Vague, intent-shaped queries become a curated shortlist instead of thousands of random results.</a:t>
            </a:r>
            <a:endParaRPr b="0" i="0" sz="1100" u="none" cap="none" strike="noStrike">
              <a:solidFill>
                <a:schemeClr val="dk1"/>
              </a:solidFill>
              <a:latin typeface="Calibri"/>
              <a:ea typeface="Calibri"/>
              <a:cs typeface="Calibri"/>
              <a:sym typeface="Calibri"/>
            </a:endParaRPr>
          </a:p>
          <a:p>
            <a:pPr indent="-330200" lvl="0" marL="342900" marR="0" rtl="0" algn="l">
              <a:lnSpc>
                <a:spcPct val="100000"/>
              </a:lnSpc>
              <a:spcBef>
                <a:spcPts val="40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80% of shoppers leave a site due to poor search — the assistant plugs that leak before the session bounces (Nosto).</a:t>
            </a:r>
            <a:endParaRPr b="0" i="0" sz="1100" u="none" cap="none" strike="noStrike">
              <a:solidFill>
                <a:srgbClr val="4B5563"/>
              </a:solidFill>
              <a:latin typeface="Inter"/>
              <a:ea typeface="Inter"/>
              <a:cs typeface="Inter"/>
              <a:sym typeface="Inter"/>
            </a:endParaRPr>
          </a:p>
          <a:p>
            <a:pPr indent="-330200" lvl="0" marL="342900" marR="0" rtl="0" algn="l">
              <a:lnSpc>
                <a:spcPct val="100000"/>
              </a:lnSpc>
              <a:spcBef>
                <a:spcPts val="40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Amazon Rufus: shoppers 60% more likely to complete a purchase through the assistant than through keyword search.</a:t>
            </a:r>
            <a:endParaRPr b="0" i="0" sz="1100" u="none" cap="none" strike="noStrike">
              <a:solidFill>
                <a:srgbClr val="4B5563"/>
              </a:solidFill>
              <a:latin typeface="Inter"/>
              <a:ea typeface="Inter"/>
              <a:cs typeface="Inter"/>
              <a:sym typeface="Inter"/>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0" name="Shape 170"/>
        <p:cNvGrpSpPr/>
        <p:nvPr/>
      </p:nvGrpSpPr>
      <p:grpSpPr>
        <a:xfrm>
          <a:off x="0" y="0"/>
          <a:ext cx="0" cy="0"/>
          <a:chOff x="0" y="0"/>
          <a:chExt cx="0" cy="0"/>
        </a:xfrm>
      </p:grpSpPr>
      <p:sp>
        <p:nvSpPr>
          <p:cNvPr id="171" name="Google Shape;171;p13"/>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 name="Google Shape;172;p13"/>
          <p:cNvSpPr/>
          <p:nvPr/>
        </p:nvSpPr>
        <p:spPr>
          <a:xfrm>
            <a:off x="685800" y="365760"/>
            <a:ext cx="7772400" cy="5943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2800"/>
              <a:buFont typeface="Inter"/>
              <a:buNone/>
            </a:pPr>
            <a:r>
              <a:rPr b="1" i="0" lang="en-US" sz="2800" u="none" cap="none" strike="noStrike">
                <a:solidFill>
                  <a:srgbClr val="111827"/>
                </a:solidFill>
                <a:latin typeface="Inter"/>
                <a:ea typeface="Inter"/>
                <a:cs typeface="Inter"/>
                <a:sym typeface="Inter"/>
              </a:rPr>
              <a:t>How SuperSearch is different</a:t>
            </a:r>
            <a:endParaRPr b="0" i="0" sz="2800" u="none" cap="none" strike="noStrike">
              <a:solidFill>
                <a:schemeClr val="dk1"/>
              </a:solidFill>
              <a:latin typeface="Calibri"/>
              <a:ea typeface="Calibri"/>
              <a:cs typeface="Calibri"/>
              <a:sym typeface="Calibri"/>
            </a:endParaRPr>
          </a:p>
        </p:txBody>
      </p:sp>
      <p:graphicFrame>
        <p:nvGraphicFramePr>
          <p:cNvPr id="173" name="Google Shape;173;p13"/>
          <p:cNvGraphicFramePr/>
          <p:nvPr/>
        </p:nvGraphicFramePr>
        <p:xfrm>
          <a:off x="685800" y="1097280"/>
          <a:ext cx="3000000" cy="3000000"/>
        </p:xfrm>
        <a:graphic>
          <a:graphicData uri="http://schemas.openxmlformats.org/drawingml/2006/table">
            <a:tbl>
              <a:tblPr>
                <a:noFill/>
                <a:tableStyleId>{A667869B-1F53-4C99-AD8D-8728D57326FD}</a:tableStyleId>
              </a:tblPr>
              <a:tblGrid>
                <a:gridCol w="2011675"/>
                <a:gridCol w="1828800"/>
                <a:gridCol w="1920250"/>
                <a:gridCol w="2011675"/>
              </a:tblGrid>
              <a:tr h="365750">
                <a:tc>
                  <a:txBody>
                    <a:bodyPr/>
                    <a:lstStyle/>
                    <a:p>
                      <a:pPr indent="0" lvl="0" marL="0" marR="0" rtl="0" algn="l">
                        <a:lnSpc>
                          <a:spcPct val="100000"/>
                        </a:lnSpc>
                        <a:spcBef>
                          <a:spcPts val="0"/>
                        </a:spcBef>
                        <a:spcAft>
                          <a:spcPts val="0"/>
                        </a:spcAft>
                        <a:buClr>
                          <a:schemeClr val="dk1"/>
                        </a:buClr>
                        <a:buSzPts val="1000"/>
                        <a:buFont typeface="Calibri"/>
                        <a:buNone/>
                      </a:pPr>
                      <a:r>
                        <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solidFill>
                      <a:srgbClr val="111827"/>
                    </a:solidFill>
                  </a:tcPr>
                </a:tc>
                <a:tc>
                  <a:txBody>
                    <a:bodyPr/>
                    <a:lstStyle/>
                    <a:p>
                      <a:pPr indent="0" lvl="0" marL="0" marR="0" rtl="0" algn="l">
                        <a:lnSpc>
                          <a:spcPct val="100000"/>
                        </a:lnSpc>
                        <a:spcBef>
                          <a:spcPts val="0"/>
                        </a:spcBef>
                        <a:spcAft>
                          <a:spcPts val="0"/>
                        </a:spcAft>
                        <a:buClr>
                          <a:srgbClr val="FFFFFF"/>
                        </a:buClr>
                        <a:buSzPts val="1000"/>
                        <a:buFont typeface="Inter"/>
                        <a:buNone/>
                      </a:pPr>
                      <a:r>
                        <a:rPr b="1" lang="en-US" sz="1000" u="none" cap="none" strike="noStrike">
                          <a:solidFill>
                            <a:srgbClr val="FFFFFF"/>
                          </a:solidFill>
                          <a:latin typeface="Inter"/>
                          <a:ea typeface="Inter"/>
                          <a:cs typeface="Inter"/>
                          <a:sym typeface="Inter"/>
                        </a:rPr>
                        <a:t>Keyword Search</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solidFill>
                      <a:srgbClr val="111827"/>
                    </a:solidFill>
                  </a:tcPr>
                </a:tc>
                <a:tc>
                  <a:txBody>
                    <a:bodyPr/>
                    <a:lstStyle/>
                    <a:p>
                      <a:pPr indent="0" lvl="0" marL="0" marR="0" rtl="0" algn="l">
                        <a:lnSpc>
                          <a:spcPct val="100000"/>
                        </a:lnSpc>
                        <a:spcBef>
                          <a:spcPts val="0"/>
                        </a:spcBef>
                        <a:spcAft>
                          <a:spcPts val="0"/>
                        </a:spcAft>
                        <a:buClr>
                          <a:srgbClr val="FFFFFF"/>
                        </a:buClr>
                        <a:buSzPts val="1000"/>
                        <a:buFont typeface="Inter"/>
                        <a:buNone/>
                      </a:pPr>
                      <a:r>
                        <a:rPr b="1" lang="en-US" sz="1000" u="none" cap="none" strike="noStrike">
                          <a:solidFill>
                            <a:srgbClr val="FFFFFF"/>
                          </a:solidFill>
                          <a:latin typeface="Inter"/>
                          <a:ea typeface="Inter"/>
                          <a:cs typeface="Inter"/>
                          <a:sym typeface="Inter"/>
                        </a:rPr>
                        <a:t>Pure LLM</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solidFill>
                      <a:srgbClr val="111827"/>
                    </a:solidFill>
                  </a:tcPr>
                </a:tc>
                <a:tc>
                  <a:txBody>
                    <a:bodyPr/>
                    <a:lstStyle/>
                    <a:p>
                      <a:pPr indent="0" lvl="0" marL="0" marR="0" rtl="0" algn="l">
                        <a:lnSpc>
                          <a:spcPct val="100000"/>
                        </a:lnSpc>
                        <a:spcBef>
                          <a:spcPts val="0"/>
                        </a:spcBef>
                        <a:spcAft>
                          <a:spcPts val="0"/>
                        </a:spcAft>
                        <a:buClr>
                          <a:srgbClr val="FFFFFF"/>
                        </a:buClr>
                        <a:buSzPts val="1000"/>
                        <a:buFont typeface="Inter"/>
                        <a:buNone/>
                      </a:pPr>
                      <a:r>
                        <a:rPr b="1" lang="en-US" sz="1000" u="none" cap="none" strike="noStrike">
                          <a:solidFill>
                            <a:srgbClr val="FFFFFF"/>
                          </a:solidFill>
                          <a:latin typeface="Inter"/>
                          <a:ea typeface="Inter"/>
                          <a:cs typeface="Inter"/>
                          <a:sym typeface="Inter"/>
                        </a:rPr>
                        <a:t>SuperSearch</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FFFFFF"/>
                        </a:buClr>
                        <a:buSzPts val="1000"/>
                        <a:buFont typeface="Inter"/>
                        <a:buNone/>
                      </a:pPr>
                      <a:r>
                        <a:rPr b="1" lang="en-US" sz="1000" u="none" cap="none" strike="noStrike">
                          <a:solidFill>
                            <a:srgbClr val="FFFFFF"/>
                          </a:solidFill>
                          <a:latin typeface="Inter"/>
                          <a:ea typeface="Inter"/>
                          <a:cs typeface="Inter"/>
                          <a:sym typeface="Inter"/>
                        </a:rPr>
                        <a:t>(Graph + LLM)</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solidFill>
                      <a:srgbClr val="111827"/>
                    </a:solidFill>
                  </a:tcPr>
                </a:tc>
              </a:tr>
              <a:tr h="365750">
                <a:tc>
                  <a:txBody>
                    <a:bodyPr/>
                    <a:lstStyle/>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Simple query</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smart tv 55 inch 4K</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Handles well</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Handles well</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Handles well</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r>
              <a:tr h="411475">
                <a:tc>
                  <a:txBody>
                    <a:bodyPr/>
                    <a:lstStyle/>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Synonym query</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geyser / chimney / cooler</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Not supported</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(no synonym bridging)</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97706"/>
                        </a:buClr>
                        <a:buSzPts val="1000"/>
                        <a:buFont typeface="Inter"/>
                        <a:buNone/>
                      </a:pPr>
                      <a:r>
                        <a:rPr lang="en-US" sz="1000" u="none" cap="none" strike="noStrike">
                          <a:solidFill>
                            <a:srgbClr val="D97706"/>
                          </a:solidFill>
                          <a:latin typeface="Inter"/>
                          <a:ea typeface="Inter"/>
                          <a:cs typeface="Inter"/>
                          <a:sym typeface="Inter"/>
                        </a:rPr>
                        <a:t>May work</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97706"/>
                        </a:buClr>
                        <a:buSzPts val="1000"/>
                        <a:buFont typeface="Inter"/>
                        <a:buNone/>
                      </a:pPr>
                      <a:r>
                        <a:rPr lang="en-US" sz="1000" u="none" cap="none" strike="noStrike">
                          <a:solidFill>
                            <a:srgbClr val="D97706"/>
                          </a:solidFill>
                          <a:latin typeface="Inter"/>
                          <a:ea typeface="Inter"/>
                          <a:cs typeface="Inter"/>
                          <a:sym typeface="Inter"/>
                        </a:rPr>
                        <a:t>(depends on training data)</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Handles via</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vocabulary graph</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r>
              <a:tr h="411475">
                <a:tc>
                  <a:txBody>
                    <a:bodyPr/>
                    <a:lstStyle/>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Occasion query</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appliances for a new 2bhk flat</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Not supported</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(no intent mapping)</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97706"/>
                        </a:buClr>
                        <a:buSzPts val="1000"/>
                        <a:buFont typeface="Inter"/>
                        <a:buNone/>
                      </a:pPr>
                      <a:r>
                        <a:rPr lang="en-US" sz="1000" u="none" cap="none" strike="noStrike">
                          <a:solidFill>
                            <a:srgbClr val="D97706"/>
                          </a:solidFill>
                          <a:latin typeface="Inter"/>
                          <a:ea typeface="Inter"/>
                          <a:cs typeface="Inter"/>
                          <a:sym typeface="Inter"/>
                        </a:rPr>
                        <a:t>Generic suggestions</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97706"/>
                        </a:buClr>
                        <a:buSzPts val="1000"/>
                        <a:buFont typeface="Inter"/>
                        <a:buNone/>
                      </a:pPr>
                      <a:r>
                        <a:rPr lang="en-US" sz="1000" u="none" cap="none" strike="noStrike">
                          <a:solidFill>
                            <a:srgbClr val="D97706"/>
                          </a:solidFill>
                          <a:latin typeface="Inter"/>
                          <a:ea typeface="Inter"/>
                          <a:cs typeface="Inter"/>
                          <a:sym typeface="Inter"/>
                        </a:rPr>
                        <a:t>(not catalog-aware)</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Maps to your</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actual products</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r>
              <a:tr h="411475">
                <a:tc>
                  <a:txBody>
                    <a:bodyPr/>
                    <a:lstStyle/>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Conversational query</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quiet washing machine that fits my bathroom</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Not supported</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(not designed for this)</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97706"/>
                        </a:buClr>
                        <a:buSzPts val="1000"/>
                        <a:buFont typeface="Inter"/>
                        <a:buNone/>
                      </a:pPr>
                      <a:r>
                        <a:rPr lang="en-US" sz="1000" u="none" cap="none" strike="noStrike">
                          <a:solidFill>
                            <a:srgbClr val="D97706"/>
                          </a:solidFill>
                          <a:latin typeface="Inter"/>
                          <a:ea typeface="Inter"/>
                          <a:cs typeface="Inter"/>
                          <a:sym typeface="Inter"/>
                        </a:rPr>
                        <a:t>Generic answers</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97706"/>
                        </a:buClr>
                        <a:buSzPts val="1000"/>
                        <a:buFont typeface="Inter"/>
                        <a:buNone/>
                      </a:pPr>
                      <a:r>
                        <a:rPr lang="en-US" sz="1000" u="none" cap="none" strike="noStrike">
                          <a:solidFill>
                            <a:srgbClr val="D97706"/>
                          </a:solidFill>
                          <a:latin typeface="Inter"/>
                          <a:ea typeface="Inter"/>
                          <a:cs typeface="Inter"/>
                          <a:sym typeface="Inter"/>
                        </a:rPr>
                        <a:t>(not your catalog)</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Returns your</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actual inventory</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r>
              <a:tr h="365750">
                <a:tc>
                  <a:txBody>
                    <a:bodyPr/>
                    <a:lstStyle/>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Cost at scale</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11827"/>
                        </a:buClr>
                        <a:buSzPts val="1000"/>
                        <a:buFont typeface="Inter"/>
                        <a:buNone/>
                      </a:pPr>
                      <a:r>
                        <a:rPr lang="en-US" sz="1000" u="none" cap="none" strike="noStrike">
                          <a:solidFill>
                            <a:srgbClr val="111827"/>
                          </a:solidFill>
                          <a:latin typeface="Inter"/>
                          <a:ea typeface="Inter"/>
                          <a:cs typeface="Inter"/>
                          <a:sym typeface="Inter"/>
                        </a:rPr>
                        <a:t>Low</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High</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(LLM call per query)</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Low</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(LLM only for edge cases)</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r>
              <a:tr h="411475">
                <a:tc>
                  <a:txBody>
                    <a:bodyPr/>
                    <a:lstStyle/>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Multi-attribute queries</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inverter, 1.5 ton, 5 star, copper coil, split ac, within budget</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Accuracy degrades</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Prone to</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hallucinations</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b="1" lang="en-US" sz="1000" u="none" cap="none" strike="noStrike">
                          <a:solidFill>
                            <a:srgbClr val="059669"/>
                          </a:solidFill>
                          <a:latin typeface="Inter"/>
                          <a:ea typeface="Inter"/>
                          <a:cs typeface="Inter"/>
                          <a:sym typeface="Inter"/>
                        </a:rPr>
                        <a:t>Much more accurate</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059669"/>
                        </a:buClr>
                        <a:buSzPts val="1000"/>
                        <a:buFont typeface="Inter"/>
                        <a:buNone/>
                      </a:pPr>
                      <a:r>
                        <a:rPr b="1" lang="en-US" sz="1000" u="none" cap="none" strike="noStrike">
                          <a:solidFill>
                            <a:srgbClr val="059669"/>
                          </a:solidFill>
                          <a:latin typeface="Inter"/>
                          <a:ea typeface="Inter"/>
                          <a:cs typeface="Inter"/>
                          <a:sym typeface="Inter"/>
                        </a:rPr>
                        <a:t>than standard RAG</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8" name="Shape 178"/>
        <p:cNvGrpSpPr/>
        <p:nvPr/>
      </p:nvGrpSpPr>
      <p:grpSpPr>
        <a:xfrm>
          <a:off x="0" y="0"/>
          <a:ext cx="0" cy="0"/>
          <a:chOff x="0" y="0"/>
          <a:chExt cx="0" cy="0"/>
        </a:xfrm>
      </p:grpSpPr>
      <p:sp>
        <p:nvSpPr>
          <p:cNvPr id="179" name="Google Shape;179;p14"/>
          <p:cNvSpPr/>
          <p:nvPr/>
        </p:nvSpPr>
        <p:spPr>
          <a:xfrm>
            <a:off x="0" y="0"/>
            <a:ext cx="9144000" cy="36600"/>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 name="Google Shape;180;p14"/>
          <p:cNvSpPr/>
          <p:nvPr/>
        </p:nvSpPr>
        <p:spPr>
          <a:xfrm>
            <a:off x="685800" y="658330"/>
            <a:ext cx="7772400" cy="640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3600"/>
              <a:buFont typeface="Inter"/>
              <a:buNone/>
            </a:pPr>
            <a:r>
              <a:rPr b="1" i="0" lang="en-US" sz="3600" u="none" cap="none" strike="noStrike">
                <a:solidFill>
                  <a:srgbClr val="111827"/>
                </a:solidFill>
                <a:latin typeface="Inter"/>
                <a:ea typeface="Inter"/>
                <a:cs typeface="Inter"/>
                <a:sym typeface="Inter"/>
              </a:rPr>
              <a:t>Let's close the gap.</a:t>
            </a:r>
            <a:endParaRPr b="0" i="0" sz="3600" u="none" cap="none" strike="noStrike">
              <a:solidFill>
                <a:schemeClr val="dk1"/>
              </a:solidFill>
              <a:latin typeface="Calibri"/>
              <a:ea typeface="Calibri"/>
              <a:cs typeface="Calibri"/>
              <a:sym typeface="Calibri"/>
            </a:endParaRPr>
          </a:p>
        </p:txBody>
      </p:sp>
      <p:sp>
        <p:nvSpPr>
          <p:cNvPr id="181" name="Google Shape;181;p14"/>
          <p:cNvSpPr/>
          <p:nvPr/>
        </p:nvSpPr>
        <p:spPr>
          <a:xfrm>
            <a:off x="685800" y="1920250"/>
            <a:ext cx="7553400" cy="1780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B5563"/>
              </a:buClr>
              <a:buSzPts val="1500"/>
              <a:buFont typeface="Inter"/>
              <a:buNone/>
            </a:pPr>
            <a:r>
              <a:rPr b="0" i="0" lang="en-US" sz="1500" u="none" cap="none" strike="noStrike">
                <a:solidFill>
                  <a:srgbClr val="4B5563"/>
                </a:solidFill>
                <a:latin typeface="Inter"/>
                <a:ea typeface="Inter"/>
                <a:cs typeface="Inter"/>
                <a:sym typeface="Inter"/>
              </a:rPr>
              <a:t>We can run a full 500-query audit on your site in under a week and show you exactly where you are losing crores in revenue.</a:t>
            </a:r>
            <a:endParaRPr b="0" i="0" sz="15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chemeClr val="dk1"/>
              </a:buClr>
              <a:buSzPts val="1500"/>
              <a:buFont typeface="Calibri"/>
              <a:buNone/>
            </a:pPr>
            <a:r>
              <a:t/>
            </a:r>
            <a:endParaRPr b="0" i="0" sz="15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4B5563"/>
              </a:buClr>
              <a:buSzPts val="1500"/>
              <a:buFont typeface="Inter"/>
              <a:buNone/>
            </a:pPr>
            <a:r>
              <a:rPr b="0" i="0" lang="en-US" sz="1500" u="none" cap="none" strike="noStrike">
                <a:solidFill>
                  <a:srgbClr val="4B5563"/>
                </a:solidFill>
                <a:latin typeface="Inter"/>
                <a:ea typeface="Inter"/>
                <a:cs typeface="Inter"/>
                <a:sym typeface="Inter"/>
              </a:rPr>
              <a:t>Every query grounded in Google autocomplete. Every result verified against your actual catalog.</a:t>
            </a:r>
            <a:r>
              <a:rPr b="0" i="0" lang="en-US" sz="1500" u="none" cap="none" strike="noStrike">
                <a:solidFill>
                  <a:schemeClr val="dk1"/>
                </a:solidFill>
                <a:latin typeface="Calibri"/>
                <a:ea typeface="Calibri"/>
                <a:cs typeface="Calibri"/>
                <a:sym typeface="Calibri"/>
              </a:rPr>
              <a:t xml:space="preserve"> </a:t>
            </a:r>
            <a:r>
              <a:rPr b="0" i="0" lang="en-US" sz="1500" u="none" cap="none" strike="noStrike">
                <a:solidFill>
                  <a:srgbClr val="4B5563"/>
                </a:solidFill>
                <a:latin typeface="Inter"/>
                <a:ea typeface="Inter"/>
                <a:cs typeface="Inter"/>
                <a:sym typeface="Inter"/>
              </a:rPr>
              <a:t>We have pasted some of the results we obtained from a smaller audit on your website slide 6.</a:t>
            </a:r>
            <a:endParaRPr b="0" i="0" sz="15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4B5563"/>
              </a:buClr>
              <a:buSzPts val="1500"/>
              <a:buFont typeface="Inter"/>
              <a:buNone/>
            </a:pPr>
            <a:r>
              <a:t/>
            </a:r>
            <a:endParaRPr b="0" i="0" sz="15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4B5563"/>
              </a:buClr>
              <a:buSzPts val="1500"/>
              <a:buFont typeface="Inter"/>
              <a:buNone/>
            </a:pPr>
            <a:r>
              <a:rPr b="0" i="0" lang="en-US" sz="1500" u="none" cap="none" strike="noStrike">
                <a:solidFill>
                  <a:srgbClr val="4B5563"/>
                </a:solidFill>
                <a:latin typeface="Inter"/>
                <a:ea typeface="Inter"/>
                <a:cs typeface="Inter"/>
                <a:sym typeface="Inter"/>
              </a:rPr>
              <a:t xml:space="preserve">We can fix your search and upgrade your website from keyword based search bar to intent based AI assistant. </a:t>
            </a:r>
            <a:r>
              <a:rPr b="0" i="0" lang="en-US" sz="1600" u="sng" cap="none" strike="noStrike">
                <a:solidFill>
                  <a:schemeClr val="hlink"/>
                </a:solidFill>
                <a:latin typeface="Inter"/>
                <a:ea typeface="Inter"/>
                <a:cs typeface="Inter"/>
                <a:sym typeface="Inter"/>
                <a:hlinkClick r:id="rId3"/>
              </a:rPr>
              <a:t>book a demo</a:t>
            </a:r>
            <a:r>
              <a:rPr b="0" i="0" lang="en-US" sz="1600" u="none" cap="none" strike="noStrike">
                <a:solidFill>
                  <a:srgbClr val="4B5563"/>
                </a:solidFill>
                <a:latin typeface="Inter"/>
                <a:ea typeface="Inter"/>
                <a:cs typeface="Inter"/>
                <a:sym typeface="Inter"/>
              </a:rPr>
              <a:t xml:space="preserve"> </a:t>
            </a:r>
            <a:endParaRPr b="0" i="0" sz="1500" u="none" cap="none" strike="noStrike">
              <a:solidFill>
                <a:schemeClr val="dk1"/>
              </a:solidFill>
              <a:latin typeface="Calibri"/>
              <a:ea typeface="Calibri"/>
              <a:cs typeface="Calibri"/>
              <a:sym typeface="Calibri"/>
            </a:endParaRPr>
          </a:p>
        </p:txBody>
      </p:sp>
      <p:sp>
        <p:nvSpPr>
          <p:cNvPr id="182" name="Google Shape;182;p14"/>
          <p:cNvSpPr/>
          <p:nvPr/>
        </p:nvSpPr>
        <p:spPr>
          <a:xfrm>
            <a:off x="685800" y="3981001"/>
            <a:ext cx="6400800" cy="640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9CA3AF"/>
              </a:buClr>
              <a:buSzPts val="1300"/>
              <a:buFont typeface="Inter"/>
              <a:buNone/>
            </a:pPr>
            <a:r>
              <a:rPr b="0" i="0" lang="en-US" sz="1300" u="none" cap="none" strike="noStrike">
                <a:solidFill>
                  <a:schemeClr val="dk1"/>
                </a:solidFill>
                <a:latin typeface="Inter"/>
                <a:ea typeface="Inter"/>
                <a:cs typeface="Inter"/>
                <a:sym typeface="Inter"/>
              </a:rPr>
              <a:t xml:space="preserve">Shalini Mukhopadhyay  ·  </a:t>
            </a:r>
            <a:r>
              <a:rPr b="0" i="0" lang="en-US" sz="1300" u="sng" cap="none" strike="noStrike">
                <a:solidFill>
                  <a:schemeClr val="dk1"/>
                </a:solidFill>
                <a:latin typeface="Inter"/>
                <a:ea typeface="Inter"/>
                <a:cs typeface="Inter"/>
                <a:sym typeface="Inter"/>
                <a:hlinkClick r:id="rId4">
                  <a:extLst>
                    <a:ext uri="{A12FA001-AC4F-418D-AE19-62706E023703}">
                      <ahyp:hlinkClr val="tx"/>
                    </a:ext>
                  </a:extLst>
                </a:hlinkClick>
              </a:rPr>
              <a:t>shaliniiitkgp2021@gmail.com</a:t>
            </a:r>
            <a:endParaRPr b="0" i="0" sz="1300" u="none" cap="none" strike="noStrike">
              <a:solidFill>
                <a:schemeClr val="dk1"/>
              </a:solidFill>
              <a:latin typeface="Inter"/>
              <a:ea typeface="Inter"/>
              <a:cs typeface="Inter"/>
              <a:sym typeface="Inter"/>
            </a:endParaRPr>
          </a:p>
          <a:p>
            <a:pPr indent="0" lvl="0" marL="0" marR="0" rtl="0" algn="l">
              <a:lnSpc>
                <a:spcPct val="100000"/>
              </a:lnSpc>
              <a:spcBef>
                <a:spcPts val="0"/>
              </a:spcBef>
              <a:spcAft>
                <a:spcPts val="0"/>
              </a:spcAft>
              <a:buClr>
                <a:srgbClr val="9CA3AF"/>
              </a:buClr>
              <a:buSzPts val="1300"/>
              <a:buFont typeface="Inter"/>
              <a:buNone/>
            </a:pPr>
            <a:r>
              <a:rPr b="0" i="0" lang="en-US" sz="1300" u="none" cap="none" strike="noStrike">
                <a:solidFill>
                  <a:schemeClr val="dk1"/>
                </a:solidFill>
                <a:latin typeface="Inter"/>
                <a:ea typeface="Inter"/>
                <a:cs typeface="Inter"/>
                <a:sym typeface="Inter"/>
              </a:rPr>
              <a:t xml:space="preserve">Aantriksh Pandya  ·  </a:t>
            </a:r>
            <a:r>
              <a:rPr b="0" i="0" lang="en-US" sz="1300" u="sng" cap="none" strike="noStrike">
                <a:solidFill>
                  <a:schemeClr val="dk1"/>
                </a:solidFill>
                <a:latin typeface="Inter"/>
                <a:ea typeface="Inter"/>
                <a:cs typeface="Inter"/>
                <a:sym typeface="Inter"/>
                <a:hlinkClick r:id="rId5">
                  <a:extLst>
                    <a:ext uri="{A12FA001-AC4F-418D-AE19-62706E023703}">
                      <ahyp:hlinkClr val="tx"/>
                    </a:ext>
                  </a:extLst>
                </a:hlinkClick>
              </a:rPr>
              <a:t>aantriksh.pandya1@gmail.com</a:t>
            </a:r>
            <a:r>
              <a:rPr b="0" i="0" lang="en-US" sz="1300" u="none" cap="none" strike="noStrike">
                <a:solidFill>
                  <a:schemeClr val="dk1"/>
                </a:solidFill>
                <a:latin typeface="Inter"/>
                <a:ea typeface="Inter"/>
                <a:cs typeface="Inter"/>
                <a:sym typeface="Inter"/>
              </a:rPr>
              <a:t xml:space="preserve"> </a:t>
            </a:r>
            <a:endParaRPr b="0" i="0" sz="13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9CA3AF"/>
              </a:buClr>
              <a:buSzPts val="1300"/>
              <a:buFont typeface="Inter"/>
              <a:buNone/>
            </a:pPr>
            <a:r>
              <a:rPr b="0" i="0" lang="en-US" sz="1300" u="none" cap="none" strike="noStrike">
                <a:solidFill>
                  <a:srgbClr val="9CA3AF"/>
                </a:solidFill>
                <a:latin typeface="Inter"/>
                <a:ea typeface="Inter"/>
                <a:cs typeface="Inter"/>
                <a:sym typeface="Inter"/>
              </a:rPr>
              <a:t xml:space="preserve"> </a:t>
            </a:r>
            <a:endParaRPr b="0" i="0" sz="1300" u="none" cap="none" strike="noStrike">
              <a:solidFill>
                <a:srgbClr val="9CA3AF"/>
              </a:solidFill>
              <a:latin typeface="Inter"/>
              <a:ea typeface="Inter"/>
              <a:cs typeface="Inter"/>
              <a:sym typeface="Inter"/>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